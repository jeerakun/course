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121"/>
  </p:notesMasterIdLst>
  <p:sldIdLst>
    <p:sldId id="3261" r:id="rId6"/>
    <p:sldId id="262" r:id="rId7"/>
    <p:sldId id="1997" r:id="rId8"/>
    <p:sldId id="2115" r:id="rId9"/>
    <p:sldId id="2147" r:id="rId10"/>
    <p:sldId id="2137" r:id="rId11"/>
    <p:sldId id="2162" r:id="rId12"/>
    <p:sldId id="2131" r:id="rId13"/>
    <p:sldId id="2132" r:id="rId14"/>
    <p:sldId id="2133" r:id="rId15"/>
    <p:sldId id="2173" r:id="rId16"/>
    <p:sldId id="2154" r:id="rId17"/>
    <p:sldId id="2135" r:id="rId18"/>
    <p:sldId id="2136" r:id="rId19"/>
    <p:sldId id="2163" r:id="rId20"/>
    <p:sldId id="2164" r:id="rId21"/>
    <p:sldId id="2174" r:id="rId22"/>
    <p:sldId id="2180" r:id="rId23"/>
    <p:sldId id="2175" r:id="rId24"/>
    <p:sldId id="2176" r:id="rId25"/>
    <p:sldId id="2177" r:id="rId26"/>
    <p:sldId id="3267" r:id="rId27"/>
    <p:sldId id="2138" r:id="rId28"/>
    <p:sldId id="2181" r:id="rId29"/>
    <p:sldId id="2165" r:id="rId30"/>
    <p:sldId id="2166" r:id="rId31"/>
    <p:sldId id="2167" r:id="rId32"/>
    <p:sldId id="2139" r:id="rId33"/>
    <p:sldId id="2155" r:id="rId34"/>
    <p:sldId id="2156" r:id="rId35"/>
    <p:sldId id="2140" r:id="rId36"/>
    <p:sldId id="2141" r:id="rId37"/>
    <p:sldId id="2168" r:id="rId38"/>
    <p:sldId id="2157" r:id="rId39"/>
    <p:sldId id="2158" r:id="rId40"/>
    <p:sldId id="2159" r:id="rId41"/>
    <p:sldId id="2142" r:id="rId42"/>
    <p:sldId id="2143" r:id="rId43"/>
    <p:sldId id="2144" r:id="rId44"/>
    <p:sldId id="2145" r:id="rId45"/>
    <p:sldId id="2148" r:id="rId46"/>
    <p:sldId id="2149" r:id="rId47"/>
    <p:sldId id="2146" r:id="rId48"/>
    <p:sldId id="2161" r:id="rId49"/>
    <p:sldId id="2160" r:id="rId50"/>
    <p:sldId id="2169" r:id="rId51"/>
    <p:sldId id="2170" r:id="rId52"/>
    <p:sldId id="387" r:id="rId53"/>
    <p:sldId id="376" r:id="rId54"/>
    <p:sldId id="377" r:id="rId55"/>
    <p:sldId id="378" r:id="rId56"/>
    <p:sldId id="379" r:id="rId57"/>
    <p:sldId id="380" r:id="rId58"/>
    <p:sldId id="381" r:id="rId59"/>
    <p:sldId id="382" r:id="rId60"/>
    <p:sldId id="383" r:id="rId61"/>
    <p:sldId id="384" r:id="rId62"/>
    <p:sldId id="385" r:id="rId63"/>
    <p:sldId id="386" r:id="rId64"/>
    <p:sldId id="3248" r:id="rId65"/>
    <p:sldId id="375" r:id="rId66"/>
    <p:sldId id="3272" r:id="rId67"/>
    <p:sldId id="388" r:id="rId68"/>
    <p:sldId id="390" r:id="rId69"/>
    <p:sldId id="391" r:id="rId70"/>
    <p:sldId id="392" r:id="rId71"/>
    <p:sldId id="393" r:id="rId72"/>
    <p:sldId id="394" r:id="rId73"/>
    <p:sldId id="395" r:id="rId74"/>
    <p:sldId id="396" r:id="rId75"/>
    <p:sldId id="397" r:id="rId76"/>
    <p:sldId id="433" r:id="rId77"/>
    <p:sldId id="398" r:id="rId78"/>
    <p:sldId id="399" r:id="rId79"/>
    <p:sldId id="400" r:id="rId80"/>
    <p:sldId id="401" r:id="rId81"/>
    <p:sldId id="402" r:id="rId82"/>
    <p:sldId id="403" r:id="rId83"/>
    <p:sldId id="404" r:id="rId84"/>
    <p:sldId id="405" r:id="rId85"/>
    <p:sldId id="406" r:id="rId86"/>
    <p:sldId id="407" r:id="rId87"/>
    <p:sldId id="3259" r:id="rId88"/>
    <p:sldId id="2153" r:id="rId89"/>
    <p:sldId id="3268" r:id="rId90"/>
    <p:sldId id="2257" r:id="rId91"/>
    <p:sldId id="2118" r:id="rId92"/>
    <p:sldId id="2119" r:id="rId93"/>
    <p:sldId id="2241" r:id="rId94"/>
    <p:sldId id="3269" r:id="rId95"/>
    <p:sldId id="3270" r:id="rId96"/>
    <p:sldId id="3271" r:id="rId97"/>
    <p:sldId id="2183" r:id="rId98"/>
    <p:sldId id="2184" r:id="rId99"/>
    <p:sldId id="2242" r:id="rId100"/>
    <p:sldId id="2243" r:id="rId101"/>
    <p:sldId id="570" r:id="rId102"/>
    <p:sldId id="571" r:id="rId103"/>
    <p:sldId id="2185" r:id="rId104"/>
    <p:sldId id="2251" r:id="rId105"/>
    <p:sldId id="2252" r:id="rId106"/>
    <p:sldId id="2254" r:id="rId107"/>
    <p:sldId id="2250" r:id="rId108"/>
    <p:sldId id="2255" r:id="rId109"/>
    <p:sldId id="2190" r:id="rId110"/>
    <p:sldId id="2245" r:id="rId111"/>
    <p:sldId id="2248" r:id="rId112"/>
    <p:sldId id="2256" r:id="rId113"/>
    <p:sldId id="555" r:id="rId114"/>
    <p:sldId id="573" r:id="rId115"/>
    <p:sldId id="559" r:id="rId116"/>
    <p:sldId id="560" r:id="rId117"/>
    <p:sldId id="561" r:id="rId118"/>
    <p:sldId id="3273" r:id="rId119"/>
    <p:sldId id="440" r:id="rId120"/>
  </p:sldIdLst>
  <p:sldSz cx="12192000" cy="6858000"/>
  <p:notesSz cx="6808788" cy="99409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006666"/>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68376" autoAdjust="0"/>
  </p:normalViewPr>
  <p:slideViewPr>
    <p:cSldViewPr snapToGrid="0">
      <p:cViewPr varScale="1">
        <p:scale>
          <a:sx n="75" d="100"/>
          <a:sy n="75" d="100"/>
        </p:scale>
        <p:origin x="166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slide" Target="slides/slide85.xml"/><Relationship Id="rId95" Type="http://schemas.openxmlformats.org/officeDocument/2006/relationships/slide" Target="slides/slide90.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slide" Target="slides/slide11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4372AA-A94C-4502-8C2E-49E9156321A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0B9CD76-D76D-43A5-AF97-350208A8DF5B}">
      <dgm:prSet/>
      <dgm:spPr/>
      <dgm:t>
        <a:bodyPr/>
        <a:lstStyle/>
        <a:p>
          <a:pPr>
            <a:lnSpc>
              <a:spcPct val="100000"/>
            </a:lnSpc>
          </a:pPr>
          <a:r>
            <a:rPr lang="en-US" b="1" dirty="0">
              <a:solidFill>
                <a:schemeClr val="tx2">
                  <a:lumMod val="90000"/>
                  <a:lumOff val="10000"/>
                </a:schemeClr>
              </a:solidFill>
            </a:rPr>
            <a:t>TT2008</a:t>
          </a:r>
        </a:p>
      </dgm:t>
    </dgm:pt>
    <dgm:pt modelId="{719B92D8-C7D1-4116-A92A-E965C1E3C609}" type="parTrans" cxnId="{C0E2E204-D925-43F4-A3A0-3CDBE7FAB193}">
      <dgm:prSet/>
      <dgm:spPr/>
      <dgm:t>
        <a:bodyPr/>
        <a:lstStyle/>
        <a:p>
          <a:endParaRPr lang="en-US"/>
        </a:p>
      </dgm:t>
    </dgm:pt>
    <dgm:pt modelId="{55009B75-B30A-4C42-B82A-7D55964F6142}" type="sibTrans" cxnId="{C0E2E204-D925-43F4-A3A0-3CDBE7FAB193}">
      <dgm:prSet/>
      <dgm:spPr/>
      <dgm:t>
        <a:bodyPr/>
        <a:lstStyle/>
        <a:p>
          <a:endParaRPr lang="en-US"/>
        </a:p>
      </dgm:t>
    </dgm:pt>
    <dgm:pt modelId="{5025C42B-BA4D-492E-9289-0A5323F896DE}">
      <dgm:prSet/>
      <dgm:spPr/>
      <dgm:t>
        <a:bodyPr/>
        <a:lstStyle/>
        <a:p>
          <a:pPr>
            <a:lnSpc>
              <a:spcPct val="100000"/>
            </a:lnSpc>
          </a:pPr>
          <a:r>
            <a:rPr lang="en-US" b="1" dirty="0">
              <a:solidFill>
                <a:schemeClr val="tx2">
                  <a:lumMod val="90000"/>
                  <a:lumOff val="10000"/>
                </a:schemeClr>
              </a:solidFill>
            </a:rPr>
            <a:t>1</a:t>
          </a:r>
          <a:r>
            <a:rPr lang="en-US" b="1" baseline="30000" dirty="0">
              <a:solidFill>
                <a:schemeClr val="tx2">
                  <a:lumMod val="90000"/>
                  <a:lumOff val="10000"/>
                </a:schemeClr>
              </a:solidFill>
            </a:rPr>
            <a:t>st</a:t>
          </a:r>
          <a:r>
            <a:rPr lang="en-US" b="1" dirty="0">
              <a:solidFill>
                <a:schemeClr val="tx2">
                  <a:lumMod val="90000"/>
                  <a:lumOff val="10000"/>
                </a:schemeClr>
              </a:solidFill>
            </a:rPr>
            <a:t> Oct 2026</a:t>
          </a:r>
        </a:p>
      </dgm:t>
    </dgm:pt>
    <dgm:pt modelId="{B1CE9E3A-983A-4940-A4B8-163CC0A18210}" type="sibTrans" cxnId="{327039E8-C604-4B14-8BF7-98907928EEBA}">
      <dgm:prSet/>
      <dgm:spPr/>
      <dgm:t>
        <a:bodyPr/>
        <a:lstStyle/>
        <a:p>
          <a:endParaRPr lang="en-US"/>
        </a:p>
      </dgm:t>
    </dgm:pt>
    <dgm:pt modelId="{585DF3AF-80B2-4F6F-9BB1-59BC106ECAAD}" type="parTrans" cxnId="{327039E8-C604-4B14-8BF7-98907928EEBA}">
      <dgm:prSet/>
      <dgm:spPr/>
      <dgm:t>
        <a:bodyPr/>
        <a:lstStyle/>
        <a:p>
          <a:endParaRPr lang="en-US"/>
        </a:p>
      </dgm:t>
    </dgm:pt>
    <dgm:pt modelId="{A3DA0325-4229-4964-BA15-26AA18B9D2FE}" type="pres">
      <dgm:prSet presAssocID="{954372AA-A94C-4502-8C2E-49E9156321AC}" presName="root" presStyleCnt="0">
        <dgm:presLayoutVars>
          <dgm:dir/>
          <dgm:resizeHandles val="exact"/>
        </dgm:presLayoutVars>
      </dgm:prSet>
      <dgm:spPr/>
    </dgm:pt>
    <dgm:pt modelId="{84B98981-57F4-41A4-98C8-60EFA56C9F1A}" type="pres">
      <dgm:prSet presAssocID="{80B9CD76-D76D-43A5-AF97-350208A8DF5B}" presName="compNode" presStyleCnt="0"/>
      <dgm:spPr/>
    </dgm:pt>
    <dgm:pt modelId="{BE83A55B-5A60-4F99-8785-5388F48437AB}" type="pres">
      <dgm:prSet presAssocID="{80B9CD76-D76D-43A5-AF97-350208A8DF5B}" presName="bgRect" presStyleLbl="bgShp" presStyleIdx="0" presStyleCnt="2"/>
      <dgm:spPr/>
    </dgm:pt>
    <dgm:pt modelId="{575C9B32-AD64-45EA-9EBC-FB6026F93D21}" type="pres">
      <dgm:prSet presAssocID="{80B9CD76-D76D-43A5-AF97-350208A8DF5B}"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Tax with solid fill"/>
        </a:ext>
      </dgm:extLst>
    </dgm:pt>
    <dgm:pt modelId="{F7556541-DDF8-46C3-816F-7B969455A57E}" type="pres">
      <dgm:prSet presAssocID="{80B9CD76-D76D-43A5-AF97-350208A8DF5B}" presName="spaceRect" presStyleCnt="0"/>
      <dgm:spPr/>
    </dgm:pt>
    <dgm:pt modelId="{08323F23-E7D4-4F19-B65D-24E67EAFBFB8}" type="pres">
      <dgm:prSet presAssocID="{80B9CD76-D76D-43A5-AF97-350208A8DF5B}" presName="parTx" presStyleLbl="revTx" presStyleIdx="0" presStyleCnt="2">
        <dgm:presLayoutVars>
          <dgm:chMax val="0"/>
          <dgm:chPref val="0"/>
        </dgm:presLayoutVars>
      </dgm:prSet>
      <dgm:spPr/>
    </dgm:pt>
    <dgm:pt modelId="{EFBBD0BF-0C08-462C-8AC9-40313DC9831A}" type="pres">
      <dgm:prSet presAssocID="{55009B75-B30A-4C42-B82A-7D55964F6142}" presName="sibTrans" presStyleCnt="0"/>
      <dgm:spPr/>
    </dgm:pt>
    <dgm:pt modelId="{90B34142-EB29-4FD4-89E2-9C5CCE5F3A81}" type="pres">
      <dgm:prSet presAssocID="{5025C42B-BA4D-492E-9289-0A5323F896DE}" presName="compNode" presStyleCnt="0"/>
      <dgm:spPr/>
    </dgm:pt>
    <dgm:pt modelId="{4750CF6E-34BF-48B7-B462-9EEC23AADB9F}" type="pres">
      <dgm:prSet presAssocID="{5025C42B-BA4D-492E-9289-0A5323F896DE}" presName="bgRect" presStyleLbl="bgShp" presStyleIdx="1" presStyleCnt="2"/>
      <dgm:spPr/>
    </dgm:pt>
    <dgm:pt modelId="{8AD8777E-98A6-47FD-94EF-A750B6EC37A7}" type="pres">
      <dgm:prSet presAssocID="{5025C42B-BA4D-492E-9289-0A5323F896D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ip Calendar"/>
        </a:ext>
      </dgm:extLst>
    </dgm:pt>
    <dgm:pt modelId="{8CF7C6EA-DE5D-4073-A6A3-AF47BB9D8671}" type="pres">
      <dgm:prSet presAssocID="{5025C42B-BA4D-492E-9289-0A5323F896DE}" presName="spaceRect" presStyleCnt="0"/>
      <dgm:spPr/>
    </dgm:pt>
    <dgm:pt modelId="{7DB61126-4593-4C34-BC78-2BA1CF368EA9}" type="pres">
      <dgm:prSet presAssocID="{5025C42B-BA4D-492E-9289-0A5323F896DE}" presName="parTx" presStyleLbl="revTx" presStyleIdx="1" presStyleCnt="2">
        <dgm:presLayoutVars>
          <dgm:chMax val="0"/>
          <dgm:chPref val="0"/>
        </dgm:presLayoutVars>
      </dgm:prSet>
      <dgm:spPr/>
    </dgm:pt>
  </dgm:ptLst>
  <dgm:cxnLst>
    <dgm:cxn modelId="{C0E2E204-D925-43F4-A3A0-3CDBE7FAB193}" srcId="{954372AA-A94C-4502-8C2E-49E9156321AC}" destId="{80B9CD76-D76D-43A5-AF97-350208A8DF5B}" srcOrd="0" destOrd="0" parTransId="{719B92D8-C7D1-4116-A92A-E965C1E3C609}" sibTransId="{55009B75-B30A-4C42-B82A-7D55964F6142}"/>
    <dgm:cxn modelId="{54019247-87C6-42C7-86C1-9100C4201353}" type="presOf" srcId="{5025C42B-BA4D-492E-9289-0A5323F896DE}" destId="{7DB61126-4593-4C34-BC78-2BA1CF368EA9}" srcOrd="0" destOrd="0" presId="urn:microsoft.com/office/officeart/2018/2/layout/IconVerticalSolidList"/>
    <dgm:cxn modelId="{5905ED69-5503-4913-A252-3A359167206E}" type="presOf" srcId="{80B9CD76-D76D-43A5-AF97-350208A8DF5B}" destId="{08323F23-E7D4-4F19-B65D-24E67EAFBFB8}" srcOrd="0" destOrd="0" presId="urn:microsoft.com/office/officeart/2018/2/layout/IconVerticalSolidList"/>
    <dgm:cxn modelId="{76965E70-E1C6-4395-B80E-53BEAE0ED482}" type="presOf" srcId="{954372AA-A94C-4502-8C2E-49E9156321AC}" destId="{A3DA0325-4229-4964-BA15-26AA18B9D2FE}" srcOrd="0" destOrd="0" presId="urn:microsoft.com/office/officeart/2018/2/layout/IconVerticalSolidList"/>
    <dgm:cxn modelId="{327039E8-C604-4B14-8BF7-98907928EEBA}" srcId="{954372AA-A94C-4502-8C2E-49E9156321AC}" destId="{5025C42B-BA4D-492E-9289-0A5323F896DE}" srcOrd="1" destOrd="0" parTransId="{585DF3AF-80B2-4F6F-9BB1-59BC106ECAAD}" sibTransId="{B1CE9E3A-983A-4940-A4B8-163CC0A18210}"/>
    <dgm:cxn modelId="{B4F50DD6-5BD1-4F58-BA37-735D89DF917F}" type="presParOf" srcId="{A3DA0325-4229-4964-BA15-26AA18B9D2FE}" destId="{84B98981-57F4-41A4-98C8-60EFA56C9F1A}" srcOrd="0" destOrd="0" presId="urn:microsoft.com/office/officeart/2018/2/layout/IconVerticalSolidList"/>
    <dgm:cxn modelId="{7F5A91D4-DB57-4FB7-A815-5B6A7105C69E}" type="presParOf" srcId="{84B98981-57F4-41A4-98C8-60EFA56C9F1A}" destId="{BE83A55B-5A60-4F99-8785-5388F48437AB}" srcOrd="0" destOrd="0" presId="urn:microsoft.com/office/officeart/2018/2/layout/IconVerticalSolidList"/>
    <dgm:cxn modelId="{A5C9EDE7-849B-4E69-84D7-C349687A5875}" type="presParOf" srcId="{84B98981-57F4-41A4-98C8-60EFA56C9F1A}" destId="{575C9B32-AD64-45EA-9EBC-FB6026F93D21}" srcOrd="1" destOrd="0" presId="urn:microsoft.com/office/officeart/2018/2/layout/IconVerticalSolidList"/>
    <dgm:cxn modelId="{346B5660-E4A2-42D9-941A-64CBA4C8E8A6}" type="presParOf" srcId="{84B98981-57F4-41A4-98C8-60EFA56C9F1A}" destId="{F7556541-DDF8-46C3-816F-7B969455A57E}" srcOrd="2" destOrd="0" presId="urn:microsoft.com/office/officeart/2018/2/layout/IconVerticalSolidList"/>
    <dgm:cxn modelId="{14E2443A-6449-431F-A0AC-48D7406DA610}" type="presParOf" srcId="{84B98981-57F4-41A4-98C8-60EFA56C9F1A}" destId="{08323F23-E7D4-4F19-B65D-24E67EAFBFB8}" srcOrd="3" destOrd="0" presId="urn:microsoft.com/office/officeart/2018/2/layout/IconVerticalSolidList"/>
    <dgm:cxn modelId="{92C02732-2660-42DB-B82E-A0B3D2C8A0CF}" type="presParOf" srcId="{A3DA0325-4229-4964-BA15-26AA18B9D2FE}" destId="{EFBBD0BF-0C08-462C-8AC9-40313DC9831A}" srcOrd="1" destOrd="0" presId="urn:microsoft.com/office/officeart/2018/2/layout/IconVerticalSolidList"/>
    <dgm:cxn modelId="{4B919967-AFCD-46A0-B825-82DFE79C776F}" type="presParOf" srcId="{A3DA0325-4229-4964-BA15-26AA18B9D2FE}" destId="{90B34142-EB29-4FD4-89E2-9C5CCE5F3A81}" srcOrd="2" destOrd="0" presId="urn:microsoft.com/office/officeart/2018/2/layout/IconVerticalSolidList"/>
    <dgm:cxn modelId="{991D6DAD-D268-41BE-8159-89A7762501A4}" type="presParOf" srcId="{90B34142-EB29-4FD4-89E2-9C5CCE5F3A81}" destId="{4750CF6E-34BF-48B7-B462-9EEC23AADB9F}" srcOrd="0" destOrd="0" presId="urn:microsoft.com/office/officeart/2018/2/layout/IconVerticalSolidList"/>
    <dgm:cxn modelId="{D9C4D961-6C59-4AAC-BE8F-19553B25F907}" type="presParOf" srcId="{90B34142-EB29-4FD4-89E2-9C5CCE5F3A81}" destId="{8AD8777E-98A6-47FD-94EF-A750B6EC37A7}" srcOrd="1" destOrd="0" presId="urn:microsoft.com/office/officeart/2018/2/layout/IconVerticalSolidList"/>
    <dgm:cxn modelId="{DB26239D-22DA-4EB0-8915-68C5D58C41C6}" type="presParOf" srcId="{90B34142-EB29-4FD4-89E2-9C5CCE5F3A81}" destId="{8CF7C6EA-DE5D-4073-A6A3-AF47BB9D8671}" srcOrd="2" destOrd="0" presId="urn:microsoft.com/office/officeart/2018/2/layout/IconVerticalSolidList"/>
    <dgm:cxn modelId="{E496245D-9E38-46D8-8B5E-85534890AC1F}" type="presParOf" srcId="{90B34142-EB29-4FD4-89E2-9C5CCE5F3A81}" destId="{7DB61126-4593-4C34-BC78-2BA1CF368EA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4372AA-A94C-4502-8C2E-49E9156321A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0B9CD76-D76D-43A5-AF97-350208A8DF5B}">
      <dgm:prSet/>
      <dgm:spPr/>
      <dgm:t>
        <a:bodyPr/>
        <a:lstStyle/>
        <a:p>
          <a:pPr>
            <a:lnSpc>
              <a:spcPct val="100000"/>
            </a:lnSpc>
          </a:pPr>
          <a:r>
            <a:rPr lang="en-US" b="1" dirty="0">
              <a:solidFill>
                <a:schemeClr val="tx2">
                  <a:lumMod val="90000"/>
                  <a:lumOff val="10000"/>
                </a:schemeClr>
              </a:solidFill>
            </a:rPr>
            <a:t>TT2008</a:t>
          </a:r>
        </a:p>
      </dgm:t>
    </dgm:pt>
    <dgm:pt modelId="{719B92D8-C7D1-4116-A92A-E965C1E3C609}" type="parTrans" cxnId="{C0E2E204-D925-43F4-A3A0-3CDBE7FAB193}">
      <dgm:prSet/>
      <dgm:spPr/>
      <dgm:t>
        <a:bodyPr/>
        <a:lstStyle/>
        <a:p>
          <a:endParaRPr lang="en-US"/>
        </a:p>
      </dgm:t>
    </dgm:pt>
    <dgm:pt modelId="{55009B75-B30A-4C42-B82A-7D55964F6142}" type="sibTrans" cxnId="{C0E2E204-D925-43F4-A3A0-3CDBE7FAB193}">
      <dgm:prSet/>
      <dgm:spPr/>
      <dgm:t>
        <a:bodyPr/>
        <a:lstStyle/>
        <a:p>
          <a:endParaRPr lang="en-US"/>
        </a:p>
      </dgm:t>
    </dgm:pt>
    <dgm:pt modelId="{5025C42B-BA4D-492E-9289-0A5323F896DE}">
      <dgm:prSet/>
      <dgm:spPr/>
      <dgm:t>
        <a:bodyPr/>
        <a:lstStyle/>
        <a:p>
          <a:pPr>
            <a:lnSpc>
              <a:spcPct val="100000"/>
            </a:lnSpc>
          </a:pPr>
          <a:r>
            <a:rPr lang="en-US" b="1" dirty="0">
              <a:solidFill>
                <a:schemeClr val="tx2">
                  <a:lumMod val="90000"/>
                  <a:lumOff val="10000"/>
                </a:schemeClr>
              </a:solidFill>
            </a:rPr>
            <a:t>1</a:t>
          </a:r>
          <a:r>
            <a:rPr lang="en-US" b="1" baseline="30000" dirty="0">
              <a:solidFill>
                <a:schemeClr val="tx2">
                  <a:lumMod val="90000"/>
                  <a:lumOff val="10000"/>
                </a:schemeClr>
              </a:solidFill>
            </a:rPr>
            <a:t>st</a:t>
          </a:r>
          <a:r>
            <a:rPr lang="en-US" b="1" dirty="0">
              <a:solidFill>
                <a:schemeClr val="tx2">
                  <a:lumMod val="90000"/>
                  <a:lumOff val="10000"/>
                </a:schemeClr>
              </a:solidFill>
            </a:rPr>
            <a:t> Oct 2026</a:t>
          </a:r>
        </a:p>
      </dgm:t>
    </dgm:pt>
    <dgm:pt modelId="{B1CE9E3A-983A-4940-A4B8-163CC0A18210}" type="sibTrans" cxnId="{327039E8-C604-4B14-8BF7-98907928EEBA}">
      <dgm:prSet/>
      <dgm:spPr/>
      <dgm:t>
        <a:bodyPr/>
        <a:lstStyle/>
        <a:p>
          <a:endParaRPr lang="en-US"/>
        </a:p>
      </dgm:t>
    </dgm:pt>
    <dgm:pt modelId="{585DF3AF-80B2-4F6F-9BB1-59BC106ECAAD}" type="parTrans" cxnId="{327039E8-C604-4B14-8BF7-98907928EEBA}">
      <dgm:prSet/>
      <dgm:spPr/>
      <dgm:t>
        <a:bodyPr/>
        <a:lstStyle/>
        <a:p>
          <a:endParaRPr lang="en-US"/>
        </a:p>
      </dgm:t>
    </dgm:pt>
    <dgm:pt modelId="{A3DA0325-4229-4964-BA15-26AA18B9D2FE}" type="pres">
      <dgm:prSet presAssocID="{954372AA-A94C-4502-8C2E-49E9156321AC}" presName="root" presStyleCnt="0">
        <dgm:presLayoutVars>
          <dgm:dir/>
          <dgm:resizeHandles val="exact"/>
        </dgm:presLayoutVars>
      </dgm:prSet>
      <dgm:spPr/>
    </dgm:pt>
    <dgm:pt modelId="{84B98981-57F4-41A4-98C8-60EFA56C9F1A}" type="pres">
      <dgm:prSet presAssocID="{80B9CD76-D76D-43A5-AF97-350208A8DF5B}" presName="compNode" presStyleCnt="0"/>
      <dgm:spPr/>
    </dgm:pt>
    <dgm:pt modelId="{BE83A55B-5A60-4F99-8785-5388F48437AB}" type="pres">
      <dgm:prSet presAssocID="{80B9CD76-D76D-43A5-AF97-350208A8DF5B}" presName="bgRect" presStyleLbl="bgShp" presStyleIdx="0" presStyleCnt="2"/>
      <dgm:spPr/>
    </dgm:pt>
    <dgm:pt modelId="{575C9B32-AD64-45EA-9EBC-FB6026F93D21}" type="pres">
      <dgm:prSet presAssocID="{80B9CD76-D76D-43A5-AF97-350208A8DF5B}"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Tax with solid fill"/>
        </a:ext>
      </dgm:extLst>
    </dgm:pt>
    <dgm:pt modelId="{F7556541-DDF8-46C3-816F-7B969455A57E}" type="pres">
      <dgm:prSet presAssocID="{80B9CD76-D76D-43A5-AF97-350208A8DF5B}" presName="spaceRect" presStyleCnt="0"/>
      <dgm:spPr/>
    </dgm:pt>
    <dgm:pt modelId="{08323F23-E7D4-4F19-B65D-24E67EAFBFB8}" type="pres">
      <dgm:prSet presAssocID="{80B9CD76-D76D-43A5-AF97-350208A8DF5B}" presName="parTx" presStyleLbl="revTx" presStyleIdx="0" presStyleCnt="2">
        <dgm:presLayoutVars>
          <dgm:chMax val="0"/>
          <dgm:chPref val="0"/>
        </dgm:presLayoutVars>
      </dgm:prSet>
      <dgm:spPr/>
    </dgm:pt>
    <dgm:pt modelId="{EFBBD0BF-0C08-462C-8AC9-40313DC9831A}" type="pres">
      <dgm:prSet presAssocID="{55009B75-B30A-4C42-B82A-7D55964F6142}" presName="sibTrans" presStyleCnt="0"/>
      <dgm:spPr/>
    </dgm:pt>
    <dgm:pt modelId="{90B34142-EB29-4FD4-89E2-9C5CCE5F3A81}" type="pres">
      <dgm:prSet presAssocID="{5025C42B-BA4D-492E-9289-0A5323F896DE}" presName="compNode" presStyleCnt="0"/>
      <dgm:spPr/>
    </dgm:pt>
    <dgm:pt modelId="{4750CF6E-34BF-48B7-B462-9EEC23AADB9F}" type="pres">
      <dgm:prSet presAssocID="{5025C42B-BA4D-492E-9289-0A5323F896DE}" presName="bgRect" presStyleLbl="bgShp" presStyleIdx="1" presStyleCnt="2"/>
      <dgm:spPr/>
    </dgm:pt>
    <dgm:pt modelId="{8AD8777E-98A6-47FD-94EF-A750B6EC37A7}" type="pres">
      <dgm:prSet presAssocID="{5025C42B-BA4D-492E-9289-0A5323F896D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ip Calendar"/>
        </a:ext>
      </dgm:extLst>
    </dgm:pt>
    <dgm:pt modelId="{8CF7C6EA-DE5D-4073-A6A3-AF47BB9D8671}" type="pres">
      <dgm:prSet presAssocID="{5025C42B-BA4D-492E-9289-0A5323F896DE}" presName="spaceRect" presStyleCnt="0"/>
      <dgm:spPr/>
    </dgm:pt>
    <dgm:pt modelId="{7DB61126-4593-4C34-BC78-2BA1CF368EA9}" type="pres">
      <dgm:prSet presAssocID="{5025C42B-BA4D-492E-9289-0A5323F896DE}" presName="parTx" presStyleLbl="revTx" presStyleIdx="1" presStyleCnt="2">
        <dgm:presLayoutVars>
          <dgm:chMax val="0"/>
          <dgm:chPref val="0"/>
        </dgm:presLayoutVars>
      </dgm:prSet>
      <dgm:spPr/>
    </dgm:pt>
  </dgm:ptLst>
  <dgm:cxnLst>
    <dgm:cxn modelId="{C0E2E204-D925-43F4-A3A0-3CDBE7FAB193}" srcId="{954372AA-A94C-4502-8C2E-49E9156321AC}" destId="{80B9CD76-D76D-43A5-AF97-350208A8DF5B}" srcOrd="0" destOrd="0" parTransId="{719B92D8-C7D1-4116-A92A-E965C1E3C609}" sibTransId="{55009B75-B30A-4C42-B82A-7D55964F6142}"/>
    <dgm:cxn modelId="{54019247-87C6-42C7-86C1-9100C4201353}" type="presOf" srcId="{5025C42B-BA4D-492E-9289-0A5323F896DE}" destId="{7DB61126-4593-4C34-BC78-2BA1CF368EA9}" srcOrd="0" destOrd="0" presId="urn:microsoft.com/office/officeart/2018/2/layout/IconVerticalSolidList"/>
    <dgm:cxn modelId="{5905ED69-5503-4913-A252-3A359167206E}" type="presOf" srcId="{80B9CD76-D76D-43A5-AF97-350208A8DF5B}" destId="{08323F23-E7D4-4F19-B65D-24E67EAFBFB8}" srcOrd="0" destOrd="0" presId="urn:microsoft.com/office/officeart/2018/2/layout/IconVerticalSolidList"/>
    <dgm:cxn modelId="{76965E70-E1C6-4395-B80E-53BEAE0ED482}" type="presOf" srcId="{954372AA-A94C-4502-8C2E-49E9156321AC}" destId="{A3DA0325-4229-4964-BA15-26AA18B9D2FE}" srcOrd="0" destOrd="0" presId="urn:microsoft.com/office/officeart/2018/2/layout/IconVerticalSolidList"/>
    <dgm:cxn modelId="{327039E8-C604-4B14-8BF7-98907928EEBA}" srcId="{954372AA-A94C-4502-8C2E-49E9156321AC}" destId="{5025C42B-BA4D-492E-9289-0A5323F896DE}" srcOrd="1" destOrd="0" parTransId="{585DF3AF-80B2-4F6F-9BB1-59BC106ECAAD}" sibTransId="{B1CE9E3A-983A-4940-A4B8-163CC0A18210}"/>
    <dgm:cxn modelId="{B4F50DD6-5BD1-4F58-BA37-735D89DF917F}" type="presParOf" srcId="{A3DA0325-4229-4964-BA15-26AA18B9D2FE}" destId="{84B98981-57F4-41A4-98C8-60EFA56C9F1A}" srcOrd="0" destOrd="0" presId="urn:microsoft.com/office/officeart/2018/2/layout/IconVerticalSolidList"/>
    <dgm:cxn modelId="{7F5A91D4-DB57-4FB7-A815-5B6A7105C69E}" type="presParOf" srcId="{84B98981-57F4-41A4-98C8-60EFA56C9F1A}" destId="{BE83A55B-5A60-4F99-8785-5388F48437AB}" srcOrd="0" destOrd="0" presId="urn:microsoft.com/office/officeart/2018/2/layout/IconVerticalSolidList"/>
    <dgm:cxn modelId="{A5C9EDE7-849B-4E69-84D7-C349687A5875}" type="presParOf" srcId="{84B98981-57F4-41A4-98C8-60EFA56C9F1A}" destId="{575C9B32-AD64-45EA-9EBC-FB6026F93D21}" srcOrd="1" destOrd="0" presId="urn:microsoft.com/office/officeart/2018/2/layout/IconVerticalSolidList"/>
    <dgm:cxn modelId="{346B5660-E4A2-42D9-941A-64CBA4C8E8A6}" type="presParOf" srcId="{84B98981-57F4-41A4-98C8-60EFA56C9F1A}" destId="{F7556541-DDF8-46C3-816F-7B969455A57E}" srcOrd="2" destOrd="0" presId="urn:microsoft.com/office/officeart/2018/2/layout/IconVerticalSolidList"/>
    <dgm:cxn modelId="{14E2443A-6449-431F-A0AC-48D7406DA610}" type="presParOf" srcId="{84B98981-57F4-41A4-98C8-60EFA56C9F1A}" destId="{08323F23-E7D4-4F19-B65D-24E67EAFBFB8}" srcOrd="3" destOrd="0" presId="urn:microsoft.com/office/officeart/2018/2/layout/IconVerticalSolidList"/>
    <dgm:cxn modelId="{92C02732-2660-42DB-B82E-A0B3D2C8A0CF}" type="presParOf" srcId="{A3DA0325-4229-4964-BA15-26AA18B9D2FE}" destId="{EFBBD0BF-0C08-462C-8AC9-40313DC9831A}" srcOrd="1" destOrd="0" presId="urn:microsoft.com/office/officeart/2018/2/layout/IconVerticalSolidList"/>
    <dgm:cxn modelId="{4B919967-AFCD-46A0-B825-82DFE79C776F}" type="presParOf" srcId="{A3DA0325-4229-4964-BA15-26AA18B9D2FE}" destId="{90B34142-EB29-4FD4-89E2-9C5CCE5F3A81}" srcOrd="2" destOrd="0" presId="urn:microsoft.com/office/officeart/2018/2/layout/IconVerticalSolidList"/>
    <dgm:cxn modelId="{991D6DAD-D268-41BE-8159-89A7762501A4}" type="presParOf" srcId="{90B34142-EB29-4FD4-89E2-9C5CCE5F3A81}" destId="{4750CF6E-34BF-48B7-B462-9EEC23AADB9F}" srcOrd="0" destOrd="0" presId="urn:microsoft.com/office/officeart/2018/2/layout/IconVerticalSolidList"/>
    <dgm:cxn modelId="{D9C4D961-6C59-4AAC-BE8F-19553B25F907}" type="presParOf" srcId="{90B34142-EB29-4FD4-89E2-9C5CCE5F3A81}" destId="{8AD8777E-98A6-47FD-94EF-A750B6EC37A7}" srcOrd="1" destOrd="0" presId="urn:microsoft.com/office/officeart/2018/2/layout/IconVerticalSolidList"/>
    <dgm:cxn modelId="{DB26239D-22DA-4EB0-8915-68C5D58C41C6}" type="presParOf" srcId="{90B34142-EB29-4FD4-89E2-9C5CCE5F3A81}" destId="{8CF7C6EA-DE5D-4073-A6A3-AF47BB9D8671}" srcOrd="2" destOrd="0" presId="urn:microsoft.com/office/officeart/2018/2/layout/IconVerticalSolidList"/>
    <dgm:cxn modelId="{E496245D-9E38-46D8-8B5E-85534890AC1F}" type="presParOf" srcId="{90B34142-EB29-4FD4-89E2-9C5CCE5F3A81}" destId="{7DB61126-4593-4C34-BC78-2BA1CF368EA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D46F98-78E2-4F73-8EB0-8B0A26EAACA0}"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C5F3D212-28F3-46D5-A6B8-4784E917FAAF}" type="pres">
      <dgm:prSet presAssocID="{04D46F98-78E2-4F73-8EB0-8B0A26EAACA0}" presName="diagram" presStyleCnt="0">
        <dgm:presLayoutVars>
          <dgm:dir/>
          <dgm:resizeHandles val="exact"/>
        </dgm:presLayoutVars>
      </dgm:prSet>
      <dgm:spPr/>
    </dgm:pt>
  </dgm:ptLst>
  <dgm:cxnLst>
    <dgm:cxn modelId="{8BD753BF-47B1-489A-98EF-F2F207C1B104}" type="presOf" srcId="{04D46F98-78E2-4F73-8EB0-8B0A26EAACA0}" destId="{C5F3D212-28F3-46D5-A6B8-4784E917FAAF}"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3A55B-5A60-4F99-8785-5388F48437AB}">
      <dsp:nvSpPr>
        <dsp:cNvPr id="0" name=""/>
        <dsp:cNvSpPr/>
      </dsp:nvSpPr>
      <dsp:spPr>
        <a:xfrm>
          <a:off x="0" y="669686"/>
          <a:ext cx="5827644" cy="12363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5C9B32-AD64-45EA-9EBC-FB6026F93D21}">
      <dsp:nvSpPr>
        <dsp:cNvPr id="0" name=""/>
        <dsp:cNvSpPr/>
      </dsp:nvSpPr>
      <dsp:spPr>
        <a:xfrm>
          <a:off x="373994" y="947864"/>
          <a:ext cx="679989" cy="67998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323F23-E7D4-4F19-B65D-24E67EAFBFB8}">
      <dsp:nvSpPr>
        <dsp:cNvPr id="0" name=""/>
        <dsp:cNvSpPr/>
      </dsp:nvSpPr>
      <dsp:spPr>
        <a:xfrm>
          <a:off x="1427978" y="669686"/>
          <a:ext cx="4399665" cy="1236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46" tIns="130846" rIns="130846" bIns="130846" numCol="1" spcCol="1270" anchor="ctr" anchorCtr="0">
          <a:noAutofit/>
        </a:bodyPr>
        <a:lstStyle/>
        <a:p>
          <a:pPr marL="0" lvl="0" indent="0" algn="l" defTabSz="1111250">
            <a:lnSpc>
              <a:spcPct val="100000"/>
            </a:lnSpc>
            <a:spcBef>
              <a:spcPct val="0"/>
            </a:spcBef>
            <a:spcAft>
              <a:spcPct val="35000"/>
            </a:spcAft>
            <a:buNone/>
          </a:pPr>
          <a:r>
            <a:rPr lang="en-US" sz="2500" b="1" kern="1200" dirty="0">
              <a:solidFill>
                <a:schemeClr val="tx2">
                  <a:lumMod val="90000"/>
                  <a:lumOff val="10000"/>
                </a:schemeClr>
              </a:solidFill>
            </a:rPr>
            <a:t>TT2008</a:t>
          </a:r>
        </a:p>
      </dsp:txBody>
      <dsp:txXfrm>
        <a:off x="1427978" y="669686"/>
        <a:ext cx="4399665" cy="1236344"/>
      </dsp:txXfrm>
    </dsp:sp>
    <dsp:sp modelId="{4750CF6E-34BF-48B7-B462-9EEC23AADB9F}">
      <dsp:nvSpPr>
        <dsp:cNvPr id="0" name=""/>
        <dsp:cNvSpPr/>
      </dsp:nvSpPr>
      <dsp:spPr>
        <a:xfrm>
          <a:off x="0" y="2215117"/>
          <a:ext cx="5827644" cy="12363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D8777E-98A6-47FD-94EF-A750B6EC37A7}">
      <dsp:nvSpPr>
        <dsp:cNvPr id="0" name=""/>
        <dsp:cNvSpPr/>
      </dsp:nvSpPr>
      <dsp:spPr>
        <a:xfrm>
          <a:off x="373994" y="2493295"/>
          <a:ext cx="679989" cy="6799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B61126-4593-4C34-BC78-2BA1CF368EA9}">
      <dsp:nvSpPr>
        <dsp:cNvPr id="0" name=""/>
        <dsp:cNvSpPr/>
      </dsp:nvSpPr>
      <dsp:spPr>
        <a:xfrm>
          <a:off x="1427978" y="2215117"/>
          <a:ext cx="4399665" cy="1236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46" tIns="130846" rIns="130846" bIns="130846" numCol="1" spcCol="1270" anchor="ctr" anchorCtr="0">
          <a:noAutofit/>
        </a:bodyPr>
        <a:lstStyle/>
        <a:p>
          <a:pPr marL="0" lvl="0" indent="0" algn="l" defTabSz="1111250">
            <a:lnSpc>
              <a:spcPct val="100000"/>
            </a:lnSpc>
            <a:spcBef>
              <a:spcPct val="0"/>
            </a:spcBef>
            <a:spcAft>
              <a:spcPct val="35000"/>
            </a:spcAft>
            <a:buNone/>
          </a:pPr>
          <a:r>
            <a:rPr lang="en-US" sz="2500" b="1" kern="1200" dirty="0">
              <a:solidFill>
                <a:schemeClr val="tx2">
                  <a:lumMod val="90000"/>
                  <a:lumOff val="10000"/>
                </a:schemeClr>
              </a:solidFill>
            </a:rPr>
            <a:t>1</a:t>
          </a:r>
          <a:r>
            <a:rPr lang="en-US" sz="2500" b="1" kern="1200" baseline="30000" dirty="0">
              <a:solidFill>
                <a:schemeClr val="tx2">
                  <a:lumMod val="90000"/>
                  <a:lumOff val="10000"/>
                </a:schemeClr>
              </a:solidFill>
            </a:rPr>
            <a:t>st</a:t>
          </a:r>
          <a:r>
            <a:rPr lang="en-US" sz="2500" b="1" kern="1200" dirty="0">
              <a:solidFill>
                <a:schemeClr val="tx2">
                  <a:lumMod val="90000"/>
                  <a:lumOff val="10000"/>
                </a:schemeClr>
              </a:solidFill>
            </a:rPr>
            <a:t> Oct 2026</a:t>
          </a:r>
        </a:p>
      </dsp:txBody>
      <dsp:txXfrm>
        <a:off x="1427978" y="2215117"/>
        <a:ext cx="4399665" cy="12363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3A55B-5A60-4F99-8785-5388F48437AB}">
      <dsp:nvSpPr>
        <dsp:cNvPr id="0" name=""/>
        <dsp:cNvSpPr/>
      </dsp:nvSpPr>
      <dsp:spPr>
        <a:xfrm>
          <a:off x="0" y="669686"/>
          <a:ext cx="5827644" cy="12363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5C9B32-AD64-45EA-9EBC-FB6026F93D21}">
      <dsp:nvSpPr>
        <dsp:cNvPr id="0" name=""/>
        <dsp:cNvSpPr/>
      </dsp:nvSpPr>
      <dsp:spPr>
        <a:xfrm>
          <a:off x="373994" y="947864"/>
          <a:ext cx="679989" cy="67998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323F23-E7D4-4F19-B65D-24E67EAFBFB8}">
      <dsp:nvSpPr>
        <dsp:cNvPr id="0" name=""/>
        <dsp:cNvSpPr/>
      </dsp:nvSpPr>
      <dsp:spPr>
        <a:xfrm>
          <a:off x="1427978" y="669686"/>
          <a:ext cx="4399665" cy="1236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46" tIns="130846" rIns="130846" bIns="130846" numCol="1" spcCol="1270" anchor="ctr" anchorCtr="0">
          <a:noAutofit/>
        </a:bodyPr>
        <a:lstStyle/>
        <a:p>
          <a:pPr marL="0" lvl="0" indent="0" algn="l" defTabSz="1111250">
            <a:lnSpc>
              <a:spcPct val="100000"/>
            </a:lnSpc>
            <a:spcBef>
              <a:spcPct val="0"/>
            </a:spcBef>
            <a:spcAft>
              <a:spcPct val="35000"/>
            </a:spcAft>
            <a:buNone/>
          </a:pPr>
          <a:r>
            <a:rPr lang="en-US" sz="2500" b="1" kern="1200" dirty="0">
              <a:solidFill>
                <a:schemeClr val="tx2">
                  <a:lumMod val="90000"/>
                  <a:lumOff val="10000"/>
                </a:schemeClr>
              </a:solidFill>
            </a:rPr>
            <a:t>TT2008</a:t>
          </a:r>
        </a:p>
      </dsp:txBody>
      <dsp:txXfrm>
        <a:off x="1427978" y="669686"/>
        <a:ext cx="4399665" cy="1236344"/>
      </dsp:txXfrm>
    </dsp:sp>
    <dsp:sp modelId="{4750CF6E-34BF-48B7-B462-9EEC23AADB9F}">
      <dsp:nvSpPr>
        <dsp:cNvPr id="0" name=""/>
        <dsp:cNvSpPr/>
      </dsp:nvSpPr>
      <dsp:spPr>
        <a:xfrm>
          <a:off x="0" y="2215117"/>
          <a:ext cx="5827644" cy="12363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D8777E-98A6-47FD-94EF-A750B6EC37A7}">
      <dsp:nvSpPr>
        <dsp:cNvPr id="0" name=""/>
        <dsp:cNvSpPr/>
      </dsp:nvSpPr>
      <dsp:spPr>
        <a:xfrm>
          <a:off x="373994" y="2493295"/>
          <a:ext cx="679989" cy="6799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B61126-4593-4C34-BC78-2BA1CF368EA9}">
      <dsp:nvSpPr>
        <dsp:cNvPr id="0" name=""/>
        <dsp:cNvSpPr/>
      </dsp:nvSpPr>
      <dsp:spPr>
        <a:xfrm>
          <a:off x="1427978" y="2215117"/>
          <a:ext cx="4399665" cy="1236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46" tIns="130846" rIns="130846" bIns="130846" numCol="1" spcCol="1270" anchor="ctr" anchorCtr="0">
          <a:noAutofit/>
        </a:bodyPr>
        <a:lstStyle/>
        <a:p>
          <a:pPr marL="0" lvl="0" indent="0" algn="l" defTabSz="1111250">
            <a:lnSpc>
              <a:spcPct val="100000"/>
            </a:lnSpc>
            <a:spcBef>
              <a:spcPct val="0"/>
            </a:spcBef>
            <a:spcAft>
              <a:spcPct val="35000"/>
            </a:spcAft>
            <a:buNone/>
          </a:pPr>
          <a:r>
            <a:rPr lang="en-US" sz="2500" b="1" kern="1200" dirty="0">
              <a:solidFill>
                <a:schemeClr val="tx2">
                  <a:lumMod val="90000"/>
                  <a:lumOff val="10000"/>
                </a:schemeClr>
              </a:solidFill>
            </a:rPr>
            <a:t>1</a:t>
          </a:r>
          <a:r>
            <a:rPr lang="en-US" sz="2500" b="1" kern="1200" baseline="30000" dirty="0">
              <a:solidFill>
                <a:schemeClr val="tx2">
                  <a:lumMod val="90000"/>
                  <a:lumOff val="10000"/>
                </a:schemeClr>
              </a:solidFill>
            </a:rPr>
            <a:t>st</a:t>
          </a:r>
          <a:r>
            <a:rPr lang="en-US" sz="2500" b="1" kern="1200" dirty="0">
              <a:solidFill>
                <a:schemeClr val="tx2">
                  <a:lumMod val="90000"/>
                  <a:lumOff val="10000"/>
                </a:schemeClr>
              </a:solidFill>
            </a:rPr>
            <a:t> Oct 2026</a:t>
          </a:r>
        </a:p>
      </dsp:txBody>
      <dsp:txXfrm>
        <a:off x="1427978" y="2215117"/>
        <a:ext cx="4399665" cy="1236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50475" cy="498773"/>
          </a:xfrm>
          <a:prstGeom prst="rect">
            <a:avLst/>
          </a:prstGeom>
        </p:spPr>
        <p:txBody>
          <a:bodyPr vert="horz" lIns="91440" tIns="45720" rIns="91440" bIns="45720" rtlCol="0"/>
          <a:lstStyle>
            <a:lvl1pPr algn="l">
              <a:defRPr sz="1200"/>
            </a:lvl1pPr>
          </a:lstStyle>
          <a:p>
            <a:endParaRPr lang="en-IE" dirty="0"/>
          </a:p>
        </p:txBody>
      </p:sp>
      <p:sp>
        <p:nvSpPr>
          <p:cNvPr id="3" name="Date Placeholder 2"/>
          <p:cNvSpPr>
            <a:spLocks noGrp="1"/>
          </p:cNvSpPr>
          <p:nvPr>
            <p:ph type="dt" idx="1"/>
          </p:nvPr>
        </p:nvSpPr>
        <p:spPr>
          <a:xfrm>
            <a:off x="3856737" y="0"/>
            <a:ext cx="2950475" cy="498773"/>
          </a:xfrm>
          <a:prstGeom prst="rect">
            <a:avLst/>
          </a:prstGeom>
        </p:spPr>
        <p:txBody>
          <a:bodyPr vert="horz" lIns="91440" tIns="45720" rIns="91440" bIns="45720" rtlCol="0"/>
          <a:lstStyle>
            <a:lvl1pPr algn="r">
              <a:defRPr sz="1200"/>
            </a:lvl1pPr>
          </a:lstStyle>
          <a:p>
            <a:fld id="{EACDF147-0616-4CCB-9048-A93AB31AFD51}" type="datetimeFigureOut">
              <a:rPr lang="en-IE" smtClean="0"/>
              <a:t>28/09/2026</a:t>
            </a:fld>
            <a:endParaRPr lang="en-IE" dirty="0"/>
          </a:p>
        </p:txBody>
      </p:sp>
      <p:sp>
        <p:nvSpPr>
          <p:cNvPr id="4" name="Slide Image Placeholder 3"/>
          <p:cNvSpPr>
            <a:spLocks noGrp="1" noRot="1" noChangeAspect="1"/>
          </p:cNvSpPr>
          <p:nvPr>
            <p:ph type="sldImg" idx="2"/>
          </p:nvPr>
        </p:nvSpPr>
        <p:spPr>
          <a:xfrm>
            <a:off x="423863" y="1243013"/>
            <a:ext cx="5961062" cy="3354387"/>
          </a:xfrm>
          <a:prstGeom prst="rect">
            <a:avLst/>
          </a:prstGeom>
          <a:noFill/>
          <a:ln w="12700">
            <a:solidFill>
              <a:prstClr val="black"/>
            </a:solidFill>
          </a:ln>
        </p:spPr>
        <p:txBody>
          <a:bodyPr vert="horz" lIns="91440" tIns="45720" rIns="91440" bIns="45720" rtlCol="0" anchor="ctr"/>
          <a:lstStyle/>
          <a:p>
            <a:endParaRPr lang="en-IE" dirty="0"/>
          </a:p>
        </p:txBody>
      </p:sp>
      <p:sp>
        <p:nvSpPr>
          <p:cNvPr id="5" name="Notes Placeholder 4"/>
          <p:cNvSpPr>
            <a:spLocks noGrp="1"/>
          </p:cNvSpPr>
          <p:nvPr>
            <p:ph type="body" sz="quarter" idx="3"/>
          </p:nvPr>
        </p:nvSpPr>
        <p:spPr>
          <a:xfrm>
            <a:off x="680879" y="4784070"/>
            <a:ext cx="5447030" cy="3914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442154"/>
            <a:ext cx="2950475" cy="498772"/>
          </a:xfrm>
          <a:prstGeom prst="rect">
            <a:avLst/>
          </a:prstGeom>
        </p:spPr>
        <p:txBody>
          <a:bodyPr vert="horz" lIns="91440" tIns="45720" rIns="91440" bIns="45720" rtlCol="0" anchor="b"/>
          <a:lstStyle>
            <a:lvl1pPr algn="l">
              <a:defRPr sz="1200"/>
            </a:lvl1pPr>
          </a:lstStyle>
          <a:p>
            <a:endParaRPr lang="en-IE" dirty="0"/>
          </a:p>
        </p:txBody>
      </p:sp>
      <p:sp>
        <p:nvSpPr>
          <p:cNvPr id="7" name="Slide Number Placeholder 6"/>
          <p:cNvSpPr>
            <a:spLocks noGrp="1"/>
          </p:cNvSpPr>
          <p:nvPr>
            <p:ph type="sldNum" sz="quarter" idx="5"/>
          </p:nvPr>
        </p:nvSpPr>
        <p:spPr>
          <a:xfrm>
            <a:off x="3856737" y="9442154"/>
            <a:ext cx="2950475" cy="498772"/>
          </a:xfrm>
          <a:prstGeom prst="rect">
            <a:avLst/>
          </a:prstGeom>
        </p:spPr>
        <p:txBody>
          <a:bodyPr vert="horz" lIns="91440" tIns="45720" rIns="91440" bIns="45720" rtlCol="0" anchor="b"/>
          <a:lstStyle>
            <a:lvl1pPr algn="r">
              <a:defRPr sz="1200"/>
            </a:lvl1pPr>
          </a:lstStyle>
          <a:p>
            <a:fld id="{2E6E39DE-D4A6-4410-BB59-18C2F798405E}" type="slidenum">
              <a:rPr lang="en-IE" smtClean="0"/>
              <a:t>‹#›</a:t>
            </a:fld>
            <a:endParaRPr lang="en-IE" dirty="0"/>
          </a:p>
        </p:txBody>
      </p:sp>
    </p:spTree>
    <p:extLst>
      <p:ext uri="{BB962C8B-B14F-4D97-AF65-F5344CB8AC3E}">
        <p14:creationId xmlns:p14="http://schemas.microsoft.com/office/powerpoint/2010/main" val="1653343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1</a:t>
            </a:fld>
            <a:endParaRPr lang="en-IE" dirty="0"/>
          </a:p>
        </p:txBody>
      </p:sp>
    </p:spTree>
    <p:extLst>
      <p:ext uri="{BB962C8B-B14F-4D97-AF65-F5344CB8AC3E}">
        <p14:creationId xmlns:p14="http://schemas.microsoft.com/office/powerpoint/2010/main" val="2424300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A8095CB6-6533-49BF-956A-D3A1295A20E6}" type="slidenum">
              <a:rPr lang="en-IE" smtClean="0"/>
              <a:t>2</a:t>
            </a:fld>
            <a:endParaRPr lang="en-IE"/>
          </a:p>
        </p:txBody>
      </p:sp>
    </p:spTree>
    <p:extLst>
      <p:ext uri="{BB962C8B-B14F-4D97-AF65-F5344CB8AC3E}">
        <p14:creationId xmlns:p14="http://schemas.microsoft.com/office/powerpoint/2010/main" val="233736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fontAlgn="base">
              <a:buSzPts val="1000"/>
              <a:buFont typeface="Symbol" panose="05050102010706020507" pitchFamily="18" charset="2"/>
              <a:buNone/>
              <a:tabLst>
                <a:tab pos="457200" algn="l"/>
              </a:tabLst>
            </a:pPr>
            <a:endParaRPr lang="en-IE" sz="1800" dirty="0">
              <a:effectLst/>
              <a:latin typeface="Calibri" panose="020F0502020204030204" pitchFamily="34" charset="0"/>
              <a:ea typeface="Calibri" panose="020F0502020204030204" pitchFamily="34" charset="0"/>
            </a:endParaRPr>
          </a:p>
          <a:p>
            <a:endParaRPr lang="en-IE" dirty="0"/>
          </a:p>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867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128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9296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8101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Number 12 is the Revenue commissioners.</a:t>
            </a:r>
          </a:p>
          <a:p>
            <a:endParaRPr lang="en-IE" dirty="0"/>
          </a:p>
          <a:p>
            <a:r>
              <a:rPr lang="en-IE" dirty="0"/>
              <a:t>If time permits mention other bodies like the National Roads Authority  at 68.</a:t>
            </a:r>
          </a:p>
          <a:p>
            <a:r>
              <a:rPr lang="en-IE" dirty="0"/>
              <a:t>Uisce Eireann is listed at 210 and Coimisiún na Meán, talk about the use of square brackets and superscript numbers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9972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0441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608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9971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4254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lineal descendant is distinguished from a collateral descendant, which would be from the line of a brother, sister, aunt or uncle.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6372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0427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9041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5101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3857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8931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2731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73194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6986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40872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9479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1955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869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92036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34 S819</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62810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34549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3785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078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678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1627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1122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01828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07331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39915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34997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0620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8643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54901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16207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25448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90628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2679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52968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38291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75653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70231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48</a:t>
            </a:fld>
            <a:endParaRPr lang="en-IE" dirty="0"/>
          </a:p>
        </p:txBody>
      </p:sp>
    </p:spTree>
    <p:extLst>
      <p:ext uri="{BB962C8B-B14F-4D97-AF65-F5344CB8AC3E}">
        <p14:creationId xmlns:p14="http://schemas.microsoft.com/office/powerpoint/2010/main" val="10354918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S18 Schedule D, S19 Schedule E, S20 Schedule F, S71 foreign securities and possessions, S821 provides for the application of sections 17 (Schedule C income) and S18 (1) where tax is charged under Schedule D on profits or gains arising to certain residents of the State and certain persons who are not resident in the State</a:t>
            </a:r>
          </a:p>
        </p:txBody>
      </p:sp>
      <p:sp>
        <p:nvSpPr>
          <p:cNvPr id="4" name="Slide Number Placeholder 3"/>
          <p:cNvSpPr>
            <a:spLocks noGrp="1"/>
          </p:cNvSpPr>
          <p:nvPr>
            <p:ph type="sldNum" sz="quarter" idx="5"/>
          </p:nvPr>
        </p:nvSpPr>
        <p:spPr/>
        <p:txBody>
          <a:bodyPr/>
          <a:lstStyle/>
          <a:p>
            <a:fld id="{2E6E39DE-D4A6-4410-BB59-18C2F798405E}" type="slidenum">
              <a:rPr lang="en-IE" smtClean="0"/>
              <a:t>49</a:t>
            </a:fld>
            <a:endParaRPr lang="en-IE" dirty="0"/>
          </a:p>
        </p:txBody>
      </p:sp>
    </p:spTree>
    <p:extLst>
      <p:ext uri="{BB962C8B-B14F-4D97-AF65-F5344CB8AC3E}">
        <p14:creationId xmlns:p14="http://schemas.microsoft.com/office/powerpoint/2010/main" val="38785548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E6E39DE-D4A6-4410-BB59-18C2F798405E}" type="slidenum">
              <a:rPr lang="en-IE" smtClean="0"/>
              <a:t>50</a:t>
            </a:fld>
            <a:endParaRPr lang="en-IE" dirty="0"/>
          </a:p>
        </p:txBody>
      </p:sp>
    </p:spTree>
    <p:extLst>
      <p:ext uri="{BB962C8B-B14F-4D97-AF65-F5344CB8AC3E}">
        <p14:creationId xmlns:p14="http://schemas.microsoft.com/office/powerpoint/2010/main" val="12292072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S18 Schedule D charge to tax, S 71 (3) deals with the charge to tax on remittances brought into the State. </a:t>
            </a:r>
          </a:p>
        </p:txBody>
      </p:sp>
      <p:sp>
        <p:nvSpPr>
          <p:cNvPr id="4" name="Slide Number Placeholder 3"/>
          <p:cNvSpPr>
            <a:spLocks noGrp="1"/>
          </p:cNvSpPr>
          <p:nvPr>
            <p:ph type="sldNum" sz="quarter" idx="5"/>
          </p:nvPr>
        </p:nvSpPr>
        <p:spPr/>
        <p:txBody>
          <a:bodyPr/>
          <a:lstStyle/>
          <a:p>
            <a:fld id="{2E6E39DE-D4A6-4410-BB59-18C2F798405E}" type="slidenum">
              <a:rPr lang="en-IE" smtClean="0"/>
              <a:t>53</a:t>
            </a:fld>
            <a:endParaRPr lang="en-IE" dirty="0"/>
          </a:p>
        </p:txBody>
      </p:sp>
    </p:spTree>
    <p:extLst>
      <p:ext uri="{BB962C8B-B14F-4D97-AF65-F5344CB8AC3E}">
        <p14:creationId xmlns:p14="http://schemas.microsoft.com/office/powerpoint/2010/main" val="17707035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S72 – Charge to tax on sums applied outside the State in repaying certain loans.</a:t>
            </a:r>
          </a:p>
          <a:p>
            <a:r>
              <a:rPr lang="en-IE" dirty="0"/>
              <a:t>Look up ‘loans’ in the index, scroll to ‘repayment out of foreign income’ and S72 is shown, other anti-avoidance provisions are dealt with in S813 but are not covered here</a:t>
            </a:r>
          </a:p>
        </p:txBody>
      </p:sp>
      <p:sp>
        <p:nvSpPr>
          <p:cNvPr id="4" name="Slide Number Placeholder 3"/>
          <p:cNvSpPr>
            <a:spLocks noGrp="1"/>
          </p:cNvSpPr>
          <p:nvPr>
            <p:ph type="sldNum" sz="quarter" idx="5"/>
          </p:nvPr>
        </p:nvSpPr>
        <p:spPr/>
        <p:txBody>
          <a:bodyPr/>
          <a:lstStyle/>
          <a:p>
            <a:fld id="{2E6E39DE-D4A6-4410-BB59-18C2F798405E}" type="slidenum">
              <a:rPr lang="en-IE" smtClean="0"/>
              <a:t>54</a:t>
            </a:fld>
            <a:endParaRPr lang="en-IE" dirty="0"/>
          </a:p>
        </p:txBody>
      </p:sp>
    </p:spTree>
    <p:extLst>
      <p:ext uri="{BB962C8B-B14F-4D97-AF65-F5344CB8AC3E}">
        <p14:creationId xmlns:p14="http://schemas.microsoft.com/office/powerpoint/2010/main" val="23353137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61</a:t>
            </a:fld>
            <a:endParaRPr lang="en-IE" dirty="0"/>
          </a:p>
        </p:txBody>
      </p:sp>
    </p:spTree>
    <p:extLst>
      <p:ext uri="{BB962C8B-B14F-4D97-AF65-F5344CB8AC3E}">
        <p14:creationId xmlns:p14="http://schemas.microsoft.com/office/powerpoint/2010/main" val="15401988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C8910-CE47-9243-E588-0D92D31BE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977A88-341E-D3D9-D8FF-52796D6DB7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0C648-BE0A-E465-365B-5069EFD269EF}"/>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A144580B-BD07-3764-B246-E326D8C83457}"/>
              </a:ext>
            </a:extLst>
          </p:cNvPr>
          <p:cNvSpPr>
            <a:spLocks noGrp="1"/>
          </p:cNvSpPr>
          <p:nvPr>
            <p:ph type="sldNum" sz="quarter" idx="5"/>
          </p:nvPr>
        </p:nvSpPr>
        <p:spPr/>
        <p:txBody>
          <a:bodyPr/>
          <a:lstStyle/>
          <a:p>
            <a:fld id="{A8095CB6-6533-49BF-956A-D3A1295A20E6}" type="slidenum">
              <a:rPr lang="en-IE" smtClean="0"/>
              <a:t>62</a:t>
            </a:fld>
            <a:endParaRPr lang="en-IE"/>
          </a:p>
        </p:txBody>
      </p:sp>
    </p:spTree>
    <p:extLst>
      <p:ext uri="{BB962C8B-B14F-4D97-AF65-F5344CB8AC3E}">
        <p14:creationId xmlns:p14="http://schemas.microsoft.com/office/powerpoint/2010/main" val="16615893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63</a:t>
            </a:fld>
            <a:endParaRPr lang="en-IE" dirty="0"/>
          </a:p>
        </p:txBody>
      </p:sp>
    </p:spTree>
    <p:extLst>
      <p:ext uri="{BB962C8B-B14F-4D97-AF65-F5344CB8AC3E}">
        <p14:creationId xmlns:p14="http://schemas.microsoft.com/office/powerpoint/2010/main" val="31192908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Some online bank accounts do not collect tax on the interest at source i.e. DIRT and it has to be declared by the T/P such interest would be Case III not Case IV</a:t>
            </a:r>
          </a:p>
        </p:txBody>
      </p:sp>
      <p:sp>
        <p:nvSpPr>
          <p:cNvPr id="4" name="Slide Number Placeholder 3"/>
          <p:cNvSpPr>
            <a:spLocks noGrp="1"/>
          </p:cNvSpPr>
          <p:nvPr>
            <p:ph type="sldNum" sz="quarter" idx="5"/>
          </p:nvPr>
        </p:nvSpPr>
        <p:spPr/>
        <p:txBody>
          <a:bodyPr/>
          <a:lstStyle/>
          <a:p>
            <a:fld id="{2E6E39DE-D4A6-4410-BB59-18C2F798405E}" type="slidenum">
              <a:rPr lang="en-IE" smtClean="0"/>
              <a:t>67</a:t>
            </a:fld>
            <a:endParaRPr lang="en-IE" dirty="0"/>
          </a:p>
        </p:txBody>
      </p:sp>
    </p:spTree>
    <p:extLst>
      <p:ext uri="{BB962C8B-B14F-4D97-AF65-F5344CB8AC3E}">
        <p14:creationId xmlns:p14="http://schemas.microsoft.com/office/powerpoint/2010/main" val="16167540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72</a:t>
            </a:fld>
            <a:endParaRPr lang="en-IE" dirty="0"/>
          </a:p>
        </p:txBody>
      </p:sp>
    </p:spTree>
    <p:extLst>
      <p:ext uri="{BB962C8B-B14F-4D97-AF65-F5344CB8AC3E}">
        <p14:creationId xmlns:p14="http://schemas.microsoft.com/office/powerpoint/2010/main" val="28181954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73</a:t>
            </a:fld>
            <a:endParaRPr lang="en-IE" dirty="0"/>
          </a:p>
        </p:txBody>
      </p:sp>
    </p:spTree>
    <p:extLst>
      <p:ext uri="{BB962C8B-B14F-4D97-AF65-F5344CB8AC3E}">
        <p14:creationId xmlns:p14="http://schemas.microsoft.com/office/powerpoint/2010/main" val="20268428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E6E39DE-D4A6-4410-BB59-18C2F798405E}" type="slidenum">
              <a:rPr lang="en-IE" smtClean="0"/>
              <a:t>76</a:t>
            </a:fld>
            <a:endParaRPr lang="en-IE" dirty="0"/>
          </a:p>
        </p:txBody>
      </p:sp>
    </p:spTree>
    <p:extLst>
      <p:ext uri="{BB962C8B-B14F-4D97-AF65-F5344CB8AC3E}">
        <p14:creationId xmlns:p14="http://schemas.microsoft.com/office/powerpoint/2010/main" val="12127547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83</a:t>
            </a:fld>
            <a:endParaRPr lang="en-IE" dirty="0"/>
          </a:p>
        </p:txBody>
      </p:sp>
    </p:spTree>
    <p:extLst>
      <p:ext uri="{BB962C8B-B14F-4D97-AF65-F5344CB8AC3E}">
        <p14:creationId xmlns:p14="http://schemas.microsoft.com/office/powerpoint/2010/main" val="13724434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D2185-42CE-A450-55B2-2D24F4B53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BB89E-620C-D1F7-B9B2-3B3C911FE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33B8E-A347-2029-A0DE-770DB12FAFCF}"/>
              </a:ext>
            </a:extLst>
          </p:cNvPr>
          <p:cNvSpPr>
            <a:spLocks noGrp="1"/>
          </p:cNvSpPr>
          <p:nvPr>
            <p:ph type="body" idx="1"/>
          </p:nvPr>
        </p:nvSpPr>
        <p:spPr/>
        <p:txBody>
          <a:bodyPr/>
          <a:lstStyle/>
          <a:p>
            <a:r>
              <a:rPr lang="en-IE" dirty="0"/>
              <a:t>The basis of assessment for an ongoing trade and for the Commencement &amp; Cessation of a Trade or Profession under Schedule D Cases 1 and 2 is provided for in sections 65, 66 and 67 of the taxes consolidation act 1997.</a:t>
            </a:r>
          </a:p>
        </p:txBody>
      </p:sp>
      <p:sp>
        <p:nvSpPr>
          <p:cNvPr id="4" name="Slide Number Placeholder 3">
            <a:extLst>
              <a:ext uri="{FF2B5EF4-FFF2-40B4-BE49-F238E27FC236}">
                <a16:creationId xmlns:a16="http://schemas.microsoft.com/office/drawing/2014/main" id="{D6A7DE21-6450-E92E-EE0F-1FFDE11640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09938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85</a:t>
            </a:fld>
            <a:endParaRPr lang="en-IE" dirty="0"/>
          </a:p>
        </p:txBody>
      </p:sp>
    </p:spTree>
    <p:extLst>
      <p:ext uri="{BB962C8B-B14F-4D97-AF65-F5344CB8AC3E}">
        <p14:creationId xmlns:p14="http://schemas.microsoft.com/office/powerpoint/2010/main" val="36667689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5BEBD-C390-50E6-A94A-F60D0F60C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E61C4-CEFC-260A-7052-C54064614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A6183-AE37-CF28-854F-B3D448561279}"/>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CCF5BC37-D409-7A97-2977-18C9E95928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2B5060-78A4-4CD5-9E31-CB30DFA9E448}"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91464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Sole traders in business for a number of years normally prepare a 12-month set of accounts when computing the profit (or loss) applicable for a tax year. That set of accounts can end on any date within the tax year.</a:t>
            </a:r>
          </a:p>
          <a:p>
            <a:endParaRPr lang="en-IE" dirty="0"/>
          </a:p>
          <a:p>
            <a:r>
              <a:rPr lang="en-IE" dirty="0"/>
              <a:t>This 12-month period is referred to as the ‘basis period’ for tax purposes.</a:t>
            </a:r>
          </a:p>
          <a:p>
            <a:endParaRPr lang="en-IE" dirty="0"/>
          </a:p>
          <a:p>
            <a:r>
              <a:rPr lang="en-IE" dirty="0"/>
              <a:t>Note: The tax year and the tax return (F11 for self-employed  or F12 for PAYE employees) always relate to the period 1 Jan to 31 Dec however, the 12-month basis period generally aligns with the 12-month accounting period used by the business, which may not be a calendar year.</a:t>
            </a:r>
          </a:p>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7975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See question as per slide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39311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BB26A-AACD-82C1-3266-72DBC871C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9A38-38E3-6924-F9CD-0ECC100261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2C83E-05A6-588A-4801-147D2C11FF6C}"/>
              </a:ext>
            </a:extLst>
          </p:cNvPr>
          <p:cNvSpPr>
            <a:spLocks noGrp="1"/>
          </p:cNvSpPr>
          <p:nvPr>
            <p:ph type="body" idx="1"/>
          </p:nvPr>
        </p:nvSpPr>
        <p:spPr/>
        <p:txBody>
          <a:bodyPr/>
          <a:lstStyle/>
          <a:p>
            <a:r>
              <a:rPr lang="en-IE" dirty="0"/>
              <a:t>See solution as per slide</a:t>
            </a:r>
          </a:p>
        </p:txBody>
      </p:sp>
      <p:sp>
        <p:nvSpPr>
          <p:cNvPr id="4" name="Slide Number Placeholder 3">
            <a:extLst>
              <a:ext uri="{FF2B5EF4-FFF2-40B4-BE49-F238E27FC236}">
                <a16:creationId xmlns:a16="http://schemas.microsoft.com/office/drawing/2014/main" id="{291B00D7-41D9-8DD1-2F41-6690D32BE4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00914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905C-3D88-976F-7D26-69B50FD35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F42B6-27AB-885D-23FB-EB7D584AD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3102B-AE90-D77B-A348-35A30917B7AA}"/>
              </a:ext>
            </a:extLst>
          </p:cNvPr>
          <p:cNvSpPr>
            <a:spLocks noGrp="1"/>
          </p:cNvSpPr>
          <p:nvPr>
            <p:ph type="body" idx="1"/>
          </p:nvPr>
        </p:nvSpPr>
        <p:spPr/>
        <p:txBody>
          <a:bodyPr/>
          <a:lstStyle/>
          <a:p>
            <a:r>
              <a:rPr lang="en-IE" dirty="0"/>
              <a:t>Year 1: The business commences trading</a:t>
            </a:r>
          </a:p>
          <a:p>
            <a:endParaRPr lang="en-IE" dirty="0"/>
          </a:p>
          <a:p>
            <a:r>
              <a:rPr lang="en-IE" dirty="0"/>
              <a:t>The tax assessment for the first year of trading is based on any profits arising from the date of commencement of the business to 31 December of that year</a:t>
            </a:r>
          </a:p>
          <a:p>
            <a:endParaRPr lang="en-IE" dirty="0"/>
          </a:p>
          <a:p>
            <a:r>
              <a:rPr lang="en-IE" dirty="0"/>
              <a:t>This period, referred to as the basis period, is imposed by legislation in the first year of trading, the profit (or loss) will relate to the ‘actual’ or ‘calendar’ months of trading up to 31 Dec. A set of accounts may need to be time apportioned to identify the assessable profit or loss for the first year of assessment.</a:t>
            </a:r>
          </a:p>
          <a:p>
            <a:endParaRPr lang="en-IE" dirty="0"/>
          </a:p>
        </p:txBody>
      </p:sp>
      <p:sp>
        <p:nvSpPr>
          <p:cNvPr id="4" name="Slide Number Placeholder 3">
            <a:extLst>
              <a:ext uri="{FF2B5EF4-FFF2-40B4-BE49-F238E27FC236}">
                <a16:creationId xmlns:a16="http://schemas.microsoft.com/office/drawing/2014/main" id="{A4574E45-0407-D291-F6C7-491DE540E3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65028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C09AA-5613-7CB9-5898-7152C281D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38266-29DD-CD60-FE27-CCBF81B81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D40B5-25F1-4BEA-F566-BB9808EEFDF6}"/>
              </a:ext>
            </a:extLst>
          </p:cNvPr>
          <p:cNvSpPr>
            <a:spLocks noGrp="1"/>
          </p:cNvSpPr>
          <p:nvPr>
            <p:ph type="body" idx="1"/>
          </p:nvPr>
        </p:nvSpPr>
        <p:spPr/>
        <p:txBody>
          <a:bodyPr/>
          <a:lstStyle/>
          <a:p>
            <a:r>
              <a:rPr lang="en-IE" dirty="0"/>
              <a:t>On 1 Oct 2024, Jack commenced trading as a lumberjack his first 12-month set of accounts for the period 1 Oct 2024 to 30 Sept 2025 is a €26,000 profit</a:t>
            </a:r>
          </a:p>
          <a:p>
            <a:endParaRPr lang="en-IE" dirty="0"/>
          </a:p>
          <a:p>
            <a:r>
              <a:rPr lang="en-IE" dirty="0"/>
              <a:t>The €26,000 profit does not relate to the calendar year 2024 or 2025, it spans two tax years but relates to a 12-month period starting in Oct 2024 and ending in Sept 2025</a:t>
            </a:r>
          </a:p>
          <a:p>
            <a:r>
              <a:rPr lang="en-IE" dirty="0"/>
              <a:t>Jack’s second 12-month set of accounts shows a reduced profit of €16,000 from 1 Oct 2025 to 30 Sept 2026</a:t>
            </a:r>
          </a:p>
          <a:p>
            <a:endParaRPr lang="en-IE" dirty="0"/>
          </a:p>
        </p:txBody>
      </p:sp>
      <p:sp>
        <p:nvSpPr>
          <p:cNvPr id="4" name="Slide Number Placeholder 3">
            <a:extLst>
              <a:ext uri="{FF2B5EF4-FFF2-40B4-BE49-F238E27FC236}">
                <a16:creationId xmlns:a16="http://schemas.microsoft.com/office/drawing/2014/main" id="{06F8B583-3374-A610-EDC8-8BDD350783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004641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7F83F-B82F-3ECC-A885-A7A30E30C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2B2A1-9C10-D0AE-0312-0E101C4C6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8B2A0-C231-01DC-9047-73C68D64F8B6}"/>
              </a:ext>
            </a:extLst>
          </p:cNvPr>
          <p:cNvSpPr>
            <a:spLocks noGrp="1"/>
          </p:cNvSpPr>
          <p:nvPr>
            <p:ph type="body" idx="1"/>
          </p:nvPr>
        </p:nvSpPr>
        <p:spPr/>
        <p:txBody>
          <a:bodyPr/>
          <a:lstStyle/>
          <a:p>
            <a:r>
              <a:rPr lang="en-IE" dirty="0"/>
              <a:t>Year 1 - 2024:</a:t>
            </a:r>
          </a:p>
          <a:p>
            <a:r>
              <a:rPr lang="en-IE" dirty="0"/>
              <a:t>Jack’s ‘Basis period’ in his first year starts on the date his business commenced to trade and ends on 31Dec in the same tax year, e.g. 1 Oct 2024 to 31 Dec 2024 hence Jack’s 12-month profit of €26,000 must be apportioned so that he can return 3 month’s profit on his Form 11 for 2024</a:t>
            </a:r>
          </a:p>
          <a:p>
            <a:endParaRPr lang="en-IE" dirty="0"/>
          </a:p>
          <a:p>
            <a:r>
              <a:rPr lang="en-IE" dirty="0"/>
              <a:t>  €16,000 x 3/12 = €4,000 taxable profit 2024 (Oct, Nov &amp; Dec)</a:t>
            </a:r>
          </a:p>
          <a:p>
            <a:r>
              <a:rPr lang="en-IE" dirty="0"/>
              <a:t>Note: The same €26,000 will also be used when Jack is returning his 12-month profit on his 2025 Form 11 but he may be able to claim relief in year 3 referred to as ‘second year excess’</a:t>
            </a:r>
          </a:p>
          <a:p>
            <a:endParaRPr lang="en-IE" dirty="0"/>
          </a:p>
        </p:txBody>
      </p:sp>
      <p:sp>
        <p:nvSpPr>
          <p:cNvPr id="4" name="Slide Number Placeholder 3">
            <a:extLst>
              <a:ext uri="{FF2B5EF4-FFF2-40B4-BE49-F238E27FC236}">
                <a16:creationId xmlns:a16="http://schemas.microsoft.com/office/drawing/2014/main" id="{82C5C356-D9D9-5A7C-EB07-D48D5AF5E2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59710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18051-85E8-470E-A9CB-06F14CFAB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F5909-DC62-DDBF-CA5E-01B4D2196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3E8C8-2D18-8004-D34B-FC3F0349FD71}"/>
              </a:ext>
            </a:extLst>
          </p:cNvPr>
          <p:cNvSpPr>
            <a:spLocks noGrp="1"/>
          </p:cNvSpPr>
          <p:nvPr>
            <p:ph type="body" idx="1"/>
          </p:nvPr>
        </p:nvSpPr>
        <p:spPr/>
        <p:txBody>
          <a:bodyPr/>
          <a:lstStyle/>
          <a:p>
            <a:r>
              <a:rPr lang="en-IE" dirty="0"/>
              <a:t>Year 2 - 2025:</a:t>
            </a:r>
          </a:p>
          <a:p>
            <a:r>
              <a:rPr lang="en-IE" dirty="0"/>
              <a:t>Jack’s first ‘set of accounts’ was prepared for a period of 12-months from the commencement of the trade to 30 Sept 2025</a:t>
            </a:r>
          </a:p>
          <a:p>
            <a:endParaRPr lang="en-IE" dirty="0"/>
          </a:p>
          <a:p>
            <a:r>
              <a:rPr lang="en-IE" dirty="0"/>
              <a:t>Jack’s tax assessment for 2025 (TAX YEAR 2) is based on the full €26,000 profits reported in that first 12-month set of accounts</a:t>
            </a:r>
          </a:p>
          <a:p>
            <a:endParaRPr lang="en-IE" dirty="0"/>
          </a:p>
          <a:p>
            <a:r>
              <a:rPr lang="en-IE" dirty="0"/>
              <a:t>Note: Legislation does not require Jack to submit accounts on a calendar year basis</a:t>
            </a:r>
          </a:p>
          <a:p>
            <a:endParaRPr lang="en-IE" dirty="0"/>
          </a:p>
        </p:txBody>
      </p:sp>
      <p:sp>
        <p:nvSpPr>
          <p:cNvPr id="4" name="Slide Number Placeholder 3">
            <a:extLst>
              <a:ext uri="{FF2B5EF4-FFF2-40B4-BE49-F238E27FC236}">
                <a16:creationId xmlns:a16="http://schemas.microsoft.com/office/drawing/2014/main" id="{0B80E8B0-AE5D-2470-7047-92EAC435ED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401705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042DD-3C31-5DD7-88DB-E82845C6A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B1C33-23C5-617C-6F42-F4D60C054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668AF-76FF-C39C-0B94-75C4E7D13D2D}"/>
              </a:ext>
            </a:extLst>
          </p:cNvPr>
          <p:cNvSpPr>
            <a:spLocks noGrp="1"/>
          </p:cNvSpPr>
          <p:nvPr>
            <p:ph type="body" idx="1"/>
          </p:nvPr>
        </p:nvSpPr>
        <p:spPr/>
        <p:txBody>
          <a:bodyPr/>
          <a:lstStyle/>
          <a:p>
            <a:r>
              <a:rPr lang="en-IE" dirty="0"/>
              <a:t>Year 2: 2025 Computation:</a:t>
            </a:r>
          </a:p>
          <a:p>
            <a:endParaRPr lang="en-IE" dirty="0"/>
          </a:p>
          <a:p>
            <a:r>
              <a:rPr lang="en-IE" dirty="0"/>
              <a:t>Jack’s profit  for the 12-month period ending on 30 Sept 2025 is €26,000 as per the accounts submitted, the assessable profit for 2025 is as follows:</a:t>
            </a:r>
          </a:p>
          <a:p>
            <a:endParaRPr lang="en-IE" dirty="0"/>
          </a:p>
          <a:p>
            <a:r>
              <a:rPr lang="en-IE" dirty="0"/>
              <a:t>€26,000 X 12mths/ 12 mths = €26,000 is the assessable profit for 2025</a:t>
            </a:r>
          </a:p>
          <a:p>
            <a:r>
              <a:rPr lang="en-IE" dirty="0"/>
              <a:t>The full €26,000 is assessed in 2025 despite the fact that the accounts period ends on the 30th Sept 2025</a:t>
            </a:r>
          </a:p>
          <a:p>
            <a:endParaRPr lang="en-IE" dirty="0"/>
          </a:p>
          <a:p>
            <a:r>
              <a:rPr lang="en-IE" dirty="0"/>
              <a:t>	</a:t>
            </a:r>
          </a:p>
          <a:p>
            <a:endParaRPr lang="en-IE" dirty="0"/>
          </a:p>
        </p:txBody>
      </p:sp>
      <p:sp>
        <p:nvSpPr>
          <p:cNvPr id="4" name="Slide Number Placeholder 3">
            <a:extLst>
              <a:ext uri="{FF2B5EF4-FFF2-40B4-BE49-F238E27FC236}">
                <a16:creationId xmlns:a16="http://schemas.microsoft.com/office/drawing/2014/main" id="{26655B22-281E-1461-3A49-ECD5EA0E1D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21837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85C8F-BF91-68C0-3E53-F25E8050D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219D8-AD74-CD8B-4869-78E2F26C3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522BC5-3958-7F02-074D-0598B7ACAC25}"/>
              </a:ext>
            </a:extLst>
          </p:cNvPr>
          <p:cNvSpPr>
            <a:spLocks noGrp="1"/>
          </p:cNvSpPr>
          <p:nvPr>
            <p:ph type="body" idx="1"/>
          </p:nvPr>
        </p:nvSpPr>
        <p:spPr/>
        <p:txBody>
          <a:bodyPr/>
          <a:lstStyle/>
          <a:p>
            <a:r>
              <a:rPr lang="en-IE" dirty="0"/>
              <a:t>Year 3: 2026 is the ‘second year excess’ available?</a:t>
            </a:r>
          </a:p>
          <a:p>
            <a:endParaRPr lang="en-IE" dirty="0"/>
          </a:p>
          <a:p>
            <a:r>
              <a:rPr lang="en-IE" dirty="0"/>
              <a:t>Jack’s profit for the 12-months ending on 30 Sept 2026 has reduced to €16,000 as per the accounts submitted, the assessable profit is as follows:</a:t>
            </a:r>
          </a:p>
          <a:p>
            <a:endParaRPr lang="en-IE" dirty="0"/>
          </a:p>
          <a:p>
            <a:endParaRPr lang="en-IE" dirty="0"/>
          </a:p>
          <a:p>
            <a:r>
              <a:rPr lang="en-IE" dirty="0"/>
              <a:t>If Jack had been assessed on a calendar year basis in 2025 his assessable profit may have been lower, he will now review year 2 on a calendar year basis before he completes his tax return for year 3</a:t>
            </a:r>
          </a:p>
          <a:p>
            <a:endParaRPr lang="en-IE" dirty="0"/>
          </a:p>
        </p:txBody>
      </p:sp>
      <p:sp>
        <p:nvSpPr>
          <p:cNvPr id="4" name="Slide Number Placeholder 3">
            <a:extLst>
              <a:ext uri="{FF2B5EF4-FFF2-40B4-BE49-F238E27FC236}">
                <a16:creationId xmlns:a16="http://schemas.microsoft.com/office/drawing/2014/main" id="{082BECCB-6EE3-153C-FEEE-F36DA415CB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910712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70BE5-A9DA-37EF-7DF8-3134D8917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0DF65-C481-9AE0-A850-D4AB84F26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59516-5531-444B-C391-414401385187}"/>
              </a:ext>
            </a:extLst>
          </p:cNvPr>
          <p:cNvSpPr>
            <a:spLocks noGrp="1"/>
          </p:cNvSpPr>
          <p:nvPr>
            <p:ph type="body" idx="1"/>
          </p:nvPr>
        </p:nvSpPr>
        <p:spPr/>
        <p:txBody>
          <a:bodyPr/>
          <a:lstStyle/>
          <a:p>
            <a:r>
              <a:rPr lang="en-IE" dirty="0"/>
              <a:t>Year 3: 2025 Original Assessment was 					€26,000</a:t>
            </a:r>
          </a:p>
          <a:p>
            <a:r>
              <a:rPr lang="en-IE" dirty="0"/>
              <a:t>‘Calendar Year’ review of 2025</a:t>
            </a:r>
          </a:p>
          <a:p>
            <a:endParaRPr lang="en-IE" dirty="0"/>
          </a:p>
          <a:p>
            <a:r>
              <a:rPr lang="en-IE" dirty="0"/>
              <a:t>€26,000 X 9mths/ 12 mths = 		€19,500 Jan 2025 to Sept 2025</a:t>
            </a:r>
          </a:p>
          <a:p>
            <a:r>
              <a:rPr lang="en-IE" dirty="0"/>
              <a:t>	   </a:t>
            </a:r>
          </a:p>
          <a:p>
            <a:r>
              <a:rPr lang="en-IE" dirty="0"/>
              <a:t>€16,000 X 3mths/ 12 mths  =		</a:t>
            </a:r>
            <a:r>
              <a:rPr lang="en-IE" u="sng" dirty="0"/>
              <a:t>€  4,000 </a:t>
            </a:r>
            <a:r>
              <a:rPr lang="en-IE" dirty="0"/>
              <a:t>Oct, Nov &amp; Dec 2025</a:t>
            </a:r>
          </a:p>
          <a:p>
            <a:r>
              <a:rPr lang="en-IE" dirty="0"/>
              <a:t>	    		€23,500				</a:t>
            </a:r>
            <a:r>
              <a:rPr lang="en-IE" u="sng" dirty="0"/>
              <a:t>€23,500</a:t>
            </a:r>
          </a:p>
          <a:p>
            <a:endParaRPr lang="en-IE" dirty="0"/>
          </a:p>
          <a:p>
            <a:r>
              <a:rPr lang="en-IE" dirty="0"/>
              <a:t>Second Year Excess						€  2,500</a:t>
            </a:r>
          </a:p>
          <a:p>
            <a:endParaRPr lang="en-IE" dirty="0"/>
          </a:p>
          <a:p>
            <a:r>
              <a:rPr lang="en-IE" dirty="0"/>
              <a:t>Jack’s assessable profit of €16,000 for Year 3 can be reduced to €13,500 by offsetting the second year excess of €2,500</a:t>
            </a:r>
          </a:p>
          <a:p>
            <a:endParaRPr lang="en-IE" dirty="0"/>
          </a:p>
        </p:txBody>
      </p:sp>
      <p:sp>
        <p:nvSpPr>
          <p:cNvPr id="4" name="Slide Number Placeholder 3">
            <a:extLst>
              <a:ext uri="{FF2B5EF4-FFF2-40B4-BE49-F238E27FC236}">
                <a16:creationId xmlns:a16="http://schemas.microsoft.com/office/drawing/2014/main" id="{D7BE278E-D419-1147-861F-098C9B3DD0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71067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eaLnBrk="0" hangingPunct="0">
              <a:buClr>
                <a:srgbClr val="003366"/>
              </a:buClr>
              <a:buFont typeface="Wingdings" panose="05000000000000000000" pitchFamily="2" charset="2"/>
              <a:buNone/>
              <a:defRPr/>
            </a:pPr>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2B5060-78A4-4CD5-9E31-CB30DFA9E448}"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94418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eaLnBrk="0" hangingPunct="0">
              <a:buClr>
                <a:srgbClr val="003366"/>
              </a:buClr>
              <a:buFont typeface="Wingdings" panose="05000000000000000000" pitchFamily="2" charset="2"/>
              <a:buNone/>
              <a:defRPr/>
            </a:pPr>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2B5060-78A4-4CD5-9E31-CB30DFA9E448}"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05928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D0F94-ACFF-A0ED-DB6E-2AA02A77C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C870C-24ED-4E4F-D32E-BD2CB03C08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07142-45F1-E2C2-1B8E-CC760B121440}"/>
              </a:ext>
            </a:extLst>
          </p:cNvPr>
          <p:cNvSpPr>
            <a:spLocks noGrp="1"/>
          </p:cNvSpPr>
          <p:nvPr>
            <p:ph type="body" idx="1"/>
          </p:nvPr>
        </p:nvSpPr>
        <p:spPr/>
        <p:txBody>
          <a:bodyPr/>
          <a:lstStyle/>
          <a:p>
            <a:r>
              <a:rPr lang="en-IE" dirty="0"/>
              <a:t>Apart from the years of commencement and cessation of a trade, an individual can only be assessed on the profits arising in a 12-month period ending on the end date of the accounts submitted for the tax year</a:t>
            </a:r>
          </a:p>
          <a:p>
            <a:endParaRPr lang="en-IE" dirty="0"/>
          </a:p>
          <a:p>
            <a:r>
              <a:rPr lang="en-IE" dirty="0"/>
              <a:t>On occasion a set of accounts may show a profit for a period exceeding 12-months</a:t>
            </a:r>
          </a:p>
          <a:p>
            <a:r>
              <a:rPr lang="en-IE" dirty="0"/>
              <a:t>e.g. first day of trading is 1 Nov 2025 and first set of accounts covers the period 1 Nov 2025 to 31 Dec 2026 i.e. 14 months (to facilitate change of accounting date)</a:t>
            </a:r>
          </a:p>
          <a:p>
            <a:endParaRPr lang="en-IE" dirty="0"/>
          </a:p>
        </p:txBody>
      </p:sp>
      <p:sp>
        <p:nvSpPr>
          <p:cNvPr id="4" name="Slide Number Placeholder 3">
            <a:extLst>
              <a:ext uri="{FF2B5EF4-FFF2-40B4-BE49-F238E27FC236}">
                <a16:creationId xmlns:a16="http://schemas.microsoft.com/office/drawing/2014/main" id="{9E189772-DBA7-7398-7C34-FA90F0E3F0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5732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B3289-C652-BBED-4A30-A9FBE2542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DA466-ED85-EBCC-586E-092A31216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42693B-E96D-8E69-5B5B-6CAB748884AB}"/>
              </a:ext>
            </a:extLst>
          </p:cNvPr>
          <p:cNvSpPr>
            <a:spLocks noGrp="1"/>
          </p:cNvSpPr>
          <p:nvPr>
            <p:ph type="body" idx="1"/>
          </p:nvPr>
        </p:nvSpPr>
        <p:spPr/>
        <p:txBody>
          <a:bodyPr/>
          <a:lstStyle/>
          <a:p>
            <a:r>
              <a:rPr lang="en-IE" dirty="0"/>
              <a:t>Serena commenced trading as a tennis instructor on 1 Sept 2024 </a:t>
            </a:r>
          </a:p>
          <a:p>
            <a:endParaRPr lang="en-IE" dirty="0"/>
          </a:p>
          <a:p>
            <a:r>
              <a:rPr lang="en-IE" dirty="0"/>
              <a:t>Her accounts showed the following profits:</a:t>
            </a:r>
          </a:p>
          <a:p>
            <a:endParaRPr lang="en-IE" dirty="0"/>
          </a:p>
          <a:p>
            <a:endParaRPr lang="en-IE" dirty="0"/>
          </a:p>
          <a:p>
            <a:r>
              <a:rPr lang="en-IE" dirty="0"/>
              <a:t>14 months from 1 Sept 2024 to 31 Oct 2025 	Profit	 €128,000</a:t>
            </a:r>
          </a:p>
          <a:p>
            <a:endParaRPr lang="en-IE" dirty="0"/>
          </a:p>
          <a:p>
            <a:r>
              <a:rPr lang="en-IE" dirty="0"/>
              <a:t>12 months from 1 Nov 2025 to 31 Oct 2026 	Profit	  €  86,000</a:t>
            </a:r>
          </a:p>
          <a:p>
            <a:endParaRPr lang="en-IE" dirty="0"/>
          </a:p>
        </p:txBody>
      </p:sp>
      <p:sp>
        <p:nvSpPr>
          <p:cNvPr id="4" name="Slide Number Placeholder 3">
            <a:extLst>
              <a:ext uri="{FF2B5EF4-FFF2-40B4-BE49-F238E27FC236}">
                <a16:creationId xmlns:a16="http://schemas.microsoft.com/office/drawing/2014/main" id="{86FFDDCD-6BC3-B6B7-95F9-B3920701EF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791364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D37CC-CAC9-BF49-802B-74DFF3796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4485E-3B11-EE51-A2E9-314991DAD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F2700-C2D3-4C82-DC24-98212E5D7276}"/>
              </a:ext>
            </a:extLst>
          </p:cNvPr>
          <p:cNvSpPr>
            <a:spLocks noGrp="1"/>
          </p:cNvSpPr>
          <p:nvPr>
            <p:ph type="body" idx="1"/>
          </p:nvPr>
        </p:nvSpPr>
        <p:spPr/>
        <p:txBody>
          <a:bodyPr/>
          <a:lstStyle/>
          <a:p>
            <a:r>
              <a:rPr lang="en-IE" dirty="0"/>
              <a:t>Year 1- 2024 </a:t>
            </a:r>
          </a:p>
          <a:p>
            <a:endParaRPr lang="en-IE" dirty="0"/>
          </a:p>
          <a:p>
            <a:r>
              <a:rPr lang="en-IE" dirty="0"/>
              <a:t>Serena’s first year in business her profit is extracted from €128,000</a:t>
            </a:r>
          </a:p>
          <a:p>
            <a:endParaRPr lang="en-IE" dirty="0"/>
          </a:p>
          <a:p>
            <a:r>
              <a:rPr lang="en-IE" dirty="0"/>
              <a:t>‘Basis Period’ –  1 Sept 2024 to 31 Dec 2024</a:t>
            </a:r>
          </a:p>
          <a:p>
            <a:endParaRPr lang="en-IE" dirty="0"/>
          </a:p>
          <a:p>
            <a:r>
              <a:rPr lang="en-IE" dirty="0"/>
              <a:t>Time apportioned to 4 months in the first year</a:t>
            </a:r>
          </a:p>
          <a:p>
            <a:endParaRPr lang="en-IE" dirty="0"/>
          </a:p>
          <a:p>
            <a:r>
              <a:rPr lang="en-IE" dirty="0"/>
              <a:t>€128,000 x 4/14 (4 fourteenths) = €36,571 assessable profit 2024</a:t>
            </a:r>
          </a:p>
          <a:p>
            <a:endParaRPr lang="en-IE" dirty="0"/>
          </a:p>
        </p:txBody>
      </p:sp>
      <p:sp>
        <p:nvSpPr>
          <p:cNvPr id="4" name="Slide Number Placeholder 3">
            <a:extLst>
              <a:ext uri="{FF2B5EF4-FFF2-40B4-BE49-F238E27FC236}">
                <a16:creationId xmlns:a16="http://schemas.microsoft.com/office/drawing/2014/main" id="{6EC89A81-C2B1-B54C-A07D-C1E295E236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123313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96BEC-9433-B006-9811-FD3DD2C8C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707AB-B830-1267-C917-BE952D027E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8DFA9-A426-5159-7BB7-37E7FF368273}"/>
              </a:ext>
            </a:extLst>
          </p:cNvPr>
          <p:cNvSpPr>
            <a:spLocks noGrp="1"/>
          </p:cNvSpPr>
          <p:nvPr>
            <p:ph type="body" idx="1"/>
          </p:nvPr>
        </p:nvSpPr>
        <p:spPr/>
        <p:txBody>
          <a:bodyPr/>
          <a:lstStyle/>
          <a:p>
            <a:r>
              <a:rPr lang="en-IE" dirty="0"/>
              <a:t>Year 2 - 2025 </a:t>
            </a:r>
          </a:p>
          <a:p>
            <a:endParaRPr lang="en-IE" dirty="0"/>
          </a:p>
          <a:p>
            <a:r>
              <a:rPr lang="en-IE" dirty="0"/>
              <a:t>Serena’s second year in business</a:t>
            </a:r>
          </a:p>
          <a:p>
            <a:endParaRPr lang="en-IE" dirty="0"/>
          </a:p>
          <a:p>
            <a:r>
              <a:rPr lang="en-IE" dirty="0"/>
              <a:t>‘Basis period’-  1 Nov 2024 to 31 Oct 2025  (12 months) Profit €128,000</a:t>
            </a:r>
          </a:p>
          <a:p>
            <a:endParaRPr lang="en-IE" dirty="0"/>
          </a:p>
          <a:p>
            <a:r>
              <a:rPr lang="en-IE" dirty="0"/>
              <a:t>€128,000 x 12/14 (12 fourteenths) = €109,714 assessable profit for 2025 </a:t>
            </a:r>
          </a:p>
          <a:p>
            <a:endParaRPr lang="en-IE" dirty="0"/>
          </a:p>
          <a:p>
            <a:endParaRPr lang="en-IE" dirty="0"/>
          </a:p>
          <a:p>
            <a:r>
              <a:rPr lang="en-IE" dirty="0"/>
              <a:t>Note: The same set of accounts are used to extract the assessable profit for both year 1 and year 2</a:t>
            </a:r>
          </a:p>
          <a:p>
            <a:endParaRPr lang="en-IE" dirty="0"/>
          </a:p>
        </p:txBody>
      </p:sp>
      <p:sp>
        <p:nvSpPr>
          <p:cNvPr id="4" name="Slide Number Placeholder 3">
            <a:extLst>
              <a:ext uri="{FF2B5EF4-FFF2-40B4-BE49-F238E27FC236}">
                <a16:creationId xmlns:a16="http://schemas.microsoft.com/office/drawing/2014/main" id="{652C8EB6-0F65-6554-D6CF-845FB5CC36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830324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8AC80-2DA5-DF5A-6616-314911608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02032-6C3E-735C-25E0-9D83F663E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9A022-8CD3-DE45-15BF-A21D00189030}"/>
              </a:ext>
            </a:extLst>
          </p:cNvPr>
          <p:cNvSpPr>
            <a:spLocks noGrp="1"/>
          </p:cNvSpPr>
          <p:nvPr>
            <p:ph type="body" idx="1"/>
          </p:nvPr>
        </p:nvSpPr>
        <p:spPr/>
        <p:txBody>
          <a:bodyPr/>
          <a:lstStyle/>
          <a:p>
            <a:r>
              <a:rPr lang="en-IE" dirty="0"/>
              <a:t>See question as per slide</a:t>
            </a:r>
          </a:p>
        </p:txBody>
      </p:sp>
      <p:sp>
        <p:nvSpPr>
          <p:cNvPr id="4" name="Slide Number Placeholder 3">
            <a:extLst>
              <a:ext uri="{FF2B5EF4-FFF2-40B4-BE49-F238E27FC236}">
                <a16:creationId xmlns:a16="http://schemas.microsoft.com/office/drawing/2014/main" id="{AF582DC0-AB8E-128C-4CEF-1AF5C00A7B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354662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AE033-E321-2389-68B1-F865F2315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CEC29-9D04-E781-6431-FDC02F9FA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110CB-DD42-F166-AFB3-EB4F14743E06}"/>
              </a:ext>
            </a:extLst>
          </p:cNvPr>
          <p:cNvSpPr>
            <a:spLocks noGrp="1"/>
          </p:cNvSpPr>
          <p:nvPr>
            <p:ph type="body" idx="1"/>
          </p:nvPr>
        </p:nvSpPr>
        <p:spPr/>
        <p:txBody>
          <a:bodyPr/>
          <a:lstStyle/>
          <a:p>
            <a:r>
              <a:rPr lang="en-IE" dirty="0"/>
              <a:t>See solution as per slide</a:t>
            </a:r>
          </a:p>
        </p:txBody>
      </p:sp>
      <p:sp>
        <p:nvSpPr>
          <p:cNvPr id="4" name="Slide Number Placeholder 3">
            <a:extLst>
              <a:ext uri="{FF2B5EF4-FFF2-40B4-BE49-F238E27FC236}">
                <a16:creationId xmlns:a16="http://schemas.microsoft.com/office/drawing/2014/main" id="{85D2EDDC-2C76-75CD-26FE-BC1EED5C2E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539178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27DE8-5D0A-A8A8-64B6-67F515468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72F5F-C9C4-B013-C8C8-CC85B4FEA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1816D-A9E9-CF84-2570-867EA35FFAC1}"/>
              </a:ext>
            </a:extLst>
          </p:cNvPr>
          <p:cNvSpPr>
            <a:spLocks noGrp="1"/>
          </p:cNvSpPr>
          <p:nvPr>
            <p:ph type="body" idx="1"/>
          </p:nvPr>
        </p:nvSpPr>
        <p:spPr/>
        <p:txBody>
          <a:bodyPr/>
          <a:lstStyle/>
          <a:p>
            <a:r>
              <a:rPr lang="en-IE" dirty="0"/>
              <a:t>The final year’s assessment is based on profits arising in the calendar months of that year i.e. from 1 January to the date the business has ceased to trade AND a ‘penultimate year’ review is carried out to compute the profit for that year on a calendar year basis.</a:t>
            </a:r>
          </a:p>
          <a:p>
            <a:endParaRPr lang="en-IE" dirty="0"/>
          </a:p>
          <a:p>
            <a:r>
              <a:rPr lang="en-IE" dirty="0"/>
              <a:t>Note: If the calendar year profit is higher then the penultimate year assessment will be increased to collect additional taxes, if the calendar year profit is lower then the original assessment stands for the penultimate year.</a:t>
            </a:r>
          </a:p>
          <a:p>
            <a:endParaRPr lang="en-IE" dirty="0"/>
          </a:p>
        </p:txBody>
      </p:sp>
      <p:sp>
        <p:nvSpPr>
          <p:cNvPr id="4" name="Slide Number Placeholder 3">
            <a:extLst>
              <a:ext uri="{FF2B5EF4-FFF2-40B4-BE49-F238E27FC236}">
                <a16:creationId xmlns:a16="http://schemas.microsoft.com/office/drawing/2014/main" id="{C8E486DB-B43E-782C-DD00-D4BA721CD2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667498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0A30E-B897-523D-EBA6-2CABE7D1F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0B4A7-5C1D-1099-A767-FBDCB33FE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55A99-A9BF-C708-C841-8992B505A24E}"/>
              </a:ext>
            </a:extLst>
          </p:cNvPr>
          <p:cNvSpPr>
            <a:spLocks noGrp="1"/>
          </p:cNvSpPr>
          <p:nvPr>
            <p:ph type="body" idx="1"/>
          </p:nvPr>
        </p:nvSpPr>
        <p:spPr/>
        <p:txBody>
          <a:bodyPr/>
          <a:lstStyle/>
          <a:p>
            <a:r>
              <a:rPr lang="en-IE" dirty="0"/>
              <a:t>David ceased trading as a wildlife photographer on 31 March 2026, his final 12-month set of accounts showed the following profit:</a:t>
            </a:r>
          </a:p>
          <a:p>
            <a:endParaRPr lang="en-IE" dirty="0"/>
          </a:p>
          <a:p>
            <a:r>
              <a:rPr lang="en-IE" dirty="0"/>
              <a:t>Profit for Year Ending 31 March 2026			€24,000</a:t>
            </a:r>
          </a:p>
          <a:p>
            <a:endParaRPr lang="en-IE" dirty="0"/>
          </a:p>
          <a:p>
            <a:r>
              <a:rPr lang="en-IE" dirty="0"/>
              <a:t>Final Year 2026 profit computed as follows:</a:t>
            </a:r>
          </a:p>
          <a:p>
            <a:endParaRPr lang="en-IE" dirty="0"/>
          </a:p>
          <a:p>
            <a:r>
              <a:rPr lang="en-IE" dirty="0"/>
              <a:t>€24,000 X 3mths/ 12 mths = 				€  6,000</a:t>
            </a:r>
          </a:p>
          <a:p>
            <a:r>
              <a:rPr lang="en-IE" dirty="0"/>
              <a:t>                    </a:t>
            </a:r>
          </a:p>
          <a:p>
            <a:endParaRPr lang="en-IE" dirty="0"/>
          </a:p>
        </p:txBody>
      </p:sp>
      <p:sp>
        <p:nvSpPr>
          <p:cNvPr id="4" name="Slide Number Placeholder 3">
            <a:extLst>
              <a:ext uri="{FF2B5EF4-FFF2-40B4-BE49-F238E27FC236}">
                <a16:creationId xmlns:a16="http://schemas.microsoft.com/office/drawing/2014/main" id="{CFA18E40-5B41-F64B-3E75-EC7DBB28E4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146186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3C4A-B636-F16A-6EC6-9663D5091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9CB24-BFA8-A865-8B66-75E95E990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FBD7F-97AF-CE4B-9F62-C13146FA9F62}"/>
              </a:ext>
            </a:extLst>
          </p:cNvPr>
          <p:cNvSpPr>
            <a:spLocks noGrp="1"/>
          </p:cNvSpPr>
          <p:nvPr>
            <p:ph type="body" idx="1"/>
          </p:nvPr>
        </p:nvSpPr>
        <p:spPr/>
        <p:txBody>
          <a:bodyPr/>
          <a:lstStyle/>
          <a:p>
            <a:r>
              <a:rPr lang="en-IE" dirty="0"/>
              <a:t>See question as per slide</a:t>
            </a:r>
          </a:p>
        </p:txBody>
      </p:sp>
      <p:sp>
        <p:nvSpPr>
          <p:cNvPr id="4" name="Slide Number Placeholder 3">
            <a:extLst>
              <a:ext uri="{FF2B5EF4-FFF2-40B4-BE49-F238E27FC236}">
                <a16:creationId xmlns:a16="http://schemas.microsoft.com/office/drawing/2014/main" id="{63ED21A7-A088-575F-6497-4672613129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85488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CF599-DCAD-86F3-B97B-8DBF6C1B98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4FF34-B00D-2EC6-CEFF-E436D3D2F2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810A1-150B-8E90-0646-16F1397641A1}"/>
              </a:ext>
            </a:extLst>
          </p:cNvPr>
          <p:cNvSpPr>
            <a:spLocks noGrp="1"/>
          </p:cNvSpPr>
          <p:nvPr>
            <p:ph type="body" idx="1"/>
          </p:nvPr>
        </p:nvSpPr>
        <p:spPr/>
        <p:txBody>
          <a:bodyPr/>
          <a:lstStyle/>
          <a:p>
            <a:r>
              <a:rPr lang="en-IE" dirty="0"/>
              <a:t>See solution as per slide</a:t>
            </a:r>
          </a:p>
        </p:txBody>
      </p:sp>
      <p:sp>
        <p:nvSpPr>
          <p:cNvPr id="4" name="Slide Number Placeholder 3">
            <a:extLst>
              <a:ext uri="{FF2B5EF4-FFF2-40B4-BE49-F238E27FC236}">
                <a16:creationId xmlns:a16="http://schemas.microsoft.com/office/drawing/2014/main" id="{5CF1F428-4AA1-8E87-B163-887FB5200B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63E5BB-E7C0-4DBA-A6F9-8058CD9557B2}"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264753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eaLnBrk="0" hangingPunct="0">
              <a:buClr>
                <a:srgbClr val="003366"/>
              </a:buClr>
              <a:buFont typeface="Wingdings" panose="05000000000000000000" pitchFamily="2" charset="2"/>
              <a:buNone/>
              <a:defRPr/>
            </a:pPr>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109</a:t>
            </a:fld>
            <a:endParaRPr lang="en-IE" dirty="0"/>
          </a:p>
        </p:txBody>
      </p:sp>
    </p:spTree>
    <p:extLst>
      <p:ext uri="{BB962C8B-B14F-4D97-AF65-F5344CB8AC3E}">
        <p14:creationId xmlns:p14="http://schemas.microsoft.com/office/powerpoint/2010/main" val="15601845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eaLnBrk="0" hangingPunct="0">
              <a:buClr>
                <a:srgbClr val="003366"/>
              </a:buClr>
              <a:buFont typeface="Wingdings" panose="05000000000000000000" pitchFamily="2" charset="2"/>
              <a:buNone/>
              <a:defRPr/>
            </a:pPr>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110</a:t>
            </a:fld>
            <a:endParaRPr lang="en-IE" dirty="0"/>
          </a:p>
        </p:txBody>
      </p:sp>
    </p:spTree>
    <p:extLst>
      <p:ext uri="{BB962C8B-B14F-4D97-AF65-F5344CB8AC3E}">
        <p14:creationId xmlns:p14="http://schemas.microsoft.com/office/powerpoint/2010/main" val="261627578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eaLnBrk="0" hangingPunct="0">
              <a:buClr>
                <a:srgbClr val="003366"/>
              </a:buClr>
              <a:buFont typeface="Wingdings" panose="05000000000000000000" pitchFamily="2" charset="2"/>
              <a:buNone/>
              <a:defRPr/>
            </a:pPr>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111</a:t>
            </a:fld>
            <a:endParaRPr lang="en-IE" dirty="0"/>
          </a:p>
        </p:txBody>
      </p:sp>
    </p:spTree>
    <p:extLst>
      <p:ext uri="{BB962C8B-B14F-4D97-AF65-F5344CB8AC3E}">
        <p14:creationId xmlns:p14="http://schemas.microsoft.com/office/powerpoint/2010/main" val="354848068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eaLnBrk="0" hangingPunct="0">
              <a:buClr>
                <a:srgbClr val="003366"/>
              </a:buClr>
              <a:buFont typeface="Wingdings" panose="05000000000000000000" pitchFamily="2" charset="2"/>
              <a:buNone/>
              <a:defRPr/>
            </a:pPr>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112</a:t>
            </a:fld>
            <a:endParaRPr lang="en-IE" dirty="0"/>
          </a:p>
        </p:txBody>
      </p:sp>
    </p:spTree>
    <p:extLst>
      <p:ext uri="{BB962C8B-B14F-4D97-AF65-F5344CB8AC3E}">
        <p14:creationId xmlns:p14="http://schemas.microsoft.com/office/powerpoint/2010/main" val="320070471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eaLnBrk="0" hangingPunct="0">
              <a:buClr>
                <a:srgbClr val="003366"/>
              </a:buClr>
              <a:buFont typeface="Wingdings" panose="05000000000000000000" pitchFamily="2" charset="2"/>
              <a:buNone/>
              <a:defRPr/>
            </a:pPr>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113</a:t>
            </a:fld>
            <a:endParaRPr lang="en-IE" dirty="0"/>
          </a:p>
        </p:txBody>
      </p:sp>
    </p:spTree>
    <p:extLst>
      <p:ext uri="{BB962C8B-B14F-4D97-AF65-F5344CB8AC3E}">
        <p14:creationId xmlns:p14="http://schemas.microsoft.com/office/powerpoint/2010/main" val="262228070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4E8B8-78E2-2B3C-2FF6-80959AFEE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86EB2-8F27-F798-573A-E59DD8175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DE154-E39A-4074-E3E8-13F59E05CA30}"/>
              </a:ext>
            </a:extLst>
          </p:cNvPr>
          <p:cNvSpPr>
            <a:spLocks noGrp="1"/>
          </p:cNvSpPr>
          <p:nvPr>
            <p:ph type="body" idx="1"/>
          </p:nvPr>
        </p:nvSpPr>
        <p:spPr/>
        <p:txBody>
          <a:bodyPr/>
          <a:lstStyle/>
          <a:p>
            <a:pPr lvl="0" eaLnBrk="0" hangingPunct="0">
              <a:buClr>
                <a:srgbClr val="003366"/>
              </a:buClr>
              <a:buFont typeface="Wingdings" panose="05000000000000000000" pitchFamily="2" charset="2"/>
              <a:buNone/>
              <a:defRPr/>
            </a:pPr>
            <a:endParaRPr lang="en-IE" dirty="0"/>
          </a:p>
        </p:txBody>
      </p:sp>
      <p:sp>
        <p:nvSpPr>
          <p:cNvPr id="4" name="Slide Number Placeholder 3">
            <a:extLst>
              <a:ext uri="{FF2B5EF4-FFF2-40B4-BE49-F238E27FC236}">
                <a16:creationId xmlns:a16="http://schemas.microsoft.com/office/drawing/2014/main" id="{BBE1444C-49DA-0F8B-81A7-7BEA6F48D5E1}"/>
              </a:ext>
            </a:extLst>
          </p:cNvPr>
          <p:cNvSpPr>
            <a:spLocks noGrp="1"/>
          </p:cNvSpPr>
          <p:nvPr>
            <p:ph type="sldNum" sz="quarter" idx="5"/>
          </p:nvPr>
        </p:nvSpPr>
        <p:spPr/>
        <p:txBody>
          <a:bodyPr/>
          <a:lstStyle/>
          <a:p>
            <a:fld id="{512B5060-78A4-4CD5-9E31-CB30DFA9E448}" type="slidenum">
              <a:rPr lang="en-IE" smtClean="0"/>
              <a:t>114</a:t>
            </a:fld>
            <a:endParaRPr lang="en-IE" dirty="0"/>
          </a:p>
        </p:txBody>
      </p:sp>
    </p:spTree>
    <p:extLst>
      <p:ext uri="{BB962C8B-B14F-4D97-AF65-F5344CB8AC3E}">
        <p14:creationId xmlns:p14="http://schemas.microsoft.com/office/powerpoint/2010/main" val="154831795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a:p>
            <a:endParaRPr lang="en-IE" dirty="0"/>
          </a:p>
        </p:txBody>
      </p:sp>
      <p:sp>
        <p:nvSpPr>
          <p:cNvPr id="4" name="Slide Number Placeholder 3"/>
          <p:cNvSpPr>
            <a:spLocks noGrp="1"/>
          </p:cNvSpPr>
          <p:nvPr>
            <p:ph type="sldNum" sz="quarter" idx="5"/>
          </p:nvPr>
        </p:nvSpPr>
        <p:spPr/>
        <p:txBody>
          <a:bodyPr/>
          <a:lstStyle/>
          <a:p>
            <a:fld id="{512B5060-78A4-4CD5-9E31-CB30DFA9E448}" type="slidenum">
              <a:rPr lang="en-IE" smtClean="0"/>
              <a:t>115</a:t>
            </a:fld>
            <a:endParaRPr lang="en-IE" dirty="0"/>
          </a:p>
        </p:txBody>
      </p:sp>
    </p:spTree>
    <p:extLst>
      <p:ext uri="{BB962C8B-B14F-4D97-AF65-F5344CB8AC3E}">
        <p14:creationId xmlns:p14="http://schemas.microsoft.com/office/powerpoint/2010/main" val="1617918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085A-425E-1C6D-3234-800A2414D6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EB4506B5-11B7-41F2-6AFD-2A28A37D0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BA4291E0-CE2C-97CA-642D-32D2ED7D24F0}"/>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5" name="Footer Placeholder 4">
            <a:extLst>
              <a:ext uri="{FF2B5EF4-FFF2-40B4-BE49-F238E27FC236}">
                <a16:creationId xmlns:a16="http://schemas.microsoft.com/office/drawing/2014/main" id="{37884F8F-6BDB-A50F-7EA8-996D477106B5}"/>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788D4873-3F7A-AF8B-450D-0194A1302368}"/>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4071052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85E77-E050-B90F-4BE0-ABB807A682A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C27EE225-F7E1-3F5B-5ED0-3F1C7CAAC3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7E021FA-F266-0A45-F3E4-DCE09749891B}"/>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5" name="Footer Placeholder 4">
            <a:extLst>
              <a:ext uri="{FF2B5EF4-FFF2-40B4-BE49-F238E27FC236}">
                <a16:creationId xmlns:a16="http://schemas.microsoft.com/office/drawing/2014/main" id="{7C47A799-F2D8-A27C-BB70-6C36AB3E0407}"/>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0CC5ABCB-2EED-31B1-B4A9-AE90D6B2C535}"/>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153917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70A1-7384-B316-CB7C-9092C34B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DC3395B5-EAED-388D-2DD4-2806984654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F6EA9F-A214-B0B4-5BF5-09615F4FC5BE}"/>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5" name="Footer Placeholder 4">
            <a:extLst>
              <a:ext uri="{FF2B5EF4-FFF2-40B4-BE49-F238E27FC236}">
                <a16:creationId xmlns:a16="http://schemas.microsoft.com/office/drawing/2014/main" id="{F0E3CB20-0507-9EC0-1DB3-650822A4B6AB}"/>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4C6FF22D-B3E0-BA0F-195A-39E534B7C4F5}"/>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70454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3212-4717-D4DB-5439-AB83F466A8BD}"/>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33E356DF-0B84-D613-EDBF-3C2299EAE1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ED897DFC-9B75-C21B-CCD5-267F2FC018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F013CD4F-40D5-F0FC-CC11-2BA0DA2D9346}"/>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6" name="Footer Placeholder 5">
            <a:extLst>
              <a:ext uri="{FF2B5EF4-FFF2-40B4-BE49-F238E27FC236}">
                <a16:creationId xmlns:a16="http://schemas.microsoft.com/office/drawing/2014/main" id="{9E78B021-44DC-E28F-3B75-C89FA5984FD1}"/>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91030187-591D-0057-EFC1-44D0D437A43E}"/>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4015222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9FE7F-F69E-2EEB-CFAF-E111E516936F}"/>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DF9044A6-9680-5333-BB1B-8384274837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563CAC-41F9-071A-EE45-422F7A76EC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3B77F2F2-2A81-19D7-5A24-06EAF635C8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F56027-9743-B056-0195-760F856E82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646D4366-4E5B-8389-FF53-5C453B775AAA}"/>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8" name="Footer Placeholder 7">
            <a:extLst>
              <a:ext uri="{FF2B5EF4-FFF2-40B4-BE49-F238E27FC236}">
                <a16:creationId xmlns:a16="http://schemas.microsoft.com/office/drawing/2014/main" id="{6D939D71-0CEE-25B9-DAC6-27D8445ECE9E}"/>
              </a:ext>
            </a:extLst>
          </p:cNvPr>
          <p:cNvSpPr>
            <a:spLocks noGrp="1"/>
          </p:cNvSpPr>
          <p:nvPr>
            <p:ph type="ftr" sz="quarter" idx="11"/>
          </p:nvPr>
        </p:nvSpPr>
        <p:spPr/>
        <p:txBody>
          <a:bodyPr/>
          <a:lstStyle/>
          <a:p>
            <a:endParaRPr lang="en-IE" dirty="0"/>
          </a:p>
        </p:txBody>
      </p:sp>
      <p:sp>
        <p:nvSpPr>
          <p:cNvPr id="9" name="Slide Number Placeholder 8">
            <a:extLst>
              <a:ext uri="{FF2B5EF4-FFF2-40B4-BE49-F238E27FC236}">
                <a16:creationId xmlns:a16="http://schemas.microsoft.com/office/drawing/2014/main" id="{FAB03361-F87D-E246-2601-45022B47CAF4}"/>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4194292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4999E-AE2B-FE62-4B4A-B3F673E3F6A5}"/>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680526F0-CAD3-2E0B-B388-F24CDFC32D00}"/>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4" name="Footer Placeholder 3">
            <a:extLst>
              <a:ext uri="{FF2B5EF4-FFF2-40B4-BE49-F238E27FC236}">
                <a16:creationId xmlns:a16="http://schemas.microsoft.com/office/drawing/2014/main" id="{1D13AA11-2BFC-94B5-EC50-4A84C9A85BE6}"/>
              </a:ext>
            </a:extLst>
          </p:cNvPr>
          <p:cNvSpPr>
            <a:spLocks noGrp="1"/>
          </p:cNvSpPr>
          <p:nvPr>
            <p:ph type="ftr" sz="quarter" idx="11"/>
          </p:nvPr>
        </p:nvSpPr>
        <p:spPr/>
        <p:txBody>
          <a:bodyPr/>
          <a:lstStyle/>
          <a:p>
            <a:endParaRPr lang="en-IE" dirty="0"/>
          </a:p>
        </p:txBody>
      </p:sp>
      <p:sp>
        <p:nvSpPr>
          <p:cNvPr id="5" name="Slide Number Placeholder 4">
            <a:extLst>
              <a:ext uri="{FF2B5EF4-FFF2-40B4-BE49-F238E27FC236}">
                <a16:creationId xmlns:a16="http://schemas.microsoft.com/office/drawing/2014/main" id="{7E60D53B-F9A4-F2F2-0A4C-4D9845BF8D2A}"/>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801068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D7487D-7A03-B9CD-D2D9-36E3F237B8C3}"/>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3" name="Footer Placeholder 2">
            <a:extLst>
              <a:ext uri="{FF2B5EF4-FFF2-40B4-BE49-F238E27FC236}">
                <a16:creationId xmlns:a16="http://schemas.microsoft.com/office/drawing/2014/main" id="{C95374EA-5D48-B80B-FE42-4ABDAA1A1EBB}"/>
              </a:ext>
            </a:extLst>
          </p:cNvPr>
          <p:cNvSpPr>
            <a:spLocks noGrp="1"/>
          </p:cNvSpPr>
          <p:nvPr>
            <p:ph type="ftr" sz="quarter" idx="11"/>
          </p:nvPr>
        </p:nvSpPr>
        <p:spPr/>
        <p:txBody>
          <a:bodyPr/>
          <a:lstStyle/>
          <a:p>
            <a:endParaRPr lang="en-IE" dirty="0"/>
          </a:p>
        </p:txBody>
      </p:sp>
      <p:sp>
        <p:nvSpPr>
          <p:cNvPr id="4" name="Slide Number Placeholder 3">
            <a:extLst>
              <a:ext uri="{FF2B5EF4-FFF2-40B4-BE49-F238E27FC236}">
                <a16:creationId xmlns:a16="http://schemas.microsoft.com/office/drawing/2014/main" id="{99242F2C-E1EC-C919-DD6A-9C57C1DD8151}"/>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1383638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2F9F-27FD-9B0C-5206-B9384C4151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62695B01-3ABE-FC61-A92B-F59AF7E108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728B9605-289E-CC71-94C2-D99A5DAC3E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722D65-A948-6C09-CE08-AE040B2A1C43}"/>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6" name="Footer Placeholder 5">
            <a:extLst>
              <a:ext uri="{FF2B5EF4-FFF2-40B4-BE49-F238E27FC236}">
                <a16:creationId xmlns:a16="http://schemas.microsoft.com/office/drawing/2014/main" id="{6B1FBA41-53CA-7AF6-ED44-505A694EB39F}"/>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16BC1704-57E6-7BE9-A560-008D2138CB33}"/>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3138986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606AD-1F35-6C8C-A6E5-4172B7AE52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8E49C352-CC84-F188-38B1-8370237628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dirty="0"/>
          </a:p>
        </p:txBody>
      </p:sp>
      <p:sp>
        <p:nvSpPr>
          <p:cNvPr id="4" name="Text Placeholder 3">
            <a:extLst>
              <a:ext uri="{FF2B5EF4-FFF2-40B4-BE49-F238E27FC236}">
                <a16:creationId xmlns:a16="http://schemas.microsoft.com/office/drawing/2014/main" id="{9B3EC9E4-7264-9B04-2BD4-EC87C833A2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DE8431-736F-ABE0-9A32-FBCEC828042E}"/>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6" name="Footer Placeholder 5">
            <a:extLst>
              <a:ext uri="{FF2B5EF4-FFF2-40B4-BE49-F238E27FC236}">
                <a16:creationId xmlns:a16="http://schemas.microsoft.com/office/drawing/2014/main" id="{8E611161-3B53-DC03-BF9F-73B46A7F480B}"/>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5C72B857-D0DB-45B3-7EFB-18879CE09690}"/>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501109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B7C9-FFAF-D2F2-B503-51321B0991C9}"/>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22B4A72E-775E-0E01-A61F-AD1486BF6C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F256CBF-0670-1B0B-62A9-0481C92E334B}"/>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5" name="Footer Placeholder 4">
            <a:extLst>
              <a:ext uri="{FF2B5EF4-FFF2-40B4-BE49-F238E27FC236}">
                <a16:creationId xmlns:a16="http://schemas.microsoft.com/office/drawing/2014/main" id="{D57F9856-0238-969D-5F78-00993BB7B883}"/>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ADAB7E12-09AF-6A30-4259-45341F1AF64E}"/>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1515063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062BC5-0EA1-B74B-30D3-F1B961401D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763CEBCD-FE01-BA68-97B7-A03F70D7D4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E5BDFC8-C456-0BAE-B644-4A721F8A83B1}"/>
              </a:ext>
            </a:extLst>
          </p:cNvPr>
          <p:cNvSpPr>
            <a:spLocks noGrp="1"/>
          </p:cNvSpPr>
          <p:nvPr>
            <p:ph type="dt" sz="half" idx="10"/>
          </p:nvPr>
        </p:nvSpPr>
        <p:spPr/>
        <p:txBody>
          <a:bodyPr/>
          <a:lstStyle/>
          <a:p>
            <a:fld id="{9A1AB2AD-BE1E-4A51-99BB-BC69CE953B2B}" type="datetimeFigureOut">
              <a:rPr lang="en-IE" smtClean="0"/>
              <a:t>28/09/2026</a:t>
            </a:fld>
            <a:endParaRPr lang="en-IE" dirty="0"/>
          </a:p>
        </p:txBody>
      </p:sp>
      <p:sp>
        <p:nvSpPr>
          <p:cNvPr id="5" name="Footer Placeholder 4">
            <a:extLst>
              <a:ext uri="{FF2B5EF4-FFF2-40B4-BE49-F238E27FC236}">
                <a16:creationId xmlns:a16="http://schemas.microsoft.com/office/drawing/2014/main" id="{9627C41C-E810-67CD-9649-A95FFF672DE0}"/>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5812D636-AFEC-7DBB-400F-3A6361A40B50}"/>
              </a:ext>
            </a:extLst>
          </p:cNvPr>
          <p:cNvSpPr>
            <a:spLocks noGrp="1"/>
          </p:cNvSpPr>
          <p:nvPr>
            <p:ph type="sldNum" sz="quarter" idx="12"/>
          </p:nvPr>
        </p:nvSpPr>
        <p:spPr/>
        <p:txBody>
          <a:bodyPr/>
          <a:lstStyle/>
          <a:p>
            <a:fld id="{4740FB16-FCC4-4BFA-A028-17BC8E45105E}" type="slidenum">
              <a:rPr lang="en-IE" smtClean="0"/>
              <a:t>‹#›</a:t>
            </a:fld>
            <a:endParaRPr lang="en-IE" dirty="0"/>
          </a:p>
        </p:txBody>
      </p:sp>
    </p:spTree>
    <p:extLst>
      <p:ext uri="{BB962C8B-B14F-4D97-AF65-F5344CB8AC3E}">
        <p14:creationId xmlns:p14="http://schemas.microsoft.com/office/powerpoint/2010/main" val="3882688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4" name="Shape">
            <a:extLst>
              <a:ext uri="{FF2B5EF4-FFF2-40B4-BE49-F238E27FC236}">
                <a16:creationId xmlns:a16="http://schemas.microsoft.com/office/drawing/2014/main" id="{58A13864-9815-4A28-95B8-D5AD499529BD}"/>
              </a:ext>
            </a:extLst>
          </p:cNvPr>
          <p:cNvSpPr/>
          <p:nvPr userDrawn="1"/>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5" name="Triangle">
            <a:extLst>
              <a:ext uri="{FF2B5EF4-FFF2-40B4-BE49-F238E27FC236}">
                <a16:creationId xmlns:a16="http://schemas.microsoft.com/office/drawing/2014/main" id="{32DD0E30-7E9E-4CEC-9D88-A28D57357A7F}"/>
              </a:ext>
            </a:extLst>
          </p:cNvPr>
          <p:cNvSpPr/>
          <p:nvPr userDrawn="1"/>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pic>
        <p:nvPicPr>
          <p:cNvPr id="16" name="Picture 15" descr="Logo, company name&#10;&#10;Description automatically generated">
            <a:extLst>
              <a:ext uri="{FF2B5EF4-FFF2-40B4-BE49-F238E27FC236}">
                <a16:creationId xmlns:a16="http://schemas.microsoft.com/office/drawing/2014/main" id="{3001AC6A-1C31-447E-B410-181F72E522A0}"/>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0073640" y="163191"/>
            <a:ext cx="1931955" cy="1000591"/>
          </a:xfrm>
          <a:prstGeom prst="rect">
            <a:avLst/>
          </a:prstGeom>
        </p:spPr>
      </p:pic>
    </p:spTree>
    <p:extLst>
      <p:ext uri="{BB962C8B-B14F-4D97-AF65-F5344CB8AC3E}">
        <p14:creationId xmlns:p14="http://schemas.microsoft.com/office/powerpoint/2010/main" val="1485265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7DF1ED6-983B-468E-8CFA-22759828E9B0}"/>
              </a:ext>
            </a:extLst>
          </p:cNvPr>
          <p:cNvSpPr>
            <a:spLocks noGrp="1"/>
          </p:cNvSpPr>
          <p:nvPr>
            <p:ph type="ctrTitle" idx="4294967295"/>
          </p:nvPr>
        </p:nvSpPr>
        <p:spPr>
          <a:xfrm>
            <a:off x="1524000" y="1122363"/>
            <a:ext cx="9144000" cy="2387600"/>
          </a:xfrm>
        </p:spPr>
        <p:txBody>
          <a:bodyPr/>
          <a:lstStyle/>
          <a:p>
            <a:endParaRPr lang="en-IE" b="1" dirty="0"/>
          </a:p>
        </p:txBody>
      </p:sp>
      <p:sp>
        <p:nvSpPr>
          <p:cNvPr id="10" name="Subtitle 2">
            <a:extLst>
              <a:ext uri="{FF2B5EF4-FFF2-40B4-BE49-F238E27FC236}">
                <a16:creationId xmlns:a16="http://schemas.microsoft.com/office/drawing/2014/main" id="{34807E84-D1B3-4183-AA35-BB85716C0D04}"/>
              </a:ext>
            </a:extLst>
          </p:cNvPr>
          <p:cNvSpPr>
            <a:spLocks noGrp="1"/>
          </p:cNvSpPr>
          <p:nvPr>
            <p:ph type="subTitle" idx="4294967295"/>
          </p:nvPr>
        </p:nvSpPr>
        <p:spPr>
          <a:xfrm>
            <a:off x="1524000" y="3602038"/>
            <a:ext cx="9144000" cy="1655762"/>
          </a:xfrm>
        </p:spPr>
        <p:txBody>
          <a:bodyPr/>
          <a:lstStyle/>
          <a:p>
            <a:endParaRPr lang="en-IE" dirty="0"/>
          </a:p>
        </p:txBody>
      </p:sp>
      <p:sp>
        <p:nvSpPr>
          <p:cNvPr id="11" name="Shape">
            <a:extLst>
              <a:ext uri="{FF2B5EF4-FFF2-40B4-BE49-F238E27FC236}">
                <a16:creationId xmlns:a16="http://schemas.microsoft.com/office/drawing/2014/main" id="{744F823C-F528-4B87-A761-9A0FD58B9DEF}"/>
              </a:ext>
            </a:extLst>
          </p:cNvPr>
          <p:cNvSpPr/>
          <p:nvPr userDrawn="1"/>
        </p:nvSpPr>
        <p:spPr>
          <a:xfrm>
            <a:off x="213252" y="642"/>
            <a:ext cx="3652520" cy="1811655"/>
          </a:xfrm>
          <a:custGeom>
            <a:avLst/>
            <a:gdLst/>
            <a:ahLst/>
            <a:cxnLst>
              <a:cxn ang="0">
                <a:pos x="wd2" y="hd2"/>
              </a:cxn>
              <a:cxn ang="5400000">
                <a:pos x="wd2" y="hd2"/>
              </a:cxn>
              <a:cxn ang="10800000">
                <a:pos x="wd2" y="hd2"/>
              </a:cxn>
              <a:cxn ang="16200000">
                <a:pos x="wd2" y="hd2"/>
              </a:cxn>
            </a:cxnLst>
            <a:rect l="0" t="0" r="r" b="b"/>
            <a:pathLst>
              <a:path w="21600" h="21600" extrusionOk="0">
                <a:moveTo>
                  <a:pt x="10725" y="0"/>
                </a:moveTo>
                <a:lnTo>
                  <a:pt x="0" y="21600"/>
                </a:lnTo>
                <a:lnTo>
                  <a:pt x="10883" y="21600"/>
                </a:lnTo>
                <a:lnTo>
                  <a:pt x="21600" y="0"/>
                </a:lnTo>
                <a:close/>
              </a:path>
            </a:pathLst>
          </a:custGeom>
          <a:solidFill>
            <a:schemeClr val="bg2">
              <a:lumMod val="75000"/>
              <a:alpha val="90000"/>
            </a:schemeClr>
          </a:solidFill>
          <a:ln w="12700">
            <a:miter lim="400000"/>
          </a:ln>
        </p:spPr>
        <p:txBody>
          <a:bodyPr lIns="38100" tIns="38100" rIns="38100" bIns="38100" anchor="ctr"/>
          <a:lstStyle/>
          <a:p>
            <a:endParaRPr lang="en-IE" dirty="0"/>
          </a:p>
        </p:txBody>
      </p:sp>
      <p:sp>
        <p:nvSpPr>
          <p:cNvPr id="12" name="Triangle">
            <a:extLst>
              <a:ext uri="{FF2B5EF4-FFF2-40B4-BE49-F238E27FC236}">
                <a16:creationId xmlns:a16="http://schemas.microsoft.com/office/drawing/2014/main" id="{B3A84037-8D78-4E05-A59D-333CBC730ADB}"/>
              </a:ext>
            </a:extLst>
          </p:cNvPr>
          <p:cNvSpPr/>
          <p:nvPr userDrawn="1"/>
        </p:nvSpPr>
        <p:spPr>
          <a:xfrm>
            <a:off x="-57866" y="0"/>
            <a:ext cx="3106420" cy="31057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0" y="0"/>
                </a:lnTo>
                <a:close/>
              </a:path>
            </a:pathLst>
          </a:custGeom>
          <a:solidFill>
            <a:srgbClr val="006666"/>
          </a:solidFill>
          <a:ln w="12700">
            <a:miter lim="400000"/>
          </a:ln>
        </p:spPr>
        <p:txBody>
          <a:bodyPr lIns="38100" tIns="38100" rIns="38100" bIns="38100" anchor="ctr"/>
          <a:lstStyle/>
          <a:p>
            <a:endParaRPr lang="en-IE" dirty="0"/>
          </a:p>
        </p:txBody>
      </p:sp>
      <p:sp>
        <p:nvSpPr>
          <p:cNvPr id="13" name="Shape">
            <a:extLst>
              <a:ext uri="{FF2B5EF4-FFF2-40B4-BE49-F238E27FC236}">
                <a16:creationId xmlns:a16="http://schemas.microsoft.com/office/drawing/2014/main" id="{24B5B28F-01CF-4C7A-B6BB-D5C06FAC1BB2}"/>
              </a:ext>
            </a:extLst>
          </p:cNvPr>
          <p:cNvSpPr/>
          <p:nvPr userDrawn="1"/>
        </p:nvSpPr>
        <p:spPr>
          <a:xfrm>
            <a:off x="-15348" y="838207"/>
            <a:ext cx="1549400" cy="154876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9260" y="0"/>
                </a:lnTo>
                <a:lnTo>
                  <a:pt x="0" y="9260"/>
                </a:lnTo>
                <a:close/>
              </a:path>
            </a:pathLst>
          </a:custGeom>
          <a:solidFill>
            <a:schemeClr val="tx2">
              <a:lumMod val="60000"/>
              <a:lumOff val="40000"/>
              <a:alpha val="90000"/>
            </a:schemeClr>
          </a:solidFill>
          <a:ln w="12700">
            <a:miter lim="400000"/>
          </a:ln>
        </p:spPr>
        <p:txBody>
          <a:bodyPr lIns="38100" tIns="38100" rIns="38100" bIns="38100" anchor="ctr"/>
          <a:lstStyle/>
          <a:p>
            <a:endParaRPr lang="en-IE" dirty="0"/>
          </a:p>
        </p:txBody>
      </p:sp>
      <p:sp>
        <p:nvSpPr>
          <p:cNvPr id="14" name="Shape">
            <a:extLst>
              <a:ext uri="{FF2B5EF4-FFF2-40B4-BE49-F238E27FC236}">
                <a16:creationId xmlns:a16="http://schemas.microsoft.com/office/drawing/2014/main" id="{90FCA2FD-EB5C-4E8A-9AF9-A83623E8FD7A}"/>
              </a:ext>
            </a:extLst>
          </p:cNvPr>
          <p:cNvSpPr/>
          <p:nvPr userDrawn="1"/>
        </p:nvSpPr>
        <p:spPr>
          <a:xfrm>
            <a:off x="15348" y="6076204"/>
            <a:ext cx="3450590" cy="78422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6687" y="21600"/>
                </a:lnTo>
                <a:lnTo>
                  <a:pt x="21600" y="0"/>
                </a:lnTo>
                <a:lnTo>
                  <a:pt x="4913" y="0"/>
                </a:lnTo>
                <a:close/>
              </a:path>
            </a:pathLst>
          </a:custGeom>
          <a:solidFill>
            <a:srgbClr val="006666"/>
          </a:solidFill>
          <a:ln w="12700">
            <a:miter lim="400000"/>
          </a:ln>
        </p:spPr>
        <p:txBody>
          <a:bodyPr lIns="38100" tIns="38100" rIns="38100" bIns="38100" anchor="ctr"/>
          <a:lstStyle/>
          <a:p>
            <a:endParaRPr lang="en-IE" dirty="0"/>
          </a:p>
        </p:txBody>
      </p:sp>
      <p:sp>
        <p:nvSpPr>
          <p:cNvPr id="15" name="Shape">
            <a:extLst>
              <a:ext uri="{FF2B5EF4-FFF2-40B4-BE49-F238E27FC236}">
                <a16:creationId xmlns:a16="http://schemas.microsoft.com/office/drawing/2014/main" id="{E3209943-5122-4AC8-A95D-18937B31A82F}"/>
              </a:ext>
            </a:extLst>
          </p:cNvPr>
          <p:cNvSpPr/>
          <p:nvPr userDrawn="1"/>
        </p:nvSpPr>
        <p:spPr>
          <a:xfrm>
            <a:off x="1717148" y="6508004"/>
            <a:ext cx="1871980" cy="3486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7570" y="21600"/>
                </a:lnTo>
                <a:lnTo>
                  <a:pt x="21600" y="0"/>
                </a:lnTo>
                <a:lnTo>
                  <a:pt x="4030" y="0"/>
                </a:lnTo>
                <a:close/>
              </a:path>
            </a:pathLst>
          </a:custGeom>
          <a:solidFill>
            <a:schemeClr val="tx2">
              <a:lumMod val="60000"/>
              <a:lumOff val="40000"/>
              <a:alpha val="90000"/>
            </a:schemeClr>
          </a:solidFill>
          <a:ln w="12700">
            <a:miter lim="400000"/>
          </a:ln>
        </p:spPr>
        <p:txBody>
          <a:bodyPr lIns="38100" tIns="38100" rIns="38100" bIns="38100" anchor="ctr"/>
          <a:lstStyle/>
          <a:p>
            <a:endParaRPr lang="en-IE" dirty="0"/>
          </a:p>
        </p:txBody>
      </p:sp>
      <p:sp>
        <p:nvSpPr>
          <p:cNvPr id="16" name="Shape">
            <a:extLst>
              <a:ext uri="{FF2B5EF4-FFF2-40B4-BE49-F238E27FC236}">
                <a16:creationId xmlns:a16="http://schemas.microsoft.com/office/drawing/2014/main" id="{C54102CF-AEC1-499F-BE14-D8FE37CC0BE5}"/>
              </a:ext>
            </a:extLst>
          </p:cNvPr>
          <p:cNvSpPr/>
          <p:nvPr userDrawn="1"/>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7" name="Triangle">
            <a:extLst>
              <a:ext uri="{FF2B5EF4-FFF2-40B4-BE49-F238E27FC236}">
                <a16:creationId xmlns:a16="http://schemas.microsoft.com/office/drawing/2014/main" id="{EA63F7D0-4C6F-465B-AB7C-A4C8AC97D4C3}"/>
              </a:ext>
            </a:extLst>
          </p:cNvPr>
          <p:cNvSpPr/>
          <p:nvPr userDrawn="1"/>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pic>
        <p:nvPicPr>
          <p:cNvPr id="18" name="Picture 17" descr="Logo, company name&#10;&#10;Description automatically generated">
            <a:extLst>
              <a:ext uri="{FF2B5EF4-FFF2-40B4-BE49-F238E27FC236}">
                <a16:creationId xmlns:a16="http://schemas.microsoft.com/office/drawing/2014/main" id="{ADAFC985-B296-46C3-A8DC-DAFF8DBAF0B9}"/>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9376464" y="55125"/>
            <a:ext cx="2763520" cy="1447800"/>
          </a:xfrm>
          <a:prstGeom prst="rect">
            <a:avLst/>
          </a:prstGeom>
        </p:spPr>
      </p:pic>
    </p:spTree>
    <p:extLst>
      <p:ext uri="{BB962C8B-B14F-4D97-AF65-F5344CB8AC3E}">
        <p14:creationId xmlns:p14="http://schemas.microsoft.com/office/powerpoint/2010/main" val="1341917687"/>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4" name="Shape">
            <a:extLst>
              <a:ext uri="{FF2B5EF4-FFF2-40B4-BE49-F238E27FC236}">
                <a16:creationId xmlns:a16="http://schemas.microsoft.com/office/drawing/2014/main" id="{58A13864-9815-4A28-95B8-D5AD499529BD}"/>
              </a:ext>
            </a:extLst>
          </p:cNvPr>
          <p:cNvSpPr/>
          <p:nvPr userDrawn="1"/>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5" name="Triangle">
            <a:extLst>
              <a:ext uri="{FF2B5EF4-FFF2-40B4-BE49-F238E27FC236}">
                <a16:creationId xmlns:a16="http://schemas.microsoft.com/office/drawing/2014/main" id="{32DD0E30-7E9E-4CEC-9D88-A28D57357A7F}"/>
              </a:ext>
            </a:extLst>
          </p:cNvPr>
          <p:cNvSpPr/>
          <p:nvPr userDrawn="1"/>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pic>
        <p:nvPicPr>
          <p:cNvPr id="16" name="Picture 15" descr="Logo, company name&#10;&#10;Description automatically generated">
            <a:extLst>
              <a:ext uri="{FF2B5EF4-FFF2-40B4-BE49-F238E27FC236}">
                <a16:creationId xmlns:a16="http://schemas.microsoft.com/office/drawing/2014/main" id="{3001AC6A-1C31-447E-B410-181F72E522A0}"/>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0073640" y="163191"/>
            <a:ext cx="1931955" cy="1000591"/>
          </a:xfrm>
          <a:prstGeom prst="rect">
            <a:avLst/>
          </a:prstGeom>
        </p:spPr>
      </p:pic>
    </p:spTree>
    <p:extLst>
      <p:ext uri="{BB962C8B-B14F-4D97-AF65-F5344CB8AC3E}">
        <p14:creationId xmlns:p14="http://schemas.microsoft.com/office/powerpoint/2010/main" val="2240966535"/>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Shape">
            <a:extLst>
              <a:ext uri="{FF2B5EF4-FFF2-40B4-BE49-F238E27FC236}">
                <a16:creationId xmlns:a16="http://schemas.microsoft.com/office/drawing/2014/main" id="{58A13864-9815-4A28-95B8-D5AD499529BD}"/>
              </a:ext>
            </a:extLst>
          </p:cNvPr>
          <p:cNvSpPr/>
          <p:nvPr userDrawn="1"/>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5" name="Triangle">
            <a:extLst>
              <a:ext uri="{FF2B5EF4-FFF2-40B4-BE49-F238E27FC236}">
                <a16:creationId xmlns:a16="http://schemas.microsoft.com/office/drawing/2014/main" id="{32DD0E30-7E9E-4CEC-9D88-A28D57357A7F}"/>
              </a:ext>
            </a:extLst>
          </p:cNvPr>
          <p:cNvSpPr/>
          <p:nvPr userDrawn="1"/>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spTree>
    <p:extLst>
      <p:ext uri="{BB962C8B-B14F-4D97-AF65-F5344CB8AC3E}">
        <p14:creationId xmlns:p14="http://schemas.microsoft.com/office/powerpoint/2010/main" val="855920212"/>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D9FB3-85C8-0691-533C-F198323AA44B}"/>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C9797C25-EF5C-1068-1B99-F8EBABB1A209}"/>
              </a:ext>
            </a:extLst>
          </p:cNvPr>
          <p:cNvSpPr>
            <a:spLocks noGrp="1"/>
          </p:cNvSpPr>
          <p:nvPr>
            <p:ph type="dt" sz="half" idx="10"/>
          </p:nvPr>
        </p:nvSpPr>
        <p:spPr/>
        <p:txBody>
          <a:bodyPr/>
          <a:lstStyle/>
          <a:p>
            <a:fld id="{AD1DDCFD-B863-45EB-B0FD-A3EE4FC1C1E0}" type="datetime1">
              <a:rPr lang="en-IE" smtClean="0"/>
              <a:t>28/09/2026</a:t>
            </a:fld>
            <a:endParaRPr lang="en-IE" dirty="0"/>
          </a:p>
        </p:txBody>
      </p:sp>
      <p:sp>
        <p:nvSpPr>
          <p:cNvPr id="4" name="Footer Placeholder 3">
            <a:extLst>
              <a:ext uri="{FF2B5EF4-FFF2-40B4-BE49-F238E27FC236}">
                <a16:creationId xmlns:a16="http://schemas.microsoft.com/office/drawing/2014/main" id="{23C8AF70-1013-1372-A49A-3E2010912641}"/>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5" name="Slide Number Placeholder 4">
            <a:extLst>
              <a:ext uri="{FF2B5EF4-FFF2-40B4-BE49-F238E27FC236}">
                <a16:creationId xmlns:a16="http://schemas.microsoft.com/office/drawing/2014/main" id="{EDFF05D9-EBCA-F8FF-DB23-862E463BC36E}"/>
              </a:ext>
            </a:extLst>
          </p:cNvPr>
          <p:cNvSpPr>
            <a:spLocks noGrp="1"/>
          </p:cNvSpPr>
          <p:nvPr>
            <p:ph type="sldNum" sz="quarter" idx="12"/>
          </p:nvPr>
        </p:nvSpPr>
        <p:spPr/>
        <p:txBody>
          <a:bodyPr/>
          <a:lstStyle/>
          <a:p>
            <a:fld id="{FA50E7A7-4D47-4F00-93E7-25A8F7113972}" type="slidenum">
              <a:rPr lang="en-IE" smtClean="0"/>
              <a:t>‹#›</a:t>
            </a:fld>
            <a:endParaRPr lang="en-IE" dirty="0"/>
          </a:p>
        </p:txBody>
      </p:sp>
    </p:spTree>
    <p:extLst>
      <p:ext uri="{BB962C8B-B14F-4D97-AF65-F5344CB8AC3E}">
        <p14:creationId xmlns:p14="http://schemas.microsoft.com/office/powerpoint/2010/main" val="1812609873"/>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EF9E173-EEC0-4BBF-8D1B-9DED7484F3E9}"/>
              </a:ext>
            </a:extLst>
          </p:cNvPr>
          <p:cNvPicPr>
            <a:picLocks noChangeAspect="1"/>
          </p:cNvPicPr>
          <p:nvPr userDrawn="1"/>
        </p:nvPicPr>
        <p:blipFill rotWithShape="1">
          <a:blip r:embed="rId2"/>
          <a:srcRect l="1898" r="14961" b="6713"/>
          <a:stretch/>
        </p:blipFill>
        <p:spPr>
          <a:xfrm>
            <a:off x="9810751" y="4590163"/>
            <a:ext cx="2381249" cy="2267837"/>
          </a:xfrm>
          <a:prstGeom prst="rect">
            <a:avLst/>
          </a:prstGeom>
        </p:spPr>
      </p:pic>
      <p:pic>
        <p:nvPicPr>
          <p:cNvPr id="12" name="Picture 11">
            <a:extLst>
              <a:ext uri="{FF2B5EF4-FFF2-40B4-BE49-F238E27FC236}">
                <a16:creationId xmlns:a16="http://schemas.microsoft.com/office/drawing/2014/main" id="{60042EA0-7E7D-4B83-A578-7FCF1ADDE774}"/>
              </a:ext>
            </a:extLst>
          </p:cNvPr>
          <p:cNvPicPr>
            <a:picLocks noChangeAspect="1"/>
          </p:cNvPicPr>
          <p:nvPr userDrawn="1"/>
        </p:nvPicPr>
        <p:blipFill>
          <a:blip r:embed="rId3"/>
          <a:stretch>
            <a:fillRect/>
          </a:stretch>
        </p:blipFill>
        <p:spPr>
          <a:xfrm>
            <a:off x="-292100" y="-101600"/>
            <a:ext cx="2275859" cy="6959600"/>
          </a:xfrm>
          <a:prstGeom prst="rect">
            <a:avLst/>
          </a:prstGeom>
        </p:spPr>
      </p:pic>
    </p:spTree>
    <p:extLst>
      <p:ext uri="{BB962C8B-B14F-4D97-AF65-F5344CB8AC3E}">
        <p14:creationId xmlns:p14="http://schemas.microsoft.com/office/powerpoint/2010/main" val="3684229722"/>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589C5-09C9-4C16-8909-9E3BFECFEAAC}"/>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E1883243-B0C8-41F5-8A3D-BAAC8B89CD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AC6FCBD5-363F-4A99-81C2-65401ECE9D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60F32998-A12A-4AD0-A65B-F71791A2396C}"/>
              </a:ext>
            </a:extLst>
          </p:cNvPr>
          <p:cNvSpPr>
            <a:spLocks noGrp="1"/>
          </p:cNvSpPr>
          <p:nvPr>
            <p:ph type="dt" sz="half" idx="10"/>
          </p:nvPr>
        </p:nvSpPr>
        <p:spPr/>
        <p:txBody>
          <a:bodyPr/>
          <a:lstStyle/>
          <a:p>
            <a:fld id="{25D091F7-61BE-4206-B0C8-B0B75481FEC3}" type="datetime1">
              <a:rPr lang="en-IE" smtClean="0"/>
              <a:t>28/09/2026</a:t>
            </a:fld>
            <a:endParaRPr lang="en-IE" dirty="0"/>
          </a:p>
        </p:txBody>
      </p:sp>
      <p:sp>
        <p:nvSpPr>
          <p:cNvPr id="6" name="Footer Placeholder 5">
            <a:extLst>
              <a:ext uri="{FF2B5EF4-FFF2-40B4-BE49-F238E27FC236}">
                <a16:creationId xmlns:a16="http://schemas.microsoft.com/office/drawing/2014/main" id="{6A76D275-59BA-46DE-A595-4318D5D76131}"/>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7" name="Slide Number Placeholder 6">
            <a:extLst>
              <a:ext uri="{FF2B5EF4-FFF2-40B4-BE49-F238E27FC236}">
                <a16:creationId xmlns:a16="http://schemas.microsoft.com/office/drawing/2014/main" id="{EF190B61-5748-4670-ACF2-9E0D64CE0BA3}"/>
              </a:ext>
            </a:extLst>
          </p:cNvPr>
          <p:cNvSpPr>
            <a:spLocks noGrp="1"/>
          </p:cNvSpPr>
          <p:nvPr>
            <p:ph type="sldNum" sz="quarter" idx="12"/>
          </p:nvPr>
        </p:nvSpPr>
        <p:spPr/>
        <p:txBody>
          <a:bodyPr/>
          <a:lstStyle/>
          <a:p>
            <a:fld id="{FA50E7A7-4D47-4F00-93E7-25A8F7113972}" type="slidenum">
              <a:rPr lang="en-IE" smtClean="0"/>
              <a:t>‹#›</a:t>
            </a:fld>
            <a:endParaRPr lang="en-IE" dirty="0"/>
          </a:p>
        </p:txBody>
      </p:sp>
      <p:pic>
        <p:nvPicPr>
          <p:cNvPr id="8" name="Picture 7">
            <a:extLst>
              <a:ext uri="{FF2B5EF4-FFF2-40B4-BE49-F238E27FC236}">
                <a16:creationId xmlns:a16="http://schemas.microsoft.com/office/drawing/2014/main" id="{3E4677A2-9FE6-4E5D-AD12-026C446A9C46}"/>
              </a:ext>
            </a:extLst>
          </p:cNvPr>
          <p:cNvPicPr>
            <a:picLocks noChangeAspect="1"/>
          </p:cNvPicPr>
          <p:nvPr userDrawn="1"/>
        </p:nvPicPr>
        <p:blipFill rotWithShape="1">
          <a:blip r:embed="rId2"/>
          <a:srcRect l="1898" r="14961" b="6713"/>
          <a:stretch/>
        </p:blipFill>
        <p:spPr>
          <a:xfrm>
            <a:off x="10695986" y="5433237"/>
            <a:ext cx="1496014" cy="1424763"/>
          </a:xfrm>
          <a:prstGeom prst="rect">
            <a:avLst/>
          </a:prstGeom>
        </p:spPr>
      </p:pic>
    </p:spTree>
    <p:extLst>
      <p:ext uri="{BB962C8B-B14F-4D97-AF65-F5344CB8AC3E}">
        <p14:creationId xmlns:p14="http://schemas.microsoft.com/office/powerpoint/2010/main" val="2943519657"/>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2B289-C13A-47F2-81B5-84B592C88878}"/>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C33595D7-1EE7-45D8-9AC1-E1CA2AB8F8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0DA1ED-A0AC-44A1-95E4-552363431C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F290C6B9-A7B3-4E1E-BAEF-46D158D0EF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D5A908-F15F-4A25-8755-C9E321C1B6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D44960D8-C598-42DF-8563-DF541930C8CD}"/>
              </a:ext>
            </a:extLst>
          </p:cNvPr>
          <p:cNvSpPr>
            <a:spLocks noGrp="1"/>
          </p:cNvSpPr>
          <p:nvPr>
            <p:ph type="dt" sz="half" idx="10"/>
          </p:nvPr>
        </p:nvSpPr>
        <p:spPr/>
        <p:txBody>
          <a:bodyPr/>
          <a:lstStyle/>
          <a:p>
            <a:fld id="{F1DC0ED9-D9B7-4C60-B063-292A57657916}" type="datetime1">
              <a:rPr lang="en-IE" smtClean="0"/>
              <a:t>28/09/2026</a:t>
            </a:fld>
            <a:endParaRPr lang="en-IE" dirty="0"/>
          </a:p>
        </p:txBody>
      </p:sp>
      <p:sp>
        <p:nvSpPr>
          <p:cNvPr id="8" name="Footer Placeholder 7">
            <a:extLst>
              <a:ext uri="{FF2B5EF4-FFF2-40B4-BE49-F238E27FC236}">
                <a16:creationId xmlns:a16="http://schemas.microsoft.com/office/drawing/2014/main" id="{255E83CE-E0F7-4369-8E68-2876A76A1298}"/>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9" name="Slide Number Placeholder 8">
            <a:extLst>
              <a:ext uri="{FF2B5EF4-FFF2-40B4-BE49-F238E27FC236}">
                <a16:creationId xmlns:a16="http://schemas.microsoft.com/office/drawing/2014/main" id="{BDA18419-970F-468C-914B-D5541A740E77}"/>
              </a:ext>
            </a:extLst>
          </p:cNvPr>
          <p:cNvSpPr>
            <a:spLocks noGrp="1"/>
          </p:cNvSpPr>
          <p:nvPr>
            <p:ph type="sldNum" sz="quarter" idx="12"/>
          </p:nvPr>
        </p:nvSpPr>
        <p:spPr/>
        <p:txBody>
          <a:bodyPr/>
          <a:lstStyle/>
          <a:p>
            <a:fld id="{FA50E7A7-4D47-4F00-93E7-25A8F7113972}" type="slidenum">
              <a:rPr lang="en-IE" smtClean="0"/>
              <a:t>‹#›</a:t>
            </a:fld>
            <a:endParaRPr lang="en-IE" dirty="0"/>
          </a:p>
        </p:txBody>
      </p:sp>
    </p:spTree>
    <p:extLst>
      <p:ext uri="{BB962C8B-B14F-4D97-AF65-F5344CB8AC3E}">
        <p14:creationId xmlns:p14="http://schemas.microsoft.com/office/powerpoint/2010/main" val="1825483287"/>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94C73-130B-40A2-95C4-2C0C6EE7B963}"/>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820B28A9-5B59-4E93-BE86-9F229DF8327A}"/>
              </a:ext>
            </a:extLst>
          </p:cNvPr>
          <p:cNvSpPr>
            <a:spLocks noGrp="1"/>
          </p:cNvSpPr>
          <p:nvPr>
            <p:ph type="dt" sz="half" idx="10"/>
          </p:nvPr>
        </p:nvSpPr>
        <p:spPr/>
        <p:txBody>
          <a:bodyPr/>
          <a:lstStyle/>
          <a:p>
            <a:fld id="{20709F7D-2249-4CDE-BDE5-6219B2D48085}" type="datetime1">
              <a:rPr lang="en-IE" smtClean="0"/>
              <a:t>28/09/2026</a:t>
            </a:fld>
            <a:endParaRPr lang="en-IE" dirty="0"/>
          </a:p>
        </p:txBody>
      </p:sp>
      <p:sp>
        <p:nvSpPr>
          <p:cNvPr id="4" name="Footer Placeholder 3">
            <a:extLst>
              <a:ext uri="{FF2B5EF4-FFF2-40B4-BE49-F238E27FC236}">
                <a16:creationId xmlns:a16="http://schemas.microsoft.com/office/drawing/2014/main" id="{17E22564-F2E5-4415-A873-20A4E4C46EF7}"/>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5" name="Slide Number Placeholder 4">
            <a:extLst>
              <a:ext uri="{FF2B5EF4-FFF2-40B4-BE49-F238E27FC236}">
                <a16:creationId xmlns:a16="http://schemas.microsoft.com/office/drawing/2014/main" id="{F8AA91B5-F5C4-4D6F-B80D-AF7A114A0486}"/>
              </a:ext>
            </a:extLst>
          </p:cNvPr>
          <p:cNvSpPr>
            <a:spLocks noGrp="1"/>
          </p:cNvSpPr>
          <p:nvPr>
            <p:ph type="sldNum" sz="quarter" idx="12"/>
          </p:nvPr>
        </p:nvSpPr>
        <p:spPr/>
        <p:txBody>
          <a:bodyPr/>
          <a:lstStyle/>
          <a:p>
            <a:fld id="{FA50E7A7-4D47-4F00-93E7-25A8F7113972}" type="slidenum">
              <a:rPr lang="en-IE" smtClean="0"/>
              <a:t>‹#›</a:t>
            </a:fld>
            <a:endParaRPr lang="en-IE" dirty="0"/>
          </a:p>
        </p:txBody>
      </p:sp>
    </p:spTree>
    <p:extLst>
      <p:ext uri="{BB962C8B-B14F-4D97-AF65-F5344CB8AC3E}">
        <p14:creationId xmlns:p14="http://schemas.microsoft.com/office/powerpoint/2010/main" val="3907517270"/>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AFFB4C-E4B8-4EA4-BB9F-E6A213B28794}"/>
              </a:ext>
            </a:extLst>
          </p:cNvPr>
          <p:cNvSpPr>
            <a:spLocks noGrp="1"/>
          </p:cNvSpPr>
          <p:nvPr>
            <p:ph type="dt" sz="half" idx="10"/>
          </p:nvPr>
        </p:nvSpPr>
        <p:spPr/>
        <p:txBody>
          <a:bodyPr/>
          <a:lstStyle/>
          <a:p>
            <a:fld id="{C08AAFC2-2617-4613-A080-9D74EE8110C9}" type="datetime1">
              <a:rPr lang="en-IE" smtClean="0"/>
              <a:t>28/09/2026</a:t>
            </a:fld>
            <a:endParaRPr lang="en-IE" dirty="0"/>
          </a:p>
        </p:txBody>
      </p:sp>
      <p:sp>
        <p:nvSpPr>
          <p:cNvPr id="3" name="Footer Placeholder 2">
            <a:extLst>
              <a:ext uri="{FF2B5EF4-FFF2-40B4-BE49-F238E27FC236}">
                <a16:creationId xmlns:a16="http://schemas.microsoft.com/office/drawing/2014/main" id="{F1BA7437-F40A-4476-ACE2-6035A65A7D96}"/>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4" name="Slide Number Placeholder 3">
            <a:extLst>
              <a:ext uri="{FF2B5EF4-FFF2-40B4-BE49-F238E27FC236}">
                <a16:creationId xmlns:a16="http://schemas.microsoft.com/office/drawing/2014/main" id="{F449EF9B-4939-4936-9E4C-C6660E2C76E7}"/>
              </a:ext>
            </a:extLst>
          </p:cNvPr>
          <p:cNvSpPr>
            <a:spLocks noGrp="1"/>
          </p:cNvSpPr>
          <p:nvPr>
            <p:ph type="sldNum" sz="quarter" idx="12"/>
          </p:nvPr>
        </p:nvSpPr>
        <p:spPr/>
        <p:txBody>
          <a:bodyPr/>
          <a:lstStyle/>
          <a:p>
            <a:fld id="{FA50E7A7-4D47-4F00-93E7-25A8F7113972}" type="slidenum">
              <a:rPr lang="en-IE" smtClean="0"/>
              <a:t>‹#›</a:t>
            </a:fld>
            <a:endParaRPr lang="en-IE" dirty="0"/>
          </a:p>
        </p:txBody>
      </p:sp>
    </p:spTree>
    <p:extLst>
      <p:ext uri="{BB962C8B-B14F-4D97-AF65-F5344CB8AC3E}">
        <p14:creationId xmlns:p14="http://schemas.microsoft.com/office/powerpoint/2010/main" val="3593537888"/>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6B48-93EC-4DF1-9C38-B175A376D2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7C373EDE-CD16-4D49-B32E-AC15737BDE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182535ED-44CC-4299-A50F-A5E13AE69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388F6C-CA45-4083-9276-B32D32C56A0D}"/>
              </a:ext>
            </a:extLst>
          </p:cNvPr>
          <p:cNvSpPr>
            <a:spLocks noGrp="1"/>
          </p:cNvSpPr>
          <p:nvPr>
            <p:ph type="dt" sz="half" idx="10"/>
          </p:nvPr>
        </p:nvSpPr>
        <p:spPr/>
        <p:txBody>
          <a:bodyPr/>
          <a:lstStyle/>
          <a:p>
            <a:fld id="{B9F72767-C4FD-4BFC-8049-67FEDF08CFA4}" type="datetime1">
              <a:rPr lang="en-IE" smtClean="0"/>
              <a:t>28/09/2026</a:t>
            </a:fld>
            <a:endParaRPr lang="en-IE" dirty="0"/>
          </a:p>
        </p:txBody>
      </p:sp>
      <p:sp>
        <p:nvSpPr>
          <p:cNvPr id="6" name="Footer Placeholder 5">
            <a:extLst>
              <a:ext uri="{FF2B5EF4-FFF2-40B4-BE49-F238E27FC236}">
                <a16:creationId xmlns:a16="http://schemas.microsoft.com/office/drawing/2014/main" id="{81BAAE41-8C78-4D59-9CE5-B741ED34CBCF}"/>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7" name="Slide Number Placeholder 6">
            <a:extLst>
              <a:ext uri="{FF2B5EF4-FFF2-40B4-BE49-F238E27FC236}">
                <a16:creationId xmlns:a16="http://schemas.microsoft.com/office/drawing/2014/main" id="{96EB903F-7326-4F61-A211-09B9FBA57212}"/>
              </a:ext>
            </a:extLst>
          </p:cNvPr>
          <p:cNvSpPr>
            <a:spLocks noGrp="1"/>
          </p:cNvSpPr>
          <p:nvPr>
            <p:ph type="sldNum" sz="quarter" idx="12"/>
          </p:nvPr>
        </p:nvSpPr>
        <p:spPr/>
        <p:txBody>
          <a:bodyPr/>
          <a:lstStyle/>
          <a:p>
            <a:fld id="{FA50E7A7-4D47-4F00-93E7-25A8F7113972}" type="slidenum">
              <a:rPr lang="en-IE" smtClean="0"/>
              <a:t>‹#›</a:t>
            </a:fld>
            <a:endParaRPr lang="en-IE" dirty="0"/>
          </a:p>
        </p:txBody>
      </p:sp>
    </p:spTree>
    <p:extLst>
      <p:ext uri="{BB962C8B-B14F-4D97-AF65-F5344CB8AC3E}">
        <p14:creationId xmlns:p14="http://schemas.microsoft.com/office/powerpoint/2010/main" val="269433493"/>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9FA8-2C28-43E7-8C79-83F0831EE3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05D8DC73-60AA-4179-B088-01D6A5945B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dirty="0"/>
          </a:p>
        </p:txBody>
      </p:sp>
      <p:sp>
        <p:nvSpPr>
          <p:cNvPr id="4" name="Text Placeholder 3">
            <a:extLst>
              <a:ext uri="{FF2B5EF4-FFF2-40B4-BE49-F238E27FC236}">
                <a16:creationId xmlns:a16="http://schemas.microsoft.com/office/drawing/2014/main" id="{15DC9335-C4C7-49A9-AB4C-38D8FFC1BB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3378E3-B612-4015-9D22-5AD0E4311177}"/>
              </a:ext>
            </a:extLst>
          </p:cNvPr>
          <p:cNvSpPr>
            <a:spLocks noGrp="1"/>
          </p:cNvSpPr>
          <p:nvPr>
            <p:ph type="dt" sz="half" idx="10"/>
          </p:nvPr>
        </p:nvSpPr>
        <p:spPr/>
        <p:txBody>
          <a:bodyPr/>
          <a:lstStyle/>
          <a:p>
            <a:fld id="{AB67E20F-93A0-4EAD-80FA-5735F654198C}" type="datetime1">
              <a:rPr lang="en-IE" smtClean="0"/>
              <a:t>28/09/2026</a:t>
            </a:fld>
            <a:endParaRPr lang="en-IE" dirty="0"/>
          </a:p>
        </p:txBody>
      </p:sp>
      <p:sp>
        <p:nvSpPr>
          <p:cNvPr id="6" name="Footer Placeholder 5">
            <a:extLst>
              <a:ext uri="{FF2B5EF4-FFF2-40B4-BE49-F238E27FC236}">
                <a16:creationId xmlns:a16="http://schemas.microsoft.com/office/drawing/2014/main" id="{11B079CE-7F28-40AA-8195-3DBFB0CB50CD}"/>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7" name="Slide Number Placeholder 6">
            <a:extLst>
              <a:ext uri="{FF2B5EF4-FFF2-40B4-BE49-F238E27FC236}">
                <a16:creationId xmlns:a16="http://schemas.microsoft.com/office/drawing/2014/main" id="{AA30D109-B523-4C27-B78F-1F13D96DAAB1}"/>
              </a:ext>
            </a:extLst>
          </p:cNvPr>
          <p:cNvSpPr>
            <a:spLocks noGrp="1"/>
          </p:cNvSpPr>
          <p:nvPr>
            <p:ph type="sldNum" sz="quarter" idx="12"/>
          </p:nvPr>
        </p:nvSpPr>
        <p:spPr/>
        <p:txBody>
          <a:bodyPr/>
          <a:lstStyle/>
          <a:p>
            <a:fld id="{FA50E7A7-4D47-4F00-93E7-25A8F7113972}" type="slidenum">
              <a:rPr lang="en-IE" smtClean="0"/>
              <a:t>‹#›</a:t>
            </a:fld>
            <a:endParaRPr lang="en-IE" dirty="0"/>
          </a:p>
        </p:txBody>
      </p:sp>
    </p:spTree>
    <p:extLst>
      <p:ext uri="{BB962C8B-B14F-4D97-AF65-F5344CB8AC3E}">
        <p14:creationId xmlns:p14="http://schemas.microsoft.com/office/powerpoint/2010/main" val="573546082"/>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FE328-6442-40A1-B6F7-01013D381726}"/>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91B07496-886A-452C-BD55-0C0A5829A6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AEB0333-ECC6-4A9F-AC3B-E208FCC0F274}"/>
              </a:ext>
            </a:extLst>
          </p:cNvPr>
          <p:cNvSpPr>
            <a:spLocks noGrp="1"/>
          </p:cNvSpPr>
          <p:nvPr>
            <p:ph type="dt" sz="half" idx="10"/>
          </p:nvPr>
        </p:nvSpPr>
        <p:spPr/>
        <p:txBody>
          <a:bodyPr/>
          <a:lstStyle/>
          <a:p>
            <a:fld id="{A9D864F9-A1C3-45A0-8D75-FB037D0E7043}" type="datetime1">
              <a:rPr lang="en-IE" smtClean="0"/>
              <a:t>28/09/2026</a:t>
            </a:fld>
            <a:endParaRPr lang="en-IE" dirty="0"/>
          </a:p>
        </p:txBody>
      </p:sp>
      <p:sp>
        <p:nvSpPr>
          <p:cNvPr id="5" name="Footer Placeholder 4">
            <a:extLst>
              <a:ext uri="{FF2B5EF4-FFF2-40B4-BE49-F238E27FC236}">
                <a16:creationId xmlns:a16="http://schemas.microsoft.com/office/drawing/2014/main" id="{BF070918-CA3E-4B3D-930D-E4B3A9F49C25}"/>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6" name="Slide Number Placeholder 5">
            <a:extLst>
              <a:ext uri="{FF2B5EF4-FFF2-40B4-BE49-F238E27FC236}">
                <a16:creationId xmlns:a16="http://schemas.microsoft.com/office/drawing/2014/main" id="{36864B6E-5533-4AD9-BC49-00284027B24B}"/>
              </a:ext>
            </a:extLst>
          </p:cNvPr>
          <p:cNvSpPr>
            <a:spLocks noGrp="1"/>
          </p:cNvSpPr>
          <p:nvPr>
            <p:ph type="sldNum" sz="quarter" idx="12"/>
          </p:nvPr>
        </p:nvSpPr>
        <p:spPr/>
        <p:txBody>
          <a:bodyPr/>
          <a:lstStyle/>
          <a:p>
            <a:fld id="{FA50E7A7-4D47-4F00-93E7-25A8F7113972}" type="slidenum">
              <a:rPr lang="en-IE" smtClean="0"/>
              <a:t>‹#›</a:t>
            </a:fld>
            <a:endParaRPr lang="en-IE" dirty="0"/>
          </a:p>
        </p:txBody>
      </p:sp>
    </p:spTree>
    <p:extLst>
      <p:ext uri="{BB962C8B-B14F-4D97-AF65-F5344CB8AC3E}">
        <p14:creationId xmlns:p14="http://schemas.microsoft.com/office/powerpoint/2010/main" val="312349671"/>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DAD94D-9C5A-4434-9FA9-AAFF6CF08F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9692E817-A0B7-4D1A-B328-4AD7D692C7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2A62624-0D1E-4113-B97F-D05C0EC400B9}"/>
              </a:ext>
            </a:extLst>
          </p:cNvPr>
          <p:cNvSpPr>
            <a:spLocks noGrp="1"/>
          </p:cNvSpPr>
          <p:nvPr>
            <p:ph type="dt" sz="half" idx="10"/>
          </p:nvPr>
        </p:nvSpPr>
        <p:spPr/>
        <p:txBody>
          <a:bodyPr/>
          <a:lstStyle/>
          <a:p>
            <a:fld id="{DFF4734D-DD83-4CAB-A075-C59DD2A34EFD}" type="datetime1">
              <a:rPr lang="en-IE" smtClean="0"/>
              <a:t>28/09/2026</a:t>
            </a:fld>
            <a:endParaRPr lang="en-IE" dirty="0"/>
          </a:p>
        </p:txBody>
      </p:sp>
      <p:sp>
        <p:nvSpPr>
          <p:cNvPr id="5" name="Footer Placeholder 4">
            <a:extLst>
              <a:ext uri="{FF2B5EF4-FFF2-40B4-BE49-F238E27FC236}">
                <a16:creationId xmlns:a16="http://schemas.microsoft.com/office/drawing/2014/main" id="{112ACC00-094D-4145-B347-B367944144F8}"/>
              </a:ext>
            </a:extLst>
          </p:cNvPr>
          <p:cNvSpPr>
            <a:spLocks noGrp="1"/>
          </p:cNvSpPr>
          <p:nvPr>
            <p:ph type="ftr" sz="quarter" idx="11"/>
          </p:nvPr>
        </p:nvSpPr>
        <p:spPr>
          <a:xfrm>
            <a:off x="4038600" y="6356350"/>
            <a:ext cx="4114800" cy="365125"/>
          </a:xfrm>
          <a:prstGeom prst="rect">
            <a:avLst/>
          </a:prstGeom>
        </p:spPr>
        <p:txBody>
          <a:bodyPr/>
          <a:lstStyle/>
          <a:p>
            <a:endParaRPr lang="en-IE" dirty="0"/>
          </a:p>
        </p:txBody>
      </p:sp>
      <p:sp>
        <p:nvSpPr>
          <p:cNvPr id="6" name="Slide Number Placeholder 5">
            <a:extLst>
              <a:ext uri="{FF2B5EF4-FFF2-40B4-BE49-F238E27FC236}">
                <a16:creationId xmlns:a16="http://schemas.microsoft.com/office/drawing/2014/main" id="{5DE52669-5E29-4BE4-8086-7C45A14005CF}"/>
              </a:ext>
            </a:extLst>
          </p:cNvPr>
          <p:cNvSpPr>
            <a:spLocks noGrp="1"/>
          </p:cNvSpPr>
          <p:nvPr>
            <p:ph type="sldNum" sz="quarter" idx="12"/>
          </p:nvPr>
        </p:nvSpPr>
        <p:spPr/>
        <p:txBody>
          <a:bodyPr/>
          <a:lstStyle/>
          <a:p>
            <a:fld id="{FA50E7A7-4D47-4F00-93E7-25A8F7113972}" type="slidenum">
              <a:rPr lang="en-IE" smtClean="0"/>
              <a:t>‹#›</a:t>
            </a:fld>
            <a:endParaRPr lang="en-IE" dirty="0"/>
          </a:p>
        </p:txBody>
      </p:sp>
    </p:spTree>
    <p:extLst>
      <p:ext uri="{BB962C8B-B14F-4D97-AF65-F5344CB8AC3E}">
        <p14:creationId xmlns:p14="http://schemas.microsoft.com/office/powerpoint/2010/main" val="616067609"/>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21525C-3E37-93F0-7C26-1B337EED2F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9DE5A2A1-E2E3-C7AC-F866-B93A66FE0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F438224-80BF-B42C-7C19-8536A8D419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1AB2AD-BE1E-4A51-99BB-BC69CE953B2B}" type="datetimeFigureOut">
              <a:rPr lang="en-IE" smtClean="0"/>
              <a:t>28/09/2026</a:t>
            </a:fld>
            <a:endParaRPr lang="en-IE" dirty="0"/>
          </a:p>
        </p:txBody>
      </p:sp>
      <p:sp>
        <p:nvSpPr>
          <p:cNvPr id="5" name="Footer Placeholder 4">
            <a:extLst>
              <a:ext uri="{FF2B5EF4-FFF2-40B4-BE49-F238E27FC236}">
                <a16:creationId xmlns:a16="http://schemas.microsoft.com/office/drawing/2014/main" id="{91493CC6-6EFF-D2FD-BEC5-F138FD2EE4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dirty="0"/>
          </a:p>
        </p:txBody>
      </p:sp>
      <p:sp>
        <p:nvSpPr>
          <p:cNvPr id="6" name="Slide Number Placeholder 5">
            <a:extLst>
              <a:ext uri="{FF2B5EF4-FFF2-40B4-BE49-F238E27FC236}">
                <a16:creationId xmlns:a16="http://schemas.microsoft.com/office/drawing/2014/main" id="{5F214E22-08EE-C17C-FBF6-D5DA9CE516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40FB16-FCC4-4BFA-A028-17BC8E45105E}" type="slidenum">
              <a:rPr lang="en-IE" smtClean="0"/>
              <a:t>‹#›</a:t>
            </a:fld>
            <a:endParaRPr lang="en-IE" dirty="0"/>
          </a:p>
        </p:txBody>
      </p:sp>
    </p:spTree>
    <p:extLst>
      <p:ext uri="{BB962C8B-B14F-4D97-AF65-F5344CB8AC3E}">
        <p14:creationId xmlns:p14="http://schemas.microsoft.com/office/powerpoint/2010/main" val="248886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E3E098-B850-4A59-AF4B-5B2302530A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2489DA06-67E1-4367-AE99-90F2FFC66B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D506322D-E657-478D-A67D-1C040920FA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7DD77B-3495-4CBC-98C5-E0EE50B375C4}" type="datetime1">
              <a:rPr lang="en-IE" smtClean="0"/>
              <a:t>28/09/2026</a:t>
            </a:fld>
            <a:endParaRPr lang="en-IE" dirty="0"/>
          </a:p>
        </p:txBody>
      </p:sp>
      <p:sp>
        <p:nvSpPr>
          <p:cNvPr id="6" name="Slide Number Placeholder 5">
            <a:extLst>
              <a:ext uri="{FF2B5EF4-FFF2-40B4-BE49-F238E27FC236}">
                <a16:creationId xmlns:a16="http://schemas.microsoft.com/office/drawing/2014/main" id="{8615E7FE-CADE-4FFC-BB19-0EA172F1E3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50E7A7-4D47-4F00-93E7-25A8F7113972}" type="slidenum">
              <a:rPr lang="en-IE" smtClean="0"/>
              <a:t>‹#›</a:t>
            </a:fld>
            <a:endParaRPr lang="en-IE" dirty="0"/>
          </a:p>
        </p:txBody>
      </p:sp>
    </p:spTree>
    <p:extLst>
      <p:ext uri="{BB962C8B-B14F-4D97-AF65-F5344CB8AC3E}">
        <p14:creationId xmlns:p14="http://schemas.microsoft.com/office/powerpoint/2010/main" val="39214670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svg"/><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image" Target="../media/image16.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8.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8.xml"/><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svg"/><Relationship Id="rId2" Type="http://schemas.openxmlformats.org/officeDocument/2006/relationships/notesSlide" Target="../notesSlides/notesSlide36.xml"/><Relationship Id="rId1" Type="http://schemas.openxmlformats.org/officeDocument/2006/relationships/slideLayout" Target="../slideLayouts/slideLayout18.xml"/><Relationship Id="rId6" Type="http://schemas.openxmlformats.org/officeDocument/2006/relationships/image" Target="../media/image16.png"/><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8.xml"/><Relationship Id="rId5" Type="http://schemas.openxmlformats.org/officeDocument/2006/relationships/image" Target="../media/image38.pn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18.xml"/><Relationship Id="rId5" Type="http://schemas.openxmlformats.org/officeDocument/2006/relationships/image" Target="../media/image40.png"/><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png"/><Relationship Id="rId7" Type="http://schemas.openxmlformats.org/officeDocument/2006/relationships/diagramColors" Target="../diagrams/colors2.xm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0.png"/></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1.xml"/><Relationship Id="rId1" Type="http://schemas.openxmlformats.org/officeDocument/2006/relationships/slideLayout" Target="../slideLayouts/slideLayout4.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png"/><Relationship Id="rId7" Type="http://schemas.openxmlformats.org/officeDocument/2006/relationships/diagramColors" Target="../diagrams/colors3.xml"/><Relationship Id="rId2" Type="http://schemas.openxmlformats.org/officeDocument/2006/relationships/notesSlide" Target="../notesSlides/notesSlide63.xml"/><Relationship Id="rId1" Type="http://schemas.openxmlformats.org/officeDocument/2006/relationships/slideLayout" Target="../slideLayouts/slideLayout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4.xml"/><Relationship Id="rId4" Type="http://schemas.openxmlformats.org/officeDocument/2006/relationships/image" Target="../media/image72.png"/></Relationships>
</file>

<file path=ppt/slides/_rels/slide9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8.xml"/><Relationship Id="rId1" Type="http://schemas.openxmlformats.org/officeDocument/2006/relationships/slideLayout" Target="../slideLayouts/slideLayout4.xml"/><Relationship Id="rId4" Type="http://schemas.openxmlformats.org/officeDocument/2006/relationships/image" Target="../media/image73.png"/></Relationships>
</file>

<file path=ppt/slides/_rels/slide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7.xml"/><Relationship Id="rId1" Type="http://schemas.openxmlformats.org/officeDocument/2006/relationships/slideLayout" Target="../slideLayouts/slideLayout4.xml"/><Relationship Id="rId4" Type="http://schemas.openxmlformats.org/officeDocument/2006/relationships/image" Target="../media/image74.png"/></Relationships>
</file>

<file path=ppt/slides/_rels/slide1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4.xml"/><Relationship Id="rId1" Type="http://schemas.openxmlformats.org/officeDocument/2006/relationships/slideLayout" Target="../slideLayouts/slideLayout4.xml"/><Relationship Id="rId4" Type="http://schemas.openxmlformats.org/officeDocument/2006/relationships/image" Target="../media/image75.png"/></Relationships>
</file>

<file path=ppt/slides/_rels/slide10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2.xml"/><Relationship Id="rId1" Type="http://schemas.openxmlformats.org/officeDocument/2006/relationships/slideLayout" Target="../slideLayouts/slideLayout1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A566-40E4-40A8-9A78-838C1F081521}"/>
              </a:ext>
            </a:extLst>
          </p:cNvPr>
          <p:cNvSpPr>
            <a:spLocks noGrp="1"/>
          </p:cNvSpPr>
          <p:nvPr>
            <p:ph type="ctrTitle" idx="4294967295"/>
          </p:nvPr>
        </p:nvSpPr>
        <p:spPr>
          <a:xfrm>
            <a:off x="1422919" y="883776"/>
            <a:ext cx="9486381" cy="5090447"/>
          </a:xfrm>
        </p:spPr>
        <p:txBody>
          <a:bodyPr>
            <a:normAutofit/>
          </a:bodyPr>
          <a:lstStyle/>
          <a:p>
            <a:pPr algn="ctr">
              <a:lnSpc>
                <a:spcPct val="150000"/>
              </a:lnSpc>
            </a:pPr>
            <a:r>
              <a:rPr kumimoji="0" lang="en-US" altLang="en-US" sz="4400" b="1" i="0" u="none" strike="noStrike" kern="0" cap="none" spc="0" normalizeH="0" baseline="0" noProof="0" dirty="0">
                <a:ln>
                  <a:noFill/>
                </a:ln>
                <a:solidFill>
                  <a:srgbClr val="009999"/>
                </a:solidFill>
                <a:effectLst/>
                <a:uLnTx/>
                <a:uFillTx/>
                <a:latin typeface="Aptos" panose="020B0004020202020204" pitchFamily="34" charset="0"/>
              </a:rPr>
              <a:t>Certified Tax </a:t>
            </a:r>
            <a:br>
              <a:rPr kumimoji="0" lang="en-US" altLang="en-US" sz="4400" b="1" i="0" u="none" strike="noStrike" kern="0" cap="none" spc="0" normalizeH="0" baseline="0" noProof="0" dirty="0">
                <a:ln>
                  <a:noFill/>
                </a:ln>
                <a:solidFill>
                  <a:srgbClr val="009999"/>
                </a:solidFill>
                <a:effectLst/>
                <a:uLnTx/>
                <a:uFillTx/>
                <a:latin typeface="Aptos" panose="020B0004020202020204" pitchFamily="34" charset="0"/>
              </a:rPr>
            </a:br>
            <a:r>
              <a:rPr kumimoji="0" lang="en-US" altLang="en-US" sz="4400" b="1" i="0" u="none" strike="noStrike" kern="0" cap="none" spc="0" normalizeH="0" baseline="0" noProof="0" dirty="0">
                <a:ln>
                  <a:noFill/>
                </a:ln>
                <a:solidFill>
                  <a:srgbClr val="009999"/>
                </a:solidFill>
                <a:effectLst/>
                <a:uLnTx/>
                <a:uFillTx/>
                <a:latin typeface="Aptos" panose="020B0004020202020204" pitchFamily="34" charset="0"/>
              </a:rPr>
              <a:t>Professional Pathway</a:t>
            </a:r>
            <a:br>
              <a:rPr kumimoji="0" lang="en-US" altLang="en-US" sz="4400" b="1" i="0" u="none" strike="noStrike" kern="0" cap="none" spc="0" normalizeH="0" baseline="0" noProof="0" dirty="0">
                <a:ln>
                  <a:noFill/>
                </a:ln>
                <a:solidFill>
                  <a:srgbClr val="009999"/>
                </a:solidFill>
                <a:effectLst/>
                <a:uLnTx/>
                <a:uFillTx/>
                <a:latin typeface="Aptos" panose="020B0004020202020204" pitchFamily="34" charset="0"/>
              </a:rPr>
            </a:br>
            <a:r>
              <a:rPr kumimoji="0" lang="en-US" altLang="en-US" sz="4400" b="1" i="0" u="none" strike="noStrike" kern="0" cap="none" spc="0" normalizeH="0" baseline="0" noProof="0" dirty="0">
                <a:ln>
                  <a:noFill/>
                </a:ln>
                <a:solidFill>
                  <a:srgbClr val="009999"/>
                </a:solidFill>
                <a:effectLst/>
                <a:uLnTx/>
                <a:uFillTx/>
                <a:latin typeface="Aptos" panose="020B0004020202020204" pitchFamily="34" charset="0"/>
              </a:rPr>
              <a:t>Personal Tax workshop</a:t>
            </a:r>
            <a:br>
              <a:rPr kumimoji="0" lang="en-US" altLang="en-US" sz="4400" b="1" i="0" u="none" strike="noStrike" kern="0" cap="none" spc="0" normalizeH="0" baseline="0" noProof="0" dirty="0">
                <a:ln>
                  <a:noFill/>
                </a:ln>
                <a:solidFill>
                  <a:srgbClr val="009999"/>
                </a:solidFill>
                <a:effectLst/>
                <a:uLnTx/>
                <a:uFillTx/>
                <a:latin typeface="Aptos" panose="020B0004020202020204" pitchFamily="34" charset="0"/>
              </a:rPr>
            </a:br>
            <a:r>
              <a:rPr kumimoji="0" lang="en-US" altLang="en-US" sz="4400" b="1" i="0" u="none" strike="noStrike" kern="0" cap="none" spc="0" normalizeH="0" baseline="0" noProof="0" dirty="0">
                <a:ln>
                  <a:noFill/>
                </a:ln>
                <a:solidFill>
                  <a:srgbClr val="009999"/>
                </a:solidFill>
                <a:effectLst/>
                <a:uLnTx/>
                <a:uFillTx/>
                <a:latin typeface="Aptos" panose="020B0004020202020204" pitchFamily="34" charset="0"/>
              </a:rPr>
              <a:t>DAY 1</a:t>
            </a:r>
            <a:br>
              <a:rPr kumimoji="0" lang="en-US" altLang="en-US" sz="4400" b="1" i="0" u="none" strike="noStrike" kern="0" cap="none" spc="0" normalizeH="0" baseline="0" noProof="0" dirty="0">
                <a:ln>
                  <a:noFill/>
                </a:ln>
                <a:solidFill>
                  <a:srgbClr val="009999"/>
                </a:solidFill>
                <a:effectLst/>
                <a:uLnTx/>
                <a:uFillTx/>
                <a:latin typeface="Aptos" panose="020B0004020202020204" pitchFamily="34" charset="0"/>
              </a:rPr>
            </a:br>
            <a:r>
              <a:rPr kumimoji="0" lang="en-US" altLang="en-US" sz="2000" b="1" i="0" u="none" strike="noStrike" kern="0" cap="none" spc="0" normalizeH="0" baseline="0" noProof="0" dirty="0">
                <a:ln>
                  <a:noFill/>
                </a:ln>
                <a:solidFill>
                  <a:srgbClr val="009999"/>
                </a:solidFill>
                <a:effectLst/>
                <a:uLnTx/>
                <a:uFillTx/>
                <a:latin typeface="Aptos" panose="020B0004020202020204" pitchFamily="34" charset="0"/>
              </a:rPr>
              <a:t>Last updated </a:t>
            </a:r>
            <a:r>
              <a:rPr lang="en-US" altLang="en-US" sz="2000" b="1" kern="0" dirty="0">
                <a:solidFill>
                  <a:srgbClr val="009999"/>
                </a:solidFill>
                <a:latin typeface="Aptos" panose="020B0004020202020204" pitchFamily="34" charset="0"/>
              </a:rPr>
              <a:t>25</a:t>
            </a:r>
            <a:r>
              <a:rPr kumimoji="0" lang="en-US" altLang="en-US" sz="2000" b="1" i="0" u="none" strike="noStrike" kern="0" cap="none" spc="0" normalizeH="0" baseline="0" noProof="0" dirty="0">
                <a:ln>
                  <a:noFill/>
                </a:ln>
                <a:solidFill>
                  <a:srgbClr val="009999"/>
                </a:solidFill>
                <a:effectLst/>
                <a:uLnTx/>
                <a:uFillTx/>
                <a:latin typeface="Aptos" panose="020B0004020202020204" pitchFamily="34" charset="0"/>
              </a:rPr>
              <a:t> Sept 2026 (incl font, animations etc.)</a:t>
            </a:r>
            <a:endParaRPr lang="en-IE" sz="2000" b="1" dirty="0">
              <a:solidFill>
                <a:srgbClr val="009999"/>
              </a:solidFill>
              <a:highlight>
                <a:srgbClr val="FFFF00"/>
              </a:highlight>
              <a:latin typeface="Aptos" panose="020B0004020202020204" pitchFamily="34" charset="0"/>
            </a:endParaRPr>
          </a:p>
        </p:txBody>
      </p:sp>
      <p:sp>
        <p:nvSpPr>
          <p:cNvPr id="11" name="Shape">
            <a:extLst>
              <a:ext uri="{FF2B5EF4-FFF2-40B4-BE49-F238E27FC236}">
                <a16:creationId xmlns:a16="http://schemas.microsoft.com/office/drawing/2014/main" id="{64DA8E4F-486D-4062-82E4-375ECC2F69C1}"/>
              </a:ext>
            </a:extLst>
          </p:cNvPr>
          <p:cNvSpPr/>
          <p:nvPr/>
        </p:nvSpPr>
        <p:spPr>
          <a:xfrm>
            <a:off x="15348" y="6076204"/>
            <a:ext cx="3450590" cy="78422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6687" y="21600"/>
                </a:lnTo>
                <a:lnTo>
                  <a:pt x="21600" y="0"/>
                </a:lnTo>
                <a:lnTo>
                  <a:pt x="4913" y="0"/>
                </a:lnTo>
                <a:close/>
              </a:path>
            </a:pathLst>
          </a:custGeom>
          <a:solidFill>
            <a:srgbClr val="006666"/>
          </a:solidFill>
          <a:ln w="12700">
            <a:miter lim="400000"/>
          </a:ln>
        </p:spPr>
        <p:txBody>
          <a:bodyPr lIns="38100" tIns="38100" rIns="38100" bIns="38100" anchor="ctr"/>
          <a:lstStyle/>
          <a:p>
            <a:endParaRPr lang="en-IE" dirty="0"/>
          </a:p>
        </p:txBody>
      </p:sp>
      <p:sp>
        <p:nvSpPr>
          <p:cNvPr id="12" name="Shape">
            <a:extLst>
              <a:ext uri="{FF2B5EF4-FFF2-40B4-BE49-F238E27FC236}">
                <a16:creationId xmlns:a16="http://schemas.microsoft.com/office/drawing/2014/main" id="{74E26CAA-C8E3-4F5E-9CB9-74135EFED657}"/>
              </a:ext>
            </a:extLst>
          </p:cNvPr>
          <p:cNvSpPr/>
          <p:nvPr/>
        </p:nvSpPr>
        <p:spPr>
          <a:xfrm>
            <a:off x="1717148" y="6508004"/>
            <a:ext cx="1871980" cy="3486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7570" y="21600"/>
                </a:lnTo>
                <a:lnTo>
                  <a:pt x="21600" y="0"/>
                </a:lnTo>
                <a:lnTo>
                  <a:pt x="4030" y="0"/>
                </a:lnTo>
                <a:close/>
              </a:path>
            </a:pathLst>
          </a:custGeom>
          <a:solidFill>
            <a:schemeClr val="tx2">
              <a:lumMod val="60000"/>
              <a:lumOff val="40000"/>
              <a:alpha val="90000"/>
            </a:schemeClr>
          </a:solidFill>
          <a:ln w="12700">
            <a:miter lim="400000"/>
          </a:ln>
        </p:spPr>
        <p:txBody>
          <a:bodyPr lIns="38100" tIns="38100" rIns="38100" bIns="38100" anchor="ctr"/>
          <a:lstStyle/>
          <a:p>
            <a:endParaRPr lang="en-IE" dirty="0"/>
          </a:p>
        </p:txBody>
      </p:sp>
      <p:sp>
        <p:nvSpPr>
          <p:cNvPr id="13" name="Shape">
            <a:extLst>
              <a:ext uri="{FF2B5EF4-FFF2-40B4-BE49-F238E27FC236}">
                <a16:creationId xmlns:a16="http://schemas.microsoft.com/office/drawing/2014/main" id="{94ED9556-F893-4791-8585-8134050D2C7B}"/>
              </a:ext>
            </a:extLst>
          </p:cNvPr>
          <p:cNvSpPr/>
          <p:nvPr/>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4" name="Triangle">
            <a:extLst>
              <a:ext uri="{FF2B5EF4-FFF2-40B4-BE49-F238E27FC236}">
                <a16:creationId xmlns:a16="http://schemas.microsoft.com/office/drawing/2014/main" id="{94D2CDCE-DE5A-459C-926E-3C632ECC7DD6}"/>
              </a:ext>
            </a:extLst>
          </p:cNvPr>
          <p:cNvSpPr/>
          <p:nvPr/>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pic>
        <p:nvPicPr>
          <p:cNvPr id="15" name="Picture 14" descr="Logo, company name&#10;&#10;Description automatically generated">
            <a:extLst>
              <a:ext uri="{FF2B5EF4-FFF2-40B4-BE49-F238E27FC236}">
                <a16:creationId xmlns:a16="http://schemas.microsoft.com/office/drawing/2014/main" id="{EE5DD90D-A358-460E-8209-C13E67514C7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9376464" y="55125"/>
            <a:ext cx="2763520" cy="1447800"/>
          </a:xfrm>
          <a:prstGeom prst="rect">
            <a:avLst/>
          </a:prstGeom>
        </p:spPr>
      </p:pic>
      <p:pic>
        <p:nvPicPr>
          <p:cNvPr id="3" name="Picture 2">
            <a:extLst>
              <a:ext uri="{FF2B5EF4-FFF2-40B4-BE49-F238E27FC236}">
                <a16:creationId xmlns:a16="http://schemas.microsoft.com/office/drawing/2014/main" id="{7432E413-2C77-D76F-1584-164B64A54C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5273" y="228551"/>
            <a:ext cx="2174710" cy="1100947"/>
          </a:xfrm>
          <a:prstGeom prst="rect">
            <a:avLst/>
          </a:prstGeom>
          <a:noFill/>
          <a:ln>
            <a:noFill/>
          </a:ln>
        </p:spPr>
      </p:pic>
    </p:spTree>
    <p:extLst>
      <p:ext uri="{BB962C8B-B14F-4D97-AF65-F5344CB8AC3E}">
        <p14:creationId xmlns:p14="http://schemas.microsoft.com/office/powerpoint/2010/main" val="3792337535"/>
      </p:ext>
    </p:extLst>
  </p:cSld>
  <p:clrMapOvr>
    <a:masterClrMapping/>
  </p:clrMapOvr>
  <mc:AlternateContent xmlns:mc="http://schemas.openxmlformats.org/markup-compatibility/2006" xmlns:p14="http://schemas.microsoft.com/office/powerpoint/2010/main">
    <mc:Choice Requires="p14">
      <p:transition spd="slow" p14:dur="2000" advTm="21140"/>
    </mc:Choice>
    <mc:Fallback xmlns="">
      <p:transition spd="slow" advTm="211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04DFC-76FF-096D-EC57-71F85B2FDCF7}"/>
              </a:ext>
            </a:extLst>
          </p:cNvPr>
          <p:cNvSpPr>
            <a:spLocks noGrp="1"/>
          </p:cNvSpPr>
          <p:nvPr>
            <p:ph type="title"/>
          </p:nvPr>
        </p:nvSpPr>
        <p:spPr>
          <a:xfrm>
            <a:off x="5526156" y="365124"/>
            <a:ext cx="5827643" cy="1863725"/>
          </a:xfrm>
        </p:spPr>
        <p:txBody>
          <a:bodyPr vert="horz" lIns="91440" tIns="45720" rIns="91440" bIns="45720" rtlCol="0" anchor="b">
            <a:normAutofit/>
          </a:bodyPr>
          <a:lstStyle/>
          <a:p>
            <a:r>
              <a:rPr lang="en-US" sz="3100" b="1" dirty="0">
                <a:solidFill>
                  <a:schemeClr val="tx2">
                    <a:lumMod val="90000"/>
                    <a:lumOff val="10000"/>
                  </a:schemeClr>
                </a:solidFill>
              </a:rPr>
              <a:t>ATTENDANCE:  Please scan QR Code, complete form using exact course code below and submit</a:t>
            </a:r>
            <a:br>
              <a:rPr lang="en-US" sz="3100" b="1" dirty="0">
                <a:solidFill>
                  <a:schemeClr val="tx2">
                    <a:lumMod val="90000"/>
                    <a:lumOff val="10000"/>
                  </a:schemeClr>
                </a:solidFill>
              </a:rPr>
            </a:br>
            <a:endParaRPr lang="en-US" sz="2000" b="1" dirty="0">
              <a:solidFill>
                <a:schemeClr val="tx2">
                  <a:lumMod val="90000"/>
                  <a:lumOff val="10000"/>
                </a:schemeClr>
              </a:solidFill>
            </a:endParaRPr>
          </a:p>
        </p:txBody>
      </p:sp>
      <p:pic>
        <p:nvPicPr>
          <p:cNvPr id="4" name="Image" descr="Image">
            <a:extLst>
              <a:ext uri="{FF2B5EF4-FFF2-40B4-BE49-F238E27FC236}">
                <a16:creationId xmlns:a16="http://schemas.microsoft.com/office/drawing/2014/main" id="{82DA179B-B726-F1B4-7D4C-3EED940F5F41}"/>
              </a:ext>
            </a:extLst>
          </p:cNvPr>
          <p:cNvPicPr>
            <a:picLocks noChangeAspect="1"/>
          </p:cNvPicPr>
          <p:nvPr/>
        </p:nvPicPr>
        <p:blipFill>
          <a:blip r:embed="rId3"/>
          <a:stretch>
            <a:fillRect/>
          </a:stretch>
        </p:blipFill>
        <p:spPr>
          <a:xfrm>
            <a:off x="838200" y="4968004"/>
            <a:ext cx="3297019" cy="1524871"/>
          </a:xfrm>
          <a:prstGeom prst="rect">
            <a:avLst/>
          </a:prstGeom>
        </p:spPr>
      </p:pic>
      <p:graphicFrame>
        <p:nvGraphicFramePr>
          <p:cNvPr id="32" name="TextBox 2">
            <a:extLst>
              <a:ext uri="{FF2B5EF4-FFF2-40B4-BE49-F238E27FC236}">
                <a16:creationId xmlns:a16="http://schemas.microsoft.com/office/drawing/2014/main" id="{33ED6297-0A6F-228D-549F-7E0ADA86CFA8}"/>
              </a:ext>
            </a:extLst>
          </p:cNvPr>
          <p:cNvGraphicFramePr/>
          <p:nvPr>
            <p:extLst>
              <p:ext uri="{D42A27DB-BD31-4B8C-83A1-F6EECF244321}">
                <p14:modId xmlns:p14="http://schemas.microsoft.com/office/powerpoint/2010/main" val="647069271"/>
              </p:ext>
            </p:extLst>
          </p:nvPr>
        </p:nvGraphicFramePr>
        <p:xfrm>
          <a:off x="5526156" y="2055813"/>
          <a:ext cx="5827644" cy="41211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descr="A qr code on a blue background&#10;&#10;AI-generated content may be incorrect.">
            <a:extLst>
              <a:ext uri="{FF2B5EF4-FFF2-40B4-BE49-F238E27FC236}">
                <a16:creationId xmlns:a16="http://schemas.microsoft.com/office/drawing/2014/main" id="{3B376E2C-CD32-D7BC-1B88-A0BFBC895560}"/>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8612" y="365125"/>
            <a:ext cx="3972007" cy="3972007"/>
          </a:xfrm>
          <a:prstGeom prst="rect">
            <a:avLst/>
          </a:prstGeom>
          <a:noFill/>
          <a:ln>
            <a:noFill/>
          </a:ln>
        </p:spPr>
      </p:pic>
    </p:spTree>
    <p:extLst>
      <p:ext uri="{BB962C8B-B14F-4D97-AF65-F5344CB8AC3E}">
        <p14:creationId xmlns:p14="http://schemas.microsoft.com/office/powerpoint/2010/main" val="3363837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733FCD0-A229-4C06-A364-F2A976CE8284}"/>
              </a:ext>
            </a:extLst>
          </p:cNvPr>
          <p:cNvSpPr>
            <a:spLocks noGrp="1"/>
          </p:cNvSpPr>
          <p:nvPr>
            <p:ph type="ctrTitle" idx="4294967295"/>
          </p:nvPr>
        </p:nvSpPr>
        <p:spPr>
          <a:xfrm>
            <a:off x="1031359" y="1846053"/>
            <a:ext cx="10504968" cy="3984904"/>
          </a:xfrm>
        </p:spPr>
        <p:txBody>
          <a:bodyPr>
            <a:noAutofit/>
          </a:bodyPr>
          <a:lstStyle/>
          <a:p>
            <a:pPr algn="ctr">
              <a:lnSpc>
                <a:spcPct val="150000"/>
              </a:lnSpc>
            </a:pPr>
            <a:r>
              <a:rPr lang="en-IE" b="1" dirty="0">
                <a:solidFill>
                  <a:srgbClr val="006666"/>
                </a:solidFill>
                <a:latin typeface="Aptos" panose="020B0004020202020204" pitchFamily="34" charset="0"/>
                <a:cs typeface="Arial" panose="020B0604020202020204" pitchFamily="34" charset="0"/>
              </a:rPr>
              <a:t>ACCESSING LEGISLATION IN THE TAXES CONSOLIDATION ACT 1997</a:t>
            </a:r>
            <a:br>
              <a:rPr lang="en-IE" b="1" dirty="0">
                <a:solidFill>
                  <a:srgbClr val="006666"/>
                </a:solidFill>
                <a:latin typeface="Aptos" panose="020B0004020202020204" pitchFamily="34" charset="0"/>
                <a:cs typeface="Arial" panose="020B0604020202020204" pitchFamily="34" charset="0"/>
              </a:rPr>
            </a:br>
            <a:r>
              <a:rPr lang="en-IE" b="1" dirty="0">
                <a:solidFill>
                  <a:srgbClr val="006666"/>
                </a:solidFill>
                <a:latin typeface="Aptos" panose="020B0004020202020204" pitchFamily="34" charset="0"/>
                <a:cs typeface="Arial" panose="020B0604020202020204" pitchFamily="34" charset="0"/>
              </a:rPr>
              <a:t>USING THE DIRECT TAXES ACT</a:t>
            </a:r>
            <a:br>
              <a:rPr lang="en-IE" sz="4800" b="1" dirty="0">
                <a:solidFill>
                  <a:srgbClr val="006666"/>
                </a:solidFill>
                <a:latin typeface="Aptos" panose="020B0004020202020204" pitchFamily="34" charset="0"/>
                <a:cs typeface="Arial" panose="020B0604020202020204" pitchFamily="34" charset="0"/>
              </a:rPr>
            </a:br>
            <a:r>
              <a:rPr lang="en-IE" sz="2000" b="1" dirty="0">
                <a:solidFill>
                  <a:srgbClr val="006666"/>
                </a:solidFill>
                <a:latin typeface="Aptos" panose="020B0004020202020204" pitchFamily="34" charset="0"/>
                <a:cs typeface="Arial" panose="020B0604020202020204" pitchFamily="34" charset="0"/>
              </a:rPr>
              <a:t>Last updated 25 September 2026</a:t>
            </a:r>
            <a:br>
              <a:rPr lang="en-IE" sz="4800" dirty="0">
                <a:solidFill>
                  <a:srgbClr val="FF0000"/>
                </a:solidFill>
                <a:latin typeface="Aptos" panose="020B0004020202020204" pitchFamily="34" charset="0"/>
                <a:cs typeface="Arial" panose="020B0604020202020204" pitchFamily="34" charset="0"/>
              </a:rPr>
            </a:br>
            <a:endParaRPr lang="en-IE" sz="4800" b="1" dirty="0">
              <a:solidFill>
                <a:srgbClr val="006666"/>
              </a:solidFill>
              <a:latin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72311265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244549"/>
            <a:ext cx="11187223" cy="121319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Direct Taxes Act &amp; The Taxes Consolidation Act 1997</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a:lnSpc>
                <a:spcPct val="120000"/>
              </a:lnSpc>
            </a:pPr>
            <a:r>
              <a:rPr lang="en-IE" sz="2400" dirty="0">
                <a:solidFill>
                  <a:schemeClr val="accent1">
                    <a:lumMod val="50000"/>
                  </a:schemeClr>
                </a:solidFill>
                <a:latin typeface="Aptos" panose="020B0004020202020204" pitchFamily="34" charset="0"/>
              </a:rPr>
              <a:t>Each year the Minister for Finance presents a </a:t>
            </a:r>
            <a:r>
              <a:rPr lang="en-IE" sz="2400" b="1" dirty="0">
                <a:solidFill>
                  <a:schemeClr val="accent1">
                    <a:lumMod val="50000"/>
                  </a:schemeClr>
                </a:solidFill>
                <a:latin typeface="Aptos" panose="020B0004020202020204" pitchFamily="34" charset="0"/>
              </a:rPr>
              <a:t>Finance Bill </a:t>
            </a:r>
            <a:r>
              <a:rPr lang="en-IE" sz="2400" dirty="0">
                <a:solidFill>
                  <a:schemeClr val="accent1">
                    <a:lumMod val="50000"/>
                  </a:schemeClr>
                </a:solidFill>
                <a:latin typeface="Aptos" panose="020B0004020202020204" pitchFamily="34" charset="0"/>
              </a:rPr>
              <a:t>which becomes the </a:t>
            </a:r>
            <a:r>
              <a:rPr lang="en-IE" sz="2400" b="1" dirty="0">
                <a:solidFill>
                  <a:schemeClr val="accent1">
                    <a:lumMod val="50000"/>
                  </a:schemeClr>
                </a:solidFill>
                <a:latin typeface="Aptos" panose="020B0004020202020204" pitchFamily="34" charset="0"/>
              </a:rPr>
              <a:t>Finance Act (F.A.) </a:t>
            </a:r>
            <a:r>
              <a:rPr lang="en-IE" sz="2400" dirty="0">
                <a:solidFill>
                  <a:schemeClr val="accent1">
                    <a:lumMod val="50000"/>
                  </a:schemeClr>
                </a:solidFill>
                <a:latin typeface="Aptos" panose="020B0004020202020204" pitchFamily="34" charset="0"/>
              </a:rPr>
              <a:t>when passed by the Oireachtas</a:t>
            </a:r>
          </a:p>
          <a:p>
            <a:pPr>
              <a:lnSpc>
                <a:spcPct val="120000"/>
              </a:lnSpc>
            </a:pPr>
            <a:r>
              <a:rPr lang="en-IE" sz="2400" dirty="0">
                <a:solidFill>
                  <a:schemeClr val="accent1">
                    <a:lumMod val="50000"/>
                  </a:schemeClr>
                </a:solidFill>
                <a:latin typeface="Aptos" panose="020B0004020202020204" pitchFamily="34" charset="0"/>
              </a:rPr>
              <a:t>The Finance Act is the legislative mechanism by which details of the annual budget’s tax proposals are enacted into law, modifying the existing </a:t>
            </a:r>
            <a:r>
              <a:rPr lang="en-IE" sz="2400" b="1" dirty="0">
                <a:solidFill>
                  <a:schemeClr val="accent1">
                    <a:lumMod val="50000"/>
                  </a:schemeClr>
                </a:solidFill>
                <a:latin typeface="Aptos" panose="020B0004020202020204" pitchFamily="34" charset="0"/>
              </a:rPr>
              <a:t>Direct Tax Act</a:t>
            </a:r>
          </a:p>
          <a:p>
            <a:pPr>
              <a:lnSpc>
                <a:spcPct val="120000"/>
              </a:lnSpc>
            </a:pPr>
            <a:r>
              <a:rPr lang="en-IE" sz="2400" dirty="0">
                <a:solidFill>
                  <a:schemeClr val="accent1">
                    <a:lumMod val="50000"/>
                  </a:schemeClr>
                </a:solidFill>
                <a:latin typeface="Aptos" panose="020B0004020202020204" pitchFamily="34" charset="0"/>
              </a:rPr>
              <a:t>This </a:t>
            </a:r>
            <a:r>
              <a:rPr lang="en-IE" sz="2400" b="1" dirty="0">
                <a:solidFill>
                  <a:schemeClr val="accent1">
                    <a:lumMod val="50000"/>
                  </a:schemeClr>
                </a:solidFill>
                <a:latin typeface="Aptos" panose="020B0004020202020204" pitchFamily="34" charset="0"/>
              </a:rPr>
              <a:t>annual</a:t>
            </a:r>
            <a:r>
              <a:rPr lang="en-IE" sz="2400" dirty="0">
                <a:solidFill>
                  <a:schemeClr val="accent1">
                    <a:lumMod val="50000"/>
                  </a:schemeClr>
                </a:solidFill>
                <a:latin typeface="Aptos" panose="020B0004020202020204" pitchFamily="34" charset="0"/>
              </a:rPr>
              <a:t> Finance Act introduces new provisions, repeals existing provisions and makes technical amendments where required</a:t>
            </a:r>
          </a:p>
          <a:p>
            <a:pPr>
              <a:lnSpc>
                <a:spcPct val="120000"/>
              </a:lnSpc>
            </a:pPr>
            <a:r>
              <a:rPr lang="en-IE" sz="2400" dirty="0">
                <a:solidFill>
                  <a:schemeClr val="accent1">
                    <a:lumMod val="50000"/>
                  </a:schemeClr>
                </a:solidFill>
                <a:latin typeface="Aptos" panose="020B0004020202020204" pitchFamily="34" charset="0"/>
              </a:rPr>
              <a:t>The </a:t>
            </a:r>
            <a:r>
              <a:rPr lang="en-IE" sz="2400" b="1" dirty="0">
                <a:solidFill>
                  <a:schemeClr val="accent1">
                    <a:lumMod val="50000"/>
                  </a:schemeClr>
                </a:solidFill>
                <a:latin typeface="Aptos" panose="020B0004020202020204" pitchFamily="34" charset="0"/>
              </a:rPr>
              <a:t>Taxes Consolidation Act 1997 within the Direct Taxes Act </a:t>
            </a:r>
            <a:r>
              <a:rPr lang="en-IE" sz="2400" dirty="0">
                <a:solidFill>
                  <a:schemeClr val="accent1">
                    <a:lumMod val="50000"/>
                  </a:schemeClr>
                </a:solidFill>
                <a:latin typeface="Aptos" panose="020B0004020202020204" pitchFamily="34" charset="0"/>
              </a:rPr>
              <a:t>contains all sections of the legislation from </a:t>
            </a:r>
            <a:r>
              <a:rPr lang="en-IE" sz="2400" b="1" dirty="0">
                <a:solidFill>
                  <a:schemeClr val="accent1">
                    <a:lumMod val="50000"/>
                  </a:schemeClr>
                </a:solidFill>
                <a:latin typeface="Aptos" panose="020B0004020202020204" pitchFamily="34" charset="0"/>
              </a:rPr>
              <a:t>Section 1 to Section 1104</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529958" y="6326788"/>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6631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244549"/>
            <a:ext cx="11187223" cy="121319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Direct Taxes Act – ‘Schedules’</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a:lnSpc>
                <a:spcPct val="120000"/>
              </a:lnSpc>
            </a:pPr>
            <a:r>
              <a:rPr lang="en-IE" sz="2400" b="1" dirty="0">
                <a:solidFill>
                  <a:schemeClr val="accent1">
                    <a:lumMod val="50000"/>
                  </a:schemeClr>
                </a:solidFill>
                <a:latin typeface="Aptos" panose="020B0004020202020204" pitchFamily="34" charset="0"/>
              </a:rPr>
              <a:t>Schedules </a:t>
            </a:r>
            <a:r>
              <a:rPr lang="en-IE" sz="2400" dirty="0">
                <a:solidFill>
                  <a:schemeClr val="accent1">
                    <a:lumMod val="50000"/>
                  </a:schemeClr>
                </a:solidFill>
                <a:latin typeface="Aptos" panose="020B0004020202020204" pitchFamily="34" charset="0"/>
              </a:rPr>
              <a:t>in the Direct Taxes Act support legislation by providing specific detailed rules and mechanisms which elaborate on the general principles established in the main body of the Act </a:t>
            </a:r>
          </a:p>
          <a:p>
            <a:pPr>
              <a:lnSpc>
                <a:spcPct val="120000"/>
              </a:lnSpc>
            </a:pPr>
            <a:endParaRPr lang="en-IE" sz="2400"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The </a:t>
            </a:r>
            <a:r>
              <a:rPr lang="en-IE" sz="2400" b="1" dirty="0">
                <a:solidFill>
                  <a:schemeClr val="accent1">
                    <a:lumMod val="50000"/>
                  </a:schemeClr>
                </a:solidFill>
                <a:latin typeface="Aptos" panose="020B0004020202020204" pitchFamily="34" charset="0"/>
              </a:rPr>
              <a:t>main body of the Act </a:t>
            </a:r>
            <a:r>
              <a:rPr lang="en-IE" sz="2400" dirty="0">
                <a:solidFill>
                  <a:schemeClr val="accent1">
                    <a:lumMod val="50000"/>
                  </a:schemeClr>
                </a:solidFill>
                <a:latin typeface="Aptos" panose="020B0004020202020204" pitchFamily="34" charset="0"/>
              </a:rPr>
              <a:t>may state that </a:t>
            </a:r>
            <a:r>
              <a:rPr lang="en-IE" sz="2400" b="1" dirty="0">
                <a:solidFill>
                  <a:schemeClr val="accent1">
                    <a:lumMod val="50000"/>
                  </a:schemeClr>
                </a:solidFill>
                <a:latin typeface="Aptos" panose="020B0004020202020204" pitchFamily="34" charset="0"/>
              </a:rPr>
              <a:t>certain types of income </a:t>
            </a:r>
            <a:r>
              <a:rPr lang="en-IE" sz="2400" dirty="0">
                <a:solidFill>
                  <a:schemeClr val="accent1">
                    <a:lumMod val="50000"/>
                  </a:schemeClr>
                </a:solidFill>
                <a:latin typeface="Aptos" panose="020B0004020202020204" pitchFamily="34" charset="0"/>
              </a:rPr>
              <a:t>are subject to tax, and the relevant </a:t>
            </a:r>
            <a:r>
              <a:rPr lang="en-IE" sz="2400" b="1" dirty="0">
                <a:solidFill>
                  <a:schemeClr val="accent1">
                    <a:lumMod val="50000"/>
                  </a:schemeClr>
                </a:solidFill>
                <a:latin typeface="Aptos" panose="020B0004020202020204" pitchFamily="34" charset="0"/>
              </a:rPr>
              <a:t>Schedule</a:t>
            </a:r>
            <a:r>
              <a:rPr lang="en-IE" sz="2400" dirty="0">
                <a:solidFill>
                  <a:schemeClr val="accent1">
                    <a:lumMod val="50000"/>
                  </a:schemeClr>
                </a:solidFill>
                <a:latin typeface="Aptos" panose="020B0004020202020204" pitchFamily="34" charset="0"/>
              </a:rPr>
              <a:t> will then define the </a:t>
            </a:r>
            <a:r>
              <a:rPr lang="en-IE" sz="2400" b="1" dirty="0">
                <a:solidFill>
                  <a:schemeClr val="accent1">
                    <a:lumMod val="50000"/>
                  </a:schemeClr>
                </a:solidFill>
                <a:latin typeface="Aptos" panose="020B0004020202020204" pitchFamily="34" charset="0"/>
              </a:rPr>
              <a:t>specific types </a:t>
            </a:r>
            <a:r>
              <a:rPr lang="en-IE" sz="2400" dirty="0">
                <a:solidFill>
                  <a:schemeClr val="accent1">
                    <a:lumMod val="50000"/>
                  </a:schemeClr>
                </a:solidFill>
                <a:latin typeface="Aptos" panose="020B0004020202020204" pitchFamily="34" charset="0"/>
              </a:rPr>
              <a:t>of income that fall under each category</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529958" y="6326788"/>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80614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191802"/>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Schedule 1 to Schedule 36</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244929" y="947057"/>
            <a:ext cx="11560991" cy="5061095"/>
          </a:xfrm>
        </p:spPr>
        <p:txBody>
          <a:bodyPr>
            <a:normAutofit/>
          </a:bodyPr>
          <a:lstStyle/>
          <a:p>
            <a:pPr>
              <a:lnSpc>
                <a:spcPct val="120000"/>
              </a:lnSpc>
            </a:pPr>
            <a:r>
              <a:rPr lang="en-IE" sz="2400" b="1" dirty="0">
                <a:solidFill>
                  <a:schemeClr val="accent1">
                    <a:lumMod val="50000"/>
                  </a:schemeClr>
                </a:solidFill>
                <a:latin typeface="Aptos" panose="020B0004020202020204" pitchFamily="34" charset="0"/>
              </a:rPr>
              <a:t>‘Schedules’ 1-36</a:t>
            </a:r>
            <a:r>
              <a:rPr lang="en-IE" sz="2400" dirty="0">
                <a:solidFill>
                  <a:schemeClr val="accent1">
                    <a:lumMod val="50000"/>
                  </a:schemeClr>
                </a:solidFill>
                <a:latin typeface="Aptos" panose="020B0004020202020204" pitchFamily="34" charset="0"/>
              </a:rPr>
              <a:t>, immediately follow Section 1104</a:t>
            </a:r>
          </a:p>
          <a:p>
            <a:pPr>
              <a:lnSpc>
                <a:spcPct val="120000"/>
              </a:lnSpc>
            </a:pPr>
            <a:r>
              <a:rPr lang="en-IE" sz="2400" dirty="0">
                <a:solidFill>
                  <a:schemeClr val="accent1">
                    <a:lumMod val="50000"/>
                  </a:schemeClr>
                </a:solidFill>
                <a:latin typeface="Aptos" panose="020B0004020202020204" pitchFamily="34" charset="0"/>
              </a:rPr>
              <a:t>These schedules are used to support or provide additional information with regard to different sections of the legislation. (</a:t>
            </a:r>
            <a:r>
              <a:rPr lang="en-IE" sz="2400" i="1" dirty="0">
                <a:solidFill>
                  <a:schemeClr val="accent1">
                    <a:lumMod val="50000"/>
                  </a:schemeClr>
                </a:solidFill>
                <a:latin typeface="Aptos" panose="020B0004020202020204" pitchFamily="34" charset="0"/>
              </a:rPr>
              <a:t>Extract from Schedule 1 and Schedule 36 below</a:t>
            </a:r>
            <a:r>
              <a:rPr lang="en-IE" sz="2400" dirty="0">
                <a:solidFill>
                  <a:schemeClr val="accent1">
                    <a:lumMod val="50000"/>
                  </a:schemeClr>
                </a:solidFill>
                <a:latin typeface="Aptos" panose="020B0004020202020204" pitchFamily="34" charset="0"/>
              </a:rPr>
              <a:t>)</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CFF1AE6-6683-0B04-6E73-3E53B9E8C666}"/>
              </a:ext>
            </a:extLst>
          </p:cNvPr>
          <p:cNvPicPr>
            <a:picLocks noChangeAspect="1"/>
          </p:cNvPicPr>
          <p:nvPr/>
        </p:nvPicPr>
        <p:blipFill>
          <a:blip r:embed="rId4"/>
          <a:stretch>
            <a:fillRect/>
          </a:stretch>
        </p:blipFill>
        <p:spPr>
          <a:xfrm>
            <a:off x="146118" y="2896264"/>
            <a:ext cx="5635398" cy="3306398"/>
          </a:xfrm>
          <a:prstGeom prst="rect">
            <a:avLst/>
          </a:prstGeom>
        </p:spPr>
      </p:pic>
      <p:pic>
        <p:nvPicPr>
          <p:cNvPr id="9" name="Picture 8">
            <a:extLst>
              <a:ext uri="{FF2B5EF4-FFF2-40B4-BE49-F238E27FC236}">
                <a16:creationId xmlns:a16="http://schemas.microsoft.com/office/drawing/2014/main" id="{A4563F74-BC41-7509-AB54-0E38F378E045}"/>
              </a:ext>
            </a:extLst>
          </p:cNvPr>
          <p:cNvPicPr>
            <a:picLocks noChangeAspect="1"/>
          </p:cNvPicPr>
          <p:nvPr/>
        </p:nvPicPr>
        <p:blipFill>
          <a:blip r:embed="rId5"/>
          <a:stretch>
            <a:fillRect/>
          </a:stretch>
        </p:blipFill>
        <p:spPr>
          <a:xfrm>
            <a:off x="6276561" y="2896264"/>
            <a:ext cx="5287362" cy="3197495"/>
          </a:xfrm>
          <a:prstGeom prst="rect">
            <a:avLst/>
          </a:prstGeom>
        </p:spPr>
      </p:pic>
      <p:cxnSp>
        <p:nvCxnSpPr>
          <p:cNvPr id="11" name="Straight Connector 10">
            <a:extLst>
              <a:ext uri="{FF2B5EF4-FFF2-40B4-BE49-F238E27FC236}">
                <a16:creationId xmlns:a16="http://schemas.microsoft.com/office/drawing/2014/main" id="{3B28A3AD-61AC-BA7C-34A2-630F051D80C9}"/>
              </a:ext>
            </a:extLst>
          </p:cNvPr>
          <p:cNvCxnSpPr>
            <a:cxnSpLocks/>
          </p:cNvCxnSpPr>
          <p:nvPr/>
        </p:nvCxnSpPr>
        <p:spPr>
          <a:xfrm>
            <a:off x="6000463" y="2634938"/>
            <a:ext cx="0" cy="38393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7E6DFB5-6B68-3C35-0435-D6A5639E2ADF}"/>
              </a:ext>
            </a:extLst>
          </p:cNvPr>
          <p:cNvCxnSpPr/>
          <p:nvPr/>
        </p:nvCxnSpPr>
        <p:spPr>
          <a:xfrm>
            <a:off x="146118" y="2539093"/>
            <a:ext cx="114798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4286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191802"/>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Class Exercise – Schedules 4A &amp; 13</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5341928"/>
          </a:xfrm>
        </p:spPr>
        <p:txBody>
          <a:bodyPr>
            <a:normAutofit/>
          </a:bodyPr>
          <a:lstStyle/>
          <a:p>
            <a:pPr marL="0" indent="0">
              <a:lnSpc>
                <a:spcPct val="120000"/>
              </a:lnSpc>
              <a:buNone/>
            </a:pPr>
            <a:r>
              <a:rPr lang="en-IE" sz="2400" b="1" dirty="0">
                <a:solidFill>
                  <a:srgbClr val="006666"/>
                </a:solidFill>
                <a:latin typeface="Aptos" panose="020B0004020202020204" pitchFamily="34" charset="0"/>
              </a:rPr>
              <a:t>1) Go to Schedule 4A</a:t>
            </a:r>
            <a:endParaRPr lang="en-IE" sz="2400" dirty="0">
              <a:solidFill>
                <a:srgbClr val="006666"/>
              </a:solidFill>
              <a:latin typeface="Aptos" panose="020B0004020202020204" pitchFamily="34" charset="0"/>
            </a:endParaRPr>
          </a:p>
          <a:p>
            <a:pPr>
              <a:lnSpc>
                <a:spcPct val="120000"/>
              </a:lnSpc>
            </a:pPr>
            <a:r>
              <a:rPr lang="en-IE" sz="2400" dirty="0">
                <a:solidFill>
                  <a:srgbClr val="006666"/>
                </a:solidFill>
                <a:latin typeface="Aptos" panose="020B0004020202020204" pitchFamily="34" charset="0"/>
              </a:rPr>
              <a:t>The table in Schedule 4A provides a list of the allowable classes of technology and the minimum spend as regards the provisions for claiming accelerated capital allowances for energy efficient equipment.</a:t>
            </a:r>
          </a:p>
          <a:p>
            <a:pPr>
              <a:lnSpc>
                <a:spcPct val="120000"/>
              </a:lnSpc>
            </a:pPr>
            <a:r>
              <a:rPr lang="en-IE" sz="2400" b="1" dirty="0">
                <a:solidFill>
                  <a:srgbClr val="006666"/>
                </a:solidFill>
                <a:latin typeface="Aptos" panose="020B0004020202020204" pitchFamily="34" charset="0"/>
              </a:rPr>
              <a:t>Identify the section of the legislation to which this schedule &amp; table refers</a:t>
            </a:r>
          </a:p>
          <a:p>
            <a:pPr marL="0" indent="0">
              <a:lnSpc>
                <a:spcPct val="120000"/>
              </a:lnSpc>
              <a:buNone/>
            </a:pPr>
            <a:endParaRPr lang="en-IE" sz="2400" b="1" dirty="0">
              <a:solidFill>
                <a:srgbClr val="006666"/>
              </a:solidFill>
              <a:latin typeface="Aptos" panose="020B0004020202020204" pitchFamily="34" charset="0"/>
            </a:endParaRPr>
          </a:p>
          <a:p>
            <a:pPr marL="0" indent="0">
              <a:lnSpc>
                <a:spcPct val="120000"/>
              </a:lnSpc>
              <a:buNone/>
            </a:pPr>
            <a:r>
              <a:rPr lang="en-IE" sz="2400" b="1" dirty="0">
                <a:solidFill>
                  <a:srgbClr val="006666"/>
                </a:solidFill>
                <a:latin typeface="Aptos" panose="020B0004020202020204" pitchFamily="34" charset="0"/>
              </a:rPr>
              <a:t>2) Go to Schedule 13 </a:t>
            </a:r>
            <a:r>
              <a:rPr lang="en-IE" sz="2400" dirty="0">
                <a:solidFill>
                  <a:srgbClr val="006666"/>
                </a:solidFill>
                <a:latin typeface="Aptos" panose="020B0004020202020204" pitchFamily="34" charset="0"/>
              </a:rPr>
              <a:t>which</a:t>
            </a:r>
            <a:r>
              <a:rPr lang="en-IE" sz="2400" b="1" dirty="0">
                <a:solidFill>
                  <a:srgbClr val="006666"/>
                </a:solidFill>
                <a:latin typeface="Aptos" panose="020B0004020202020204" pitchFamily="34" charset="0"/>
              </a:rPr>
              <a:t> </a:t>
            </a:r>
            <a:r>
              <a:rPr lang="en-IE" sz="2400" dirty="0">
                <a:solidFill>
                  <a:srgbClr val="006666"/>
                </a:solidFill>
                <a:latin typeface="Aptos" panose="020B0004020202020204" pitchFamily="34" charset="0"/>
              </a:rPr>
              <a:t>provides a list of all persons who are accountable persons for the purposes of the Professional Services Withholding Tax (PSWT) legislation </a:t>
            </a:r>
          </a:p>
          <a:p>
            <a:pPr>
              <a:lnSpc>
                <a:spcPct val="120000"/>
              </a:lnSpc>
            </a:pPr>
            <a:r>
              <a:rPr lang="en-IE" sz="2400" b="1" dirty="0">
                <a:solidFill>
                  <a:srgbClr val="006666"/>
                </a:solidFill>
                <a:latin typeface="Aptos" panose="020B0004020202020204" pitchFamily="34" charset="0"/>
              </a:rPr>
              <a:t>Find ‘The Revenue Commissioners’ &amp; ‘Uisce Éireann’</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68286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71449"/>
            <a:ext cx="10126717" cy="865415"/>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The ‘Contents’ List</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206631"/>
            <a:ext cx="10888744" cy="4801521"/>
          </a:xfrm>
        </p:spPr>
        <p:txBody>
          <a:bodyPr>
            <a:normAutofit fontScale="92500" lnSpcReduction="20000"/>
          </a:bodyPr>
          <a:lstStyle/>
          <a:p>
            <a:pPr marL="0" indent="0">
              <a:lnSpc>
                <a:spcPct val="120000"/>
              </a:lnSpc>
              <a:buNone/>
            </a:pPr>
            <a:r>
              <a:rPr lang="en-IE" sz="2400" dirty="0">
                <a:solidFill>
                  <a:schemeClr val="accent1">
                    <a:lumMod val="50000"/>
                  </a:schemeClr>
                </a:solidFill>
                <a:latin typeface="Aptos" panose="020B0004020202020204" pitchFamily="34" charset="0"/>
              </a:rPr>
              <a:t>The </a:t>
            </a:r>
            <a:r>
              <a:rPr lang="en-IE" sz="2400" b="1" dirty="0">
                <a:solidFill>
                  <a:schemeClr val="accent1">
                    <a:lumMod val="50000"/>
                  </a:schemeClr>
                </a:solidFill>
                <a:latin typeface="Aptos" panose="020B0004020202020204" pitchFamily="34" charset="0"/>
              </a:rPr>
              <a:t>‘Contents’ </a:t>
            </a:r>
            <a:r>
              <a:rPr lang="en-IE" sz="2400" dirty="0">
                <a:solidFill>
                  <a:schemeClr val="accent1">
                    <a:lumMod val="50000"/>
                  </a:schemeClr>
                </a:solidFill>
                <a:latin typeface="Aptos" panose="020B0004020202020204" pitchFamily="34" charset="0"/>
              </a:rPr>
              <a:t>list provides a list of all sources of information contained within the TCA. Page numbers for the content’s list are Roman Numerals</a:t>
            </a:r>
          </a:p>
          <a:p>
            <a:pPr marL="0" indent="0">
              <a:lnSpc>
                <a:spcPct val="120000"/>
              </a:lnSpc>
              <a:buNone/>
            </a:pPr>
            <a:r>
              <a:rPr lang="en-IE" sz="2400" dirty="0">
                <a:solidFill>
                  <a:schemeClr val="accent1">
                    <a:lumMod val="50000"/>
                  </a:schemeClr>
                </a:solidFill>
                <a:latin typeface="Aptos" panose="020B0004020202020204" pitchFamily="34" charset="0"/>
              </a:rPr>
              <a:t>The ‘Contents’ list includes: </a:t>
            </a:r>
          </a:p>
          <a:p>
            <a:pPr marL="0" indent="0">
              <a:lnSpc>
                <a:spcPct val="120000"/>
              </a:lnSpc>
              <a:buNone/>
            </a:pPr>
            <a:endParaRPr lang="en-IE" sz="1000" dirty="0">
              <a:solidFill>
                <a:schemeClr val="accent1">
                  <a:lumMod val="50000"/>
                </a:schemeClr>
              </a:solidFill>
              <a:latin typeface="Aptos" panose="020B0004020202020204" pitchFamily="34" charset="0"/>
            </a:endParaRPr>
          </a:p>
          <a:p>
            <a:pPr lvl="1">
              <a:lnSpc>
                <a:spcPct val="120000"/>
              </a:lnSpc>
            </a:pPr>
            <a:r>
              <a:rPr lang="en-IE" dirty="0">
                <a:solidFill>
                  <a:schemeClr val="accent1">
                    <a:lumMod val="50000"/>
                  </a:schemeClr>
                </a:solidFill>
                <a:latin typeface="Aptos" panose="020B0004020202020204" pitchFamily="34" charset="0"/>
              </a:rPr>
              <a:t>Provisional Collection of Taxes Act 1927</a:t>
            </a:r>
          </a:p>
          <a:p>
            <a:pPr lvl="1">
              <a:lnSpc>
                <a:spcPct val="120000"/>
              </a:lnSpc>
            </a:pPr>
            <a:r>
              <a:rPr lang="en-IE" dirty="0">
                <a:solidFill>
                  <a:schemeClr val="accent1">
                    <a:lumMod val="50000"/>
                  </a:schemeClr>
                </a:solidFill>
                <a:latin typeface="Aptos" panose="020B0004020202020204" pitchFamily="34" charset="0"/>
              </a:rPr>
              <a:t>Waiver of Certain Tax, Interest and Penalties Act 1993</a:t>
            </a:r>
          </a:p>
          <a:p>
            <a:pPr lvl="1">
              <a:lnSpc>
                <a:spcPct val="120000"/>
              </a:lnSpc>
            </a:pPr>
            <a:r>
              <a:rPr lang="en-IE" dirty="0">
                <a:solidFill>
                  <a:schemeClr val="accent1">
                    <a:lumMod val="50000"/>
                  </a:schemeClr>
                </a:solidFill>
                <a:latin typeface="Aptos" panose="020B0004020202020204" pitchFamily="34" charset="0"/>
              </a:rPr>
              <a:t>Interpretation Act 2005</a:t>
            </a:r>
          </a:p>
          <a:p>
            <a:pPr lvl="1">
              <a:lnSpc>
                <a:spcPct val="120000"/>
              </a:lnSpc>
            </a:pPr>
            <a:r>
              <a:rPr lang="en-IE" dirty="0">
                <a:solidFill>
                  <a:schemeClr val="accent1">
                    <a:lumMod val="50000"/>
                  </a:schemeClr>
                </a:solidFill>
                <a:latin typeface="Aptos" panose="020B0004020202020204" pitchFamily="34" charset="0"/>
              </a:rPr>
              <a:t>Finance (Tax Appeals) Act 2015</a:t>
            </a:r>
          </a:p>
          <a:p>
            <a:pPr lvl="1">
              <a:lnSpc>
                <a:spcPct val="120000"/>
              </a:lnSpc>
            </a:pPr>
            <a:r>
              <a:rPr lang="en-IE" dirty="0">
                <a:solidFill>
                  <a:schemeClr val="accent1">
                    <a:lumMod val="50000"/>
                  </a:schemeClr>
                </a:solidFill>
                <a:latin typeface="Aptos" panose="020B0004020202020204" pitchFamily="34" charset="0"/>
              </a:rPr>
              <a:t>Emergency Measures in the Public Interest (Covid Act) 2020</a:t>
            </a:r>
          </a:p>
          <a:p>
            <a:pPr lvl="1">
              <a:lnSpc>
                <a:spcPct val="120000"/>
              </a:lnSpc>
            </a:pPr>
            <a:r>
              <a:rPr lang="en-IE" b="1" dirty="0">
                <a:solidFill>
                  <a:schemeClr val="accent1">
                    <a:lumMod val="50000"/>
                  </a:schemeClr>
                </a:solidFill>
                <a:latin typeface="Aptos" panose="020B0004020202020204" pitchFamily="34" charset="0"/>
              </a:rPr>
              <a:t>Taxes Consolidation Act 1997</a:t>
            </a:r>
          </a:p>
          <a:p>
            <a:pPr lvl="1">
              <a:lnSpc>
                <a:spcPct val="120000"/>
              </a:lnSpc>
            </a:pPr>
            <a:r>
              <a:rPr lang="en-IE" b="1" dirty="0">
                <a:solidFill>
                  <a:schemeClr val="accent1">
                    <a:lumMod val="50000"/>
                  </a:schemeClr>
                </a:solidFill>
                <a:latin typeface="Aptos" panose="020B0004020202020204" pitchFamily="34" charset="0"/>
              </a:rPr>
              <a:t>Schedules</a:t>
            </a:r>
          </a:p>
          <a:p>
            <a:pPr lvl="1">
              <a:lnSpc>
                <a:spcPct val="120000"/>
              </a:lnSpc>
            </a:pPr>
            <a:r>
              <a:rPr lang="en-IE" b="1" dirty="0">
                <a:solidFill>
                  <a:schemeClr val="accent1">
                    <a:lumMod val="50000"/>
                  </a:schemeClr>
                </a:solidFill>
                <a:latin typeface="Aptos" panose="020B0004020202020204" pitchFamily="34" charset="0"/>
              </a:rPr>
              <a:t>Regulations</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094965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Taxes Consolidation Act 1997 (TCA)</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marL="0" indent="0">
              <a:lnSpc>
                <a:spcPct val="120000"/>
              </a:lnSpc>
              <a:buNone/>
            </a:pPr>
            <a:r>
              <a:rPr lang="en-IE" sz="2400" b="1" dirty="0">
                <a:solidFill>
                  <a:schemeClr val="accent1">
                    <a:lumMod val="50000"/>
                  </a:schemeClr>
                </a:solidFill>
                <a:latin typeface="Aptos" panose="020B0004020202020204" pitchFamily="34" charset="0"/>
              </a:rPr>
              <a:t>The Taxes Consolidation Act contains:</a:t>
            </a:r>
          </a:p>
          <a:p>
            <a:pPr>
              <a:lnSpc>
                <a:spcPct val="120000"/>
              </a:lnSpc>
            </a:pPr>
            <a:r>
              <a:rPr lang="en-IE" sz="2400" b="1" dirty="0">
                <a:solidFill>
                  <a:schemeClr val="accent1">
                    <a:lumMod val="50000"/>
                  </a:schemeClr>
                </a:solidFill>
                <a:latin typeface="Aptos" panose="020B0004020202020204" pitchFamily="34" charset="0"/>
              </a:rPr>
              <a:t>Part 1 to Part 49 </a:t>
            </a:r>
            <a:r>
              <a:rPr lang="en-IE" sz="2400" dirty="0">
                <a:solidFill>
                  <a:schemeClr val="accent1">
                    <a:lumMod val="50000"/>
                  </a:schemeClr>
                </a:solidFill>
                <a:latin typeface="Aptos" panose="020B0004020202020204" pitchFamily="34" charset="0"/>
              </a:rPr>
              <a:t>of the TCA 1997</a:t>
            </a:r>
          </a:p>
          <a:p>
            <a:pPr>
              <a:lnSpc>
                <a:spcPct val="120000"/>
              </a:lnSpc>
            </a:pPr>
            <a:r>
              <a:rPr lang="en-IE" sz="2400" dirty="0">
                <a:solidFill>
                  <a:schemeClr val="accent1">
                    <a:lumMod val="50000"/>
                  </a:schemeClr>
                </a:solidFill>
                <a:latin typeface="Aptos" panose="020B0004020202020204" pitchFamily="34" charset="0"/>
              </a:rPr>
              <a:t>Each Part may contain </a:t>
            </a:r>
            <a:r>
              <a:rPr lang="en-IE" sz="2400" b="1" dirty="0">
                <a:solidFill>
                  <a:schemeClr val="accent1">
                    <a:lumMod val="50000"/>
                  </a:schemeClr>
                </a:solidFill>
                <a:latin typeface="Aptos" panose="020B0004020202020204" pitchFamily="34" charset="0"/>
              </a:rPr>
              <a:t>‘Chapters’</a:t>
            </a:r>
          </a:p>
          <a:p>
            <a:pPr>
              <a:lnSpc>
                <a:spcPct val="120000"/>
              </a:lnSpc>
            </a:pPr>
            <a:r>
              <a:rPr lang="en-IE" sz="2400" dirty="0">
                <a:solidFill>
                  <a:schemeClr val="accent1">
                    <a:lumMod val="50000"/>
                  </a:schemeClr>
                </a:solidFill>
                <a:latin typeface="Aptos" panose="020B0004020202020204" pitchFamily="34" charset="0"/>
              </a:rPr>
              <a:t>Each Part and Chapter will contain </a:t>
            </a:r>
            <a:r>
              <a:rPr lang="en-IE" sz="2400" b="1" dirty="0">
                <a:solidFill>
                  <a:schemeClr val="accent1">
                    <a:lumMod val="50000"/>
                  </a:schemeClr>
                </a:solidFill>
                <a:latin typeface="Aptos" panose="020B0004020202020204" pitchFamily="34" charset="0"/>
              </a:rPr>
              <a:t>‘Sections’ </a:t>
            </a:r>
            <a:r>
              <a:rPr lang="en-IE" sz="2400" dirty="0">
                <a:solidFill>
                  <a:schemeClr val="accent1">
                    <a:lumMod val="50000"/>
                  </a:schemeClr>
                </a:solidFill>
                <a:latin typeface="Aptos" panose="020B0004020202020204" pitchFamily="34" charset="0"/>
              </a:rPr>
              <a:t>of the legislation</a:t>
            </a:r>
          </a:p>
          <a:p>
            <a:pPr>
              <a:lnSpc>
                <a:spcPct val="120000"/>
              </a:lnSpc>
            </a:pPr>
            <a:r>
              <a:rPr lang="en-IE" sz="2400" dirty="0">
                <a:solidFill>
                  <a:schemeClr val="accent1">
                    <a:lumMod val="50000"/>
                  </a:schemeClr>
                </a:solidFill>
                <a:latin typeface="Aptos" panose="020B0004020202020204" pitchFamily="34" charset="0"/>
              </a:rPr>
              <a:t>Sections of the legislation may contain </a:t>
            </a:r>
            <a:r>
              <a:rPr lang="en-IE" sz="2400" b="1" dirty="0">
                <a:solidFill>
                  <a:schemeClr val="accent1">
                    <a:lumMod val="50000"/>
                  </a:schemeClr>
                </a:solidFill>
                <a:latin typeface="Aptos" panose="020B0004020202020204" pitchFamily="34" charset="0"/>
              </a:rPr>
              <a:t>‘Subsections’</a:t>
            </a:r>
          </a:p>
          <a:p>
            <a:pPr>
              <a:lnSpc>
                <a:spcPct val="120000"/>
              </a:lnSpc>
            </a:pPr>
            <a:r>
              <a:rPr lang="en-IE" sz="2400" dirty="0">
                <a:solidFill>
                  <a:schemeClr val="accent1">
                    <a:lumMod val="50000"/>
                  </a:schemeClr>
                </a:solidFill>
                <a:latin typeface="Aptos" panose="020B0004020202020204" pitchFamily="34" charset="0"/>
              </a:rPr>
              <a:t>Subsections may contain </a:t>
            </a:r>
            <a:r>
              <a:rPr lang="en-IE" sz="2400" b="1" dirty="0">
                <a:solidFill>
                  <a:schemeClr val="accent1">
                    <a:lumMod val="50000"/>
                  </a:schemeClr>
                </a:solidFill>
                <a:latin typeface="Aptos" panose="020B0004020202020204" pitchFamily="34" charset="0"/>
              </a:rPr>
              <a:t>‘Paragraphs’ and ‘Subparagraphs’</a:t>
            </a:r>
          </a:p>
          <a:p>
            <a:pPr>
              <a:lnSpc>
                <a:spcPct val="120000"/>
              </a:lnSpc>
            </a:pPr>
            <a:r>
              <a:rPr lang="en-IE" sz="2400" dirty="0">
                <a:solidFill>
                  <a:schemeClr val="accent1">
                    <a:lumMod val="50000"/>
                  </a:schemeClr>
                </a:solidFill>
                <a:latin typeface="Aptos" panose="020B0004020202020204" pitchFamily="34" charset="0"/>
              </a:rPr>
              <a:t>Subparagraphs may contain </a:t>
            </a:r>
            <a:r>
              <a:rPr lang="en-IE" sz="2400" b="1" dirty="0">
                <a:solidFill>
                  <a:schemeClr val="accent1">
                    <a:lumMod val="50000"/>
                  </a:schemeClr>
                </a:solidFill>
                <a:latin typeface="Aptos" panose="020B0004020202020204" pitchFamily="34" charset="0"/>
              </a:rPr>
              <a:t>‘Clauses’ and ‘Subclauses’</a:t>
            </a:r>
          </a:p>
          <a:p>
            <a:pPr>
              <a:lnSpc>
                <a:spcPct val="120000"/>
              </a:lnSpc>
            </a:pPr>
            <a:endParaRPr lang="en-IE" sz="2400" dirty="0">
              <a:solidFill>
                <a:schemeClr val="accent1">
                  <a:lumMod val="50000"/>
                </a:schemeClr>
              </a:solidFill>
              <a:latin typeface="Aptos" panose="020B0004020202020204" pitchFamily="34" charset="0"/>
            </a:endParaRPr>
          </a:p>
          <a:p>
            <a:pPr>
              <a:lnSpc>
                <a:spcPct val="120000"/>
              </a:lnSpc>
            </a:pPr>
            <a:endParaRPr lang="en-IE" sz="2400" dirty="0">
              <a:solidFill>
                <a:schemeClr val="accent1">
                  <a:lumMod val="50000"/>
                </a:schemeClr>
              </a:solidFill>
              <a:latin typeface="Aptos" panose="020B0004020202020204" pitchFamily="34" charset="0"/>
            </a:endParaRPr>
          </a:p>
          <a:p>
            <a:pPr>
              <a:lnSpc>
                <a:spcPct val="120000"/>
              </a:lnSpc>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5B211A9A-00B6-9F19-5491-EA4E261E0434}"/>
              </a:ext>
            </a:extLst>
          </p:cNvPr>
          <p:cNvPicPr>
            <a:picLocks noChangeAspect="1"/>
          </p:cNvPicPr>
          <p:nvPr/>
        </p:nvPicPr>
        <p:blipFill>
          <a:blip r:embed="rId4"/>
          <a:stretch>
            <a:fillRect/>
          </a:stretch>
        </p:blipFill>
        <p:spPr>
          <a:xfrm>
            <a:off x="9513264" y="3429000"/>
            <a:ext cx="2297981" cy="2394232"/>
          </a:xfrm>
          <a:prstGeom prst="rect">
            <a:avLst/>
          </a:prstGeom>
        </p:spPr>
      </p:pic>
    </p:spTree>
    <p:extLst>
      <p:ext uri="{BB962C8B-B14F-4D97-AF65-F5344CB8AC3E}">
        <p14:creationId xmlns:p14="http://schemas.microsoft.com/office/powerpoint/2010/main" val="18149568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991850"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‘Contents’ List - Taxes Consolidation Act- </a:t>
            </a:r>
            <a:br>
              <a:rPr lang="en-IE" sz="3600" b="1" dirty="0">
                <a:solidFill>
                  <a:srgbClr val="006666"/>
                </a:solidFill>
                <a:latin typeface="Aptos" panose="020B0004020202020204" pitchFamily="34" charset="0"/>
                <a:cs typeface="Arial" panose="020B0604020202020204" pitchFamily="34" charset="0"/>
              </a:rPr>
            </a:br>
            <a:r>
              <a:rPr lang="en-IE" sz="3600" b="1" dirty="0">
                <a:solidFill>
                  <a:srgbClr val="006666"/>
                </a:solidFill>
                <a:latin typeface="Aptos" panose="020B0004020202020204" pitchFamily="34" charset="0"/>
                <a:cs typeface="Arial" panose="020B0604020202020204" pitchFamily="34" charset="0"/>
              </a:rPr>
              <a:t>Part 1 Interpretation </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1227083" y="1674517"/>
            <a:ext cx="9649279" cy="4905216"/>
          </a:xfrm>
        </p:spPr>
        <p:txBody>
          <a:bodyPr>
            <a:normAutofit/>
          </a:bodyPr>
          <a:lstStyle/>
          <a:p>
            <a:pPr>
              <a:lnSpc>
                <a:spcPct val="120000"/>
              </a:lnSpc>
            </a:pPr>
            <a:r>
              <a:rPr lang="en-IE" sz="2400" b="1" dirty="0">
                <a:solidFill>
                  <a:schemeClr val="accent1">
                    <a:lumMod val="50000"/>
                  </a:schemeClr>
                </a:solidFill>
                <a:latin typeface="Aptos" panose="020B0004020202020204" pitchFamily="34" charset="0"/>
              </a:rPr>
              <a:t>TCA 1997, Part 1, Section 1 to Section 11 </a:t>
            </a:r>
            <a:r>
              <a:rPr lang="en-IE" sz="2400" dirty="0">
                <a:solidFill>
                  <a:schemeClr val="accent1">
                    <a:lumMod val="50000"/>
                  </a:schemeClr>
                </a:solidFill>
                <a:latin typeface="Aptos" panose="020B0004020202020204" pitchFamily="34" charset="0"/>
              </a:rPr>
              <a:t>deals with </a:t>
            </a:r>
            <a:r>
              <a:rPr lang="en-IE" sz="2400" b="1" dirty="0">
                <a:solidFill>
                  <a:schemeClr val="accent1">
                    <a:lumMod val="50000"/>
                  </a:schemeClr>
                </a:solidFill>
                <a:latin typeface="Aptos" panose="020B0004020202020204" pitchFamily="34" charset="0"/>
              </a:rPr>
              <a:t>‘Interpretation’ </a:t>
            </a:r>
            <a:r>
              <a:rPr lang="en-IE" sz="2400" dirty="0">
                <a:solidFill>
                  <a:schemeClr val="accent1">
                    <a:lumMod val="50000"/>
                  </a:schemeClr>
                </a:solidFill>
                <a:latin typeface="Aptos" panose="020B0004020202020204" pitchFamily="34" charset="0"/>
              </a:rPr>
              <a:t>including</a:t>
            </a:r>
            <a:r>
              <a:rPr lang="en-IE" sz="2400" b="1" dirty="0">
                <a:solidFill>
                  <a:schemeClr val="accent1">
                    <a:lumMod val="50000"/>
                  </a:schemeClr>
                </a:solidFill>
                <a:latin typeface="Aptos" panose="020B0004020202020204" pitchFamily="34" charset="0"/>
              </a:rPr>
              <a:t> interpretation of certain words and phrases within</a:t>
            </a:r>
            <a:r>
              <a:rPr lang="en-IE" sz="2400" dirty="0">
                <a:solidFill>
                  <a:schemeClr val="accent1">
                    <a:lumMod val="50000"/>
                  </a:schemeClr>
                </a:solidFill>
                <a:latin typeface="Aptos" panose="020B0004020202020204" pitchFamily="34" charset="0"/>
              </a:rPr>
              <a:t> the ‘TCA 1997’, the ‘Tax Acts’, the ‘Corporation Tax Acts, the ‘Capital Gains Tax Act’ </a:t>
            </a:r>
          </a:p>
          <a:p>
            <a:pPr>
              <a:lnSpc>
                <a:spcPct val="120000"/>
              </a:lnSpc>
            </a:pPr>
            <a:endParaRPr lang="en-IE" sz="2400" b="1" dirty="0">
              <a:solidFill>
                <a:schemeClr val="accent1">
                  <a:lumMod val="50000"/>
                </a:schemeClr>
              </a:solidFill>
              <a:latin typeface="Aptos" panose="020B0004020202020204" pitchFamily="34" charset="0"/>
            </a:endParaRPr>
          </a:p>
          <a:p>
            <a:pPr>
              <a:lnSpc>
                <a:spcPct val="120000"/>
              </a:lnSpc>
            </a:pPr>
            <a:r>
              <a:rPr lang="en-IE" sz="2400" b="1" dirty="0">
                <a:solidFill>
                  <a:schemeClr val="accent1">
                    <a:lumMod val="50000"/>
                  </a:schemeClr>
                </a:solidFill>
                <a:latin typeface="Aptos" panose="020B0004020202020204" pitchFamily="34" charset="0"/>
              </a:rPr>
              <a:t>Section 10 </a:t>
            </a:r>
            <a:r>
              <a:rPr lang="en-IE" sz="2400" dirty="0">
                <a:solidFill>
                  <a:schemeClr val="accent1">
                    <a:lumMod val="50000"/>
                  </a:schemeClr>
                </a:solidFill>
                <a:latin typeface="Aptos" panose="020B0004020202020204" pitchFamily="34" charset="0"/>
              </a:rPr>
              <a:t>provides the interpretation for ‘connected persons’ </a:t>
            </a:r>
          </a:p>
          <a:p>
            <a:pPr>
              <a:lnSpc>
                <a:spcPct val="120000"/>
              </a:lnSpc>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188988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991850"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Class Exercise - Interpretation </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764721" y="1457739"/>
            <a:ext cx="10876722" cy="4394421"/>
          </a:xfrm>
        </p:spPr>
        <p:txBody>
          <a:bodyPr>
            <a:normAutofit/>
          </a:bodyPr>
          <a:lstStyle/>
          <a:p>
            <a:pPr>
              <a:lnSpc>
                <a:spcPct val="120000"/>
              </a:lnSpc>
            </a:pPr>
            <a:endParaRPr lang="en-IE" sz="2400" dirty="0">
              <a:solidFill>
                <a:schemeClr val="accent1">
                  <a:lumMod val="50000"/>
                </a:schemeClr>
              </a:solidFill>
              <a:latin typeface="Aptos" panose="020B0004020202020204" pitchFamily="34" charset="0"/>
            </a:endParaRPr>
          </a:p>
          <a:p>
            <a:pPr marL="0" indent="0">
              <a:lnSpc>
                <a:spcPct val="120000"/>
              </a:lnSpc>
              <a:buNone/>
            </a:pPr>
            <a:r>
              <a:rPr lang="en-IE" sz="2400" b="1" dirty="0">
                <a:solidFill>
                  <a:srgbClr val="006666"/>
                </a:solidFill>
                <a:latin typeface="Aptos" panose="020B0004020202020204" pitchFamily="34" charset="0"/>
              </a:rPr>
              <a:t>Exercise:</a:t>
            </a:r>
          </a:p>
          <a:p>
            <a:pPr>
              <a:lnSpc>
                <a:spcPct val="120000"/>
              </a:lnSpc>
            </a:pPr>
            <a:r>
              <a:rPr lang="en-IE" sz="2400" b="1" dirty="0">
                <a:solidFill>
                  <a:srgbClr val="006666"/>
                </a:solidFill>
                <a:latin typeface="Aptos" panose="020B0004020202020204" pitchFamily="34" charset="0"/>
              </a:rPr>
              <a:t>Go to Section 10 for the definition of a ‘relative’ for the purposes of the Income Tax Act and the Capital Gains Tax Act</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84690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00584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Solution- Definition of a ‘relative’ (TCA 1997)</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954077" y="1700984"/>
            <a:ext cx="10283845" cy="4696187"/>
          </a:xfrm>
        </p:spPr>
        <p:txBody>
          <a:bodyPr>
            <a:normAutofit/>
          </a:bodyPr>
          <a:lstStyle/>
          <a:p>
            <a:pPr marL="0" indent="0">
              <a:lnSpc>
                <a:spcPct val="120000"/>
              </a:lnSpc>
              <a:buNone/>
            </a:pPr>
            <a:endParaRPr lang="en-IE" sz="2400" dirty="0">
              <a:solidFill>
                <a:srgbClr val="006666"/>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3FC6DB41-973E-ECFF-D79D-FED42BB9C5A2}"/>
              </a:ext>
            </a:extLst>
          </p:cNvPr>
          <p:cNvPicPr>
            <a:picLocks noChangeAspect="1"/>
          </p:cNvPicPr>
          <p:nvPr/>
        </p:nvPicPr>
        <p:blipFill>
          <a:blip r:embed="rId4"/>
          <a:stretch>
            <a:fillRect/>
          </a:stretch>
        </p:blipFill>
        <p:spPr>
          <a:xfrm>
            <a:off x="838201" y="1005841"/>
            <a:ext cx="5013960" cy="4696188"/>
          </a:xfrm>
          <a:prstGeom prst="rect">
            <a:avLst/>
          </a:prstGeom>
        </p:spPr>
      </p:pic>
      <p:sp>
        <p:nvSpPr>
          <p:cNvPr id="9" name="TextBox 8">
            <a:extLst>
              <a:ext uri="{FF2B5EF4-FFF2-40B4-BE49-F238E27FC236}">
                <a16:creationId xmlns:a16="http://schemas.microsoft.com/office/drawing/2014/main" id="{C0C97CBB-5855-9220-A16A-169EC092537A}"/>
              </a:ext>
            </a:extLst>
          </p:cNvPr>
          <p:cNvSpPr txBox="1"/>
          <p:nvPr/>
        </p:nvSpPr>
        <p:spPr>
          <a:xfrm>
            <a:off x="6939280" y="1168400"/>
            <a:ext cx="4917440" cy="494193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Ancestor </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one from whom a person is descended and who is usually more remote in the line of descent than a grandparent. (</a:t>
            </a:r>
            <a:r>
              <a:rPr kumimoji="0" lang="en-IE" sz="2400" b="0" i="1"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Merriam Webster online dictionary</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Lineal descendant</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a person  (</a:t>
            </a:r>
            <a:r>
              <a:rPr kumimoji="0" lang="en-IE" sz="2400" b="0" i="1"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 blood relative</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who is in direct line to an ancestor, such as a child, grandchild, great-grandchild etc. (</a:t>
            </a:r>
            <a:r>
              <a:rPr kumimoji="0" lang="en-IE" sz="2400" b="0" i="1"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Law.com</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t>
            </a:r>
          </a:p>
        </p:txBody>
      </p:sp>
      <p:cxnSp>
        <p:nvCxnSpPr>
          <p:cNvPr id="7" name="Straight Connector 6">
            <a:extLst>
              <a:ext uri="{FF2B5EF4-FFF2-40B4-BE49-F238E27FC236}">
                <a16:creationId xmlns:a16="http://schemas.microsoft.com/office/drawing/2014/main" id="{6794E5A8-3906-2E87-A3DD-08F41B9E8D10}"/>
              </a:ext>
            </a:extLst>
          </p:cNvPr>
          <p:cNvCxnSpPr/>
          <p:nvPr/>
        </p:nvCxnSpPr>
        <p:spPr>
          <a:xfrm>
            <a:off x="6299200" y="1361440"/>
            <a:ext cx="0" cy="47488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Graphic 9" descr="Arrow Right with solid fill">
            <a:extLst>
              <a:ext uri="{FF2B5EF4-FFF2-40B4-BE49-F238E27FC236}">
                <a16:creationId xmlns:a16="http://schemas.microsoft.com/office/drawing/2014/main" id="{14719287-EAFB-E8F4-57CA-4B35CCC16E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9403" y="4661836"/>
            <a:ext cx="914400" cy="914400"/>
          </a:xfrm>
          <a:prstGeom prst="rect">
            <a:avLst/>
          </a:prstGeom>
        </p:spPr>
      </p:pic>
    </p:spTree>
    <p:extLst>
      <p:ext uri="{BB962C8B-B14F-4D97-AF65-F5344CB8AC3E}">
        <p14:creationId xmlns:p14="http://schemas.microsoft.com/office/powerpoint/2010/main" val="15435936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99583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Go </a:t>
            </a:r>
            <a:r>
              <a:rPr lang="en-IE" sz="3600" b="1" dirty="0" err="1">
                <a:solidFill>
                  <a:srgbClr val="006666"/>
                </a:solidFill>
                <a:latin typeface="Aptos" panose="020B0004020202020204" pitchFamily="34" charset="0"/>
                <a:cs typeface="Arial" panose="020B0604020202020204" pitchFamily="34" charset="0"/>
              </a:rPr>
              <a:t>To‘Contents</a:t>
            </a:r>
            <a:r>
              <a:rPr lang="en-IE" sz="3600" b="1" dirty="0">
                <a:solidFill>
                  <a:srgbClr val="006666"/>
                </a:solidFill>
                <a:latin typeface="Aptos" panose="020B0004020202020204" pitchFamily="34" charset="0"/>
                <a:cs typeface="Arial" panose="020B0604020202020204" pitchFamily="34" charset="0"/>
              </a:rPr>
              <a:t>’ List - Taxes Consolidation Act- </a:t>
            </a:r>
            <a:br>
              <a:rPr lang="en-IE" sz="3600" b="1" dirty="0">
                <a:solidFill>
                  <a:srgbClr val="006666"/>
                </a:solidFill>
                <a:latin typeface="Aptos" panose="020B0004020202020204" pitchFamily="34" charset="0"/>
                <a:cs typeface="Arial" panose="020B0604020202020204" pitchFamily="34" charset="0"/>
              </a:rPr>
            </a:br>
            <a:r>
              <a:rPr lang="en-IE" sz="3600" b="1" dirty="0">
                <a:solidFill>
                  <a:srgbClr val="006666"/>
                </a:solidFill>
                <a:latin typeface="Aptos" panose="020B0004020202020204" pitchFamily="34" charset="0"/>
                <a:cs typeface="Arial" panose="020B0604020202020204" pitchFamily="34" charset="0"/>
              </a:rPr>
              <a:t>Part 2 - The Charge To Tax</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357963" y="1311965"/>
            <a:ext cx="11476074" cy="4696187"/>
          </a:xfrm>
        </p:spPr>
        <p:txBody>
          <a:bodyPr>
            <a:normAutofit fontScale="92500" lnSpcReduction="10000"/>
          </a:bodyPr>
          <a:lstStyle/>
          <a:p>
            <a:pPr marL="0" indent="0">
              <a:lnSpc>
                <a:spcPct val="120000"/>
              </a:lnSpc>
              <a:buNone/>
            </a:pPr>
            <a:r>
              <a:rPr lang="en-IE" sz="2400" b="1" dirty="0">
                <a:solidFill>
                  <a:schemeClr val="accent1">
                    <a:lumMod val="50000"/>
                  </a:schemeClr>
                </a:solidFill>
                <a:latin typeface="Aptos" panose="020B0004020202020204" pitchFamily="34" charset="0"/>
              </a:rPr>
              <a:t>PART 2: The Charge to Tax (</a:t>
            </a:r>
            <a:r>
              <a:rPr lang="en-IE" sz="2400" b="1" i="1" dirty="0">
                <a:solidFill>
                  <a:schemeClr val="accent1">
                    <a:lumMod val="50000"/>
                  </a:schemeClr>
                </a:solidFill>
                <a:latin typeface="Aptos" panose="020B0004020202020204" pitchFamily="34" charset="0"/>
              </a:rPr>
              <a:t>under the Schedular System</a:t>
            </a:r>
            <a:r>
              <a:rPr lang="en-IE" sz="2400" b="1" dirty="0">
                <a:solidFill>
                  <a:schemeClr val="accent1">
                    <a:lumMod val="50000"/>
                  </a:schemeClr>
                </a:solidFill>
                <a:latin typeface="Aptos" panose="020B0004020202020204" pitchFamily="34" charset="0"/>
              </a:rPr>
              <a:t>)</a:t>
            </a:r>
          </a:p>
          <a:p>
            <a:pPr>
              <a:lnSpc>
                <a:spcPct val="120000"/>
              </a:lnSpc>
            </a:pPr>
            <a:r>
              <a:rPr lang="en-IE" sz="2400" dirty="0">
                <a:solidFill>
                  <a:schemeClr val="accent1">
                    <a:lumMod val="50000"/>
                  </a:schemeClr>
                </a:solidFill>
                <a:latin typeface="Aptos" panose="020B0004020202020204" pitchFamily="34" charset="0"/>
              </a:rPr>
              <a:t> Chapter 1: </a:t>
            </a:r>
            <a:r>
              <a:rPr lang="en-IE" sz="2400" b="1" dirty="0">
                <a:solidFill>
                  <a:schemeClr val="accent1">
                    <a:lumMod val="50000"/>
                  </a:schemeClr>
                </a:solidFill>
                <a:latin typeface="Aptos" panose="020B0004020202020204" pitchFamily="34" charset="0"/>
              </a:rPr>
              <a:t>Income Tax</a:t>
            </a:r>
          </a:p>
          <a:p>
            <a:pPr>
              <a:lnSpc>
                <a:spcPct val="120000"/>
              </a:lnSpc>
            </a:pPr>
            <a:r>
              <a:rPr lang="en-IE" sz="2400" dirty="0">
                <a:solidFill>
                  <a:schemeClr val="accent1">
                    <a:lumMod val="50000"/>
                  </a:schemeClr>
                </a:solidFill>
                <a:latin typeface="Aptos" panose="020B0004020202020204" pitchFamily="34" charset="0"/>
              </a:rPr>
              <a:t>The relevant </a:t>
            </a:r>
            <a:r>
              <a:rPr lang="en-IE" sz="2400" b="1" dirty="0">
                <a:solidFill>
                  <a:schemeClr val="accent1">
                    <a:lumMod val="50000"/>
                  </a:schemeClr>
                </a:solidFill>
                <a:latin typeface="Aptos" panose="020B0004020202020204" pitchFamily="34" charset="0"/>
              </a:rPr>
              <a:t>Sections</a:t>
            </a:r>
            <a:r>
              <a:rPr lang="en-IE" sz="2400" dirty="0">
                <a:solidFill>
                  <a:schemeClr val="accent1">
                    <a:lumMod val="50000"/>
                  </a:schemeClr>
                </a:solidFill>
                <a:latin typeface="Aptos" panose="020B0004020202020204" pitchFamily="34" charset="0"/>
              </a:rPr>
              <a:t> of legislation are shown on the left-hand side, and the associated page number is shown on the right. Specific Sections dealing with the ‘</a:t>
            </a:r>
            <a:r>
              <a:rPr lang="en-IE" sz="2400" b="1" dirty="0">
                <a:solidFill>
                  <a:schemeClr val="accent1">
                    <a:lumMod val="50000"/>
                  </a:schemeClr>
                </a:solidFill>
                <a:latin typeface="Aptos" panose="020B0004020202020204" pitchFamily="34" charset="0"/>
              </a:rPr>
              <a:t>Schedular System of Taxation’ </a:t>
            </a:r>
            <a:r>
              <a:rPr lang="en-IE" sz="2400" dirty="0">
                <a:solidFill>
                  <a:schemeClr val="accent1">
                    <a:lumMod val="50000"/>
                  </a:schemeClr>
                </a:solidFill>
                <a:latin typeface="Aptos" panose="020B0004020202020204" pitchFamily="34" charset="0"/>
              </a:rPr>
              <a:t>are as follows:</a:t>
            </a:r>
          </a:p>
          <a:p>
            <a:pPr>
              <a:lnSpc>
                <a:spcPct val="120000"/>
              </a:lnSpc>
            </a:pPr>
            <a:r>
              <a:rPr lang="en-IE" sz="2400" dirty="0">
                <a:solidFill>
                  <a:schemeClr val="accent1">
                    <a:lumMod val="50000"/>
                  </a:schemeClr>
                </a:solidFill>
                <a:latin typeface="Aptos" panose="020B0004020202020204" pitchFamily="34" charset="0"/>
              </a:rPr>
              <a:t>Schedule C: Section 17 (</a:t>
            </a:r>
            <a:r>
              <a:rPr lang="en-IE" sz="2400" i="1" dirty="0">
                <a:solidFill>
                  <a:schemeClr val="accent1">
                    <a:lumMod val="50000"/>
                  </a:schemeClr>
                </a:solidFill>
                <a:latin typeface="Aptos" panose="020B0004020202020204" pitchFamily="34" charset="0"/>
              </a:rPr>
              <a:t>taxation of profits from public revenue dividends</a:t>
            </a:r>
            <a:r>
              <a:rPr lang="en-IE" sz="2400" dirty="0">
                <a:solidFill>
                  <a:schemeClr val="accent1">
                    <a:lumMod val="50000"/>
                  </a:schemeClr>
                </a:solidFill>
                <a:latin typeface="Aptos" panose="020B0004020202020204" pitchFamily="34" charset="0"/>
              </a:rPr>
              <a:t>)</a:t>
            </a:r>
          </a:p>
          <a:p>
            <a:pPr>
              <a:lnSpc>
                <a:spcPct val="120000"/>
              </a:lnSpc>
            </a:pPr>
            <a:r>
              <a:rPr lang="en-IE" sz="2400" b="1" dirty="0">
                <a:solidFill>
                  <a:schemeClr val="accent1">
                    <a:lumMod val="50000"/>
                  </a:schemeClr>
                </a:solidFill>
                <a:latin typeface="Aptos" panose="020B0004020202020204" pitchFamily="34" charset="0"/>
              </a:rPr>
              <a:t>Schedule D: Section 18  (</a:t>
            </a:r>
            <a:r>
              <a:rPr lang="en-IE" sz="2400" b="1" i="1" dirty="0">
                <a:solidFill>
                  <a:schemeClr val="accent1">
                    <a:lumMod val="50000"/>
                  </a:schemeClr>
                </a:solidFill>
                <a:latin typeface="Aptos" panose="020B0004020202020204" pitchFamily="34" charset="0"/>
              </a:rPr>
              <a:t>taxation of profits and gains from trade, profession, vocation</a:t>
            </a:r>
            <a:r>
              <a:rPr lang="en-IE" sz="2400" b="1" dirty="0">
                <a:solidFill>
                  <a:schemeClr val="accent1">
                    <a:lumMod val="50000"/>
                  </a:schemeClr>
                </a:solidFill>
                <a:latin typeface="Aptos" panose="020B0004020202020204" pitchFamily="34" charset="0"/>
              </a:rPr>
              <a:t>)</a:t>
            </a:r>
          </a:p>
          <a:p>
            <a:pPr>
              <a:lnSpc>
                <a:spcPct val="120000"/>
              </a:lnSpc>
            </a:pPr>
            <a:r>
              <a:rPr lang="en-IE" sz="2400" b="1" dirty="0">
                <a:solidFill>
                  <a:schemeClr val="accent1">
                    <a:lumMod val="50000"/>
                  </a:schemeClr>
                </a:solidFill>
                <a:latin typeface="Aptos" panose="020B0004020202020204" pitchFamily="34" charset="0"/>
              </a:rPr>
              <a:t>Schedule E : Section 19 (</a:t>
            </a:r>
            <a:r>
              <a:rPr lang="en-IE" sz="2400" b="1" i="1" dirty="0">
                <a:solidFill>
                  <a:schemeClr val="accent1">
                    <a:lumMod val="50000"/>
                  </a:schemeClr>
                </a:solidFill>
                <a:latin typeface="Aptos" panose="020B0004020202020204" pitchFamily="34" charset="0"/>
              </a:rPr>
              <a:t>taxation of income from an office, employment, pension</a:t>
            </a:r>
            <a:r>
              <a:rPr lang="en-IE" sz="2400" b="1" dirty="0">
                <a:solidFill>
                  <a:schemeClr val="accent1">
                    <a:lumMod val="50000"/>
                  </a:schemeClr>
                </a:solidFill>
                <a:latin typeface="Aptos" panose="020B0004020202020204" pitchFamily="34" charset="0"/>
              </a:rPr>
              <a:t>) </a:t>
            </a:r>
          </a:p>
          <a:p>
            <a:pPr>
              <a:lnSpc>
                <a:spcPct val="120000"/>
              </a:lnSpc>
            </a:pPr>
            <a:r>
              <a:rPr lang="en-IE" sz="2400" b="1" dirty="0">
                <a:solidFill>
                  <a:schemeClr val="accent1">
                    <a:lumMod val="50000"/>
                  </a:schemeClr>
                </a:solidFill>
                <a:latin typeface="Aptos" panose="020B0004020202020204" pitchFamily="34" charset="0"/>
              </a:rPr>
              <a:t>Schedule F: Section 20 (</a:t>
            </a:r>
            <a:r>
              <a:rPr lang="en-IE" sz="2400" b="1" i="1" dirty="0">
                <a:solidFill>
                  <a:schemeClr val="accent1">
                    <a:lumMod val="50000"/>
                  </a:schemeClr>
                </a:solidFill>
                <a:latin typeface="Aptos" panose="020B0004020202020204" pitchFamily="34" charset="0"/>
              </a:rPr>
              <a:t>taxation of dividends/ distributions from Irish resident companies</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93136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094014"/>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The ‘Schedular System’</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184375"/>
            <a:ext cx="10876722" cy="5212796"/>
          </a:xfrm>
        </p:spPr>
        <p:txBody>
          <a:bodyPr>
            <a:normAutofit/>
          </a:bodyPr>
          <a:lstStyle/>
          <a:p>
            <a:pPr marL="0" indent="0">
              <a:lnSpc>
                <a:spcPct val="120000"/>
              </a:lnSpc>
              <a:buNone/>
            </a:pPr>
            <a:r>
              <a:rPr lang="en-IE" sz="2400" dirty="0">
                <a:solidFill>
                  <a:schemeClr val="accent1">
                    <a:lumMod val="50000"/>
                  </a:schemeClr>
                </a:solidFill>
                <a:latin typeface="Aptos" panose="020B0004020202020204" pitchFamily="34" charset="0"/>
              </a:rPr>
              <a:t>The </a:t>
            </a:r>
            <a:r>
              <a:rPr lang="en-IE" sz="2400" b="1" dirty="0">
                <a:solidFill>
                  <a:schemeClr val="accent1">
                    <a:lumMod val="50000"/>
                  </a:schemeClr>
                </a:solidFill>
                <a:latin typeface="Aptos" panose="020B0004020202020204" pitchFamily="34" charset="0"/>
              </a:rPr>
              <a:t>‘Schedular System of Taxation’ </a:t>
            </a:r>
            <a:r>
              <a:rPr lang="en-IE" sz="2400" dirty="0">
                <a:solidFill>
                  <a:schemeClr val="accent1">
                    <a:lumMod val="50000"/>
                  </a:schemeClr>
                </a:solidFill>
                <a:latin typeface="Aptos" panose="020B0004020202020204" pitchFamily="34" charset="0"/>
              </a:rPr>
              <a:t>under S18 TCA 1997 provides for the taxation of all types of income, which are grouped into different </a:t>
            </a:r>
            <a:r>
              <a:rPr lang="en-IE" sz="2400" b="1" dirty="0">
                <a:solidFill>
                  <a:schemeClr val="accent1">
                    <a:lumMod val="50000"/>
                  </a:schemeClr>
                </a:solidFill>
                <a:latin typeface="Aptos" panose="020B0004020202020204" pitchFamily="34" charset="0"/>
              </a:rPr>
              <a:t>Schedules</a:t>
            </a:r>
            <a:r>
              <a:rPr lang="en-IE" sz="2400" dirty="0">
                <a:solidFill>
                  <a:schemeClr val="accent1">
                    <a:lumMod val="50000"/>
                  </a:schemeClr>
                </a:solidFill>
                <a:latin typeface="Aptos" panose="020B0004020202020204" pitchFamily="34" charset="0"/>
              </a:rPr>
              <a:t>. Taxation of income under </a:t>
            </a:r>
            <a:r>
              <a:rPr lang="en-IE" sz="2400" b="1" dirty="0">
                <a:solidFill>
                  <a:schemeClr val="accent1">
                    <a:lumMod val="50000"/>
                  </a:schemeClr>
                </a:solidFill>
                <a:latin typeface="Aptos" panose="020B0004020202020204" pitchFamily="34" charset="0"/>
              </a:rPr>
              <a:t>Schedule D</a:t>
            </a:r>
            <a:r>
              <a:rPr lang="en-IE" sz="2400" dirty="0">
                <a:solidFill>
                  <a:schemeClr val="accent1">
                    <a:lumMod val="50000"/>
                  </a:schemeClr>
                </a:solidFill>
                <a:latin typeface="Aptos" panose="020B0004020202020204" pitchFamily="34" charset="0"/>
              </a:rPr>
              <a:t> is further divided into subgroups referred to as </a:t>
            </a:r>
            <a:r>
              <a:rPr lang="en-IE" sz="2400" b="1" dirty="0">
                <a:solidFill>
                  <a:schemeClr val="accent1">
                    <a:lumMod val="50000"/>
                  </a:schemeClr>
                </a:solidFill>
                <a:latin typeface="Aptos" panose="020B0004020202020204" pitchFamily="34" charset="0"/>
              </a:rPr>
              <a:t>Cases</a:t>
            </a:r>
            <a:r>
              <a:rPr lang="en-IE" sz="2400" dirty="0">
                <a:solidFill>
                  <a:schemeClr val="accent1">
                    <a:lumMod val="50000"/>
                  </a:schemeClr>
                </a:solidFill>
                <a:latin typeface="Aptos" panose="020B0004020202020204" pitchFamily="34" charset="0"/>
              </a:rPr>
              <a:t> as follows:</a:t>
            </a:r>
          </a:p>
          <a:p>
            <a:pPr marL="0" indent="0">
              <a:lnSpc>
                <a:spcPct val="120000"/>
              </a:lnSpc>
              <a:buNone/>
            </a:pPr>
            <a:endParaRPr lang="en-IE" sz="1000" dirty="0">
              <a:solidFill>
                <a:schemeClr val="accent1">
                  <a:lumMod val="50000"/>
                </a:schemeClr>
              </a:solidFill>
              <a:latin typeface="Aptos" panose="020B0004020202020204" pitchFamily="34" charset="0"/>
            </a:endParaRPr>
          </a:p>
          <a:p>
            <a:pPr lvl="1">
              <a:lnSpc>
                <a:spcPct val="120000"/>
              </a:lnSpc>
            </a:pPr>
            <a:r>
              <a:rPr lang="en-IE" b="1" dirty="0">
                <a:solidFill>
                  <a:schemeClr val="accent1">
                    <a:lumMod val="50000"/>
                  </a:schemeClr>
                </a:solidFill>
                <a:latin typeface="Aptos" panose="020B0004020202020204" pitchFamily="34" charset="0"/>
              </a:rPr>
              <a:t>Sch D Case I</a:t>
            </a:r>
            <a:r>
              <a:rPr lang="en-IE" dirty="0">
                <a:solidFill>
                  <a:schemeClr val="accent1">
                    <a:lumMod val="50000"/>
                  </a:schemeClr>
                </a:solidFill>
                <a:latin typeface="Aptos" panose="020B0004020202020204" pitchFamily="34" charset="0"/>
              </a:rPr>
              <a:t>: Profits or gains from a </a:t>
            </a:r>
            <a:r>
              <a:rPr lang="en-IE" b="1" dirty="0">
                <a:solidFill>
                  <a:schemeClr val="accent1">
                    <a:lumMod val="50000"/>
                  </a:schemeClr>
                </a:solidFill>
                <a:latin typeface="Aptos" panose="020B0004020202020204" pitchFamily="34" charset="0"/>
              </a:rPr>
              <a:t>trade</a:t>
            </a:r>
            <a:r>
              <a:rPr lang="en-IE" dirty="0">
                <a:solidFill>
                  <a:schemeClr val="accent1">
                    <a:lumMod val="50000"/>
                  </a:schemeClr>
                </a:solidFill>
                <a:latin typeface="Aptos" panose="020B0004020202020204" pitchFamily="34" charset="0"/>
              </a:rPr>
              <a:t> </a:t>
            </a:r>
          </a:p>
          <a:p>
            <a:pPr lvl="1">
              <a:lnSpc>
                <a:spcPct val="120000"/>
              </a:lnSpc>
            </a:pPr>
            <a:r>
              <a:rPr lang="en-IE" b="1" dirty="0">
                <a:solidFill>
                  <a:schemeClr val="accent1">
                    <a:lumMod val="50000"/>
                  </a:schemeClr>
                </a:solidFill>
                <a:latin typeface="Aptos" panose="020B0004020202020204" pitchFamily="34" charset="0"/>
              </a:rPr>
              <a:t>Sch D Case II</a:t>
            </a:r>
            <a:r>
              <a:rPr lang="en-IE" dirty="0">
                <a:solidFill>
                  <a:schemeClr val="accent1">
                    <a:lumMod val="50000"/>
                  </a:schemeClr>
                </a:solidFill>
                <a:latin typeface="Aptos" panose="020B0004020202020204" pitchFamily="34" charset="0"/>
              </a:rPr>
              <a:t>: Profits or gains from a </a:t>
            </a:r>
            <a:r>
              <a:rPr lang="en-IE" b="1" dirty="0">
                <a:solidFill>
                  <a:schemeClr val="accent1">
                    <a:lumMod val="50000"/>
                  </a:schemeClr>
                </a:solidFill>
                <a:latin typeface="Aptos" panose="020B0004020202020204" pitchFamily="34" charset="0"/>
              </a:rPr>
              <a:t>profession or vocation</a:t>
            </a:r>
          </a:p>
          <a:p>
            <a:pPr lvl="1">
              <a:lnSpc>
                <a:spcPct val="120000"/>
              </a:lnSpc>
            </a:pPr>
            <a:r>
              <a:rPr lang="en-IE" b="1" dirty="0">
                <a:solidFill>
                  <a:schemeClr val="accent1">
                    <a:lumMod val="50000"/>
                  </a:schemeClr>
                </a:solidFill>
                <a:latin typeface="Aptos" panose="020B0004020202020204" pitchFamily="34" charset="0"/>
              </a:rPr>
              <a:t>Sch D Case III</a:t>
            </a:r>
            <a:r>
              <a:rPr lang="en-IE" dirty="0">
                <a:solidFill>
                  <a:schemeClr val="accent1">
                    <a:lumMod val="50000"/>
                  </a:schemeClr>
                </a:solidFill>
                <a:latin typeface="Aptos" panose="020B0004020202020204" pitchFamily="34" charset="0"/>
              </a:rPr>
              <a:t>: e.g. </a:t>
            </a:r>
            <a:r>
              <a:rPr lang="en-IE" b="1" dirty="0">
                <a:solidFill>
                  <a:schemeClr val="accent1">
                    <a:lumMod val="50000"/>
                  </a:schemeClr>
                </a:solidFill>
                <a:latin typeface="Aptos" panose="020B0004020202020204" pitchFamily="34" charset="0"/>
              </a:rPr>
              <a:t>foreign</a:t>
            </a:r>
            <a:r>
              <a:rPr lang="en-IE" dirty="0">
                <a:solidFill>
                  <a:schemeClr val="accent1">
                    <a:lumMod val="50000"/>
                  </a:schemeClr>
                </a:solidFill>
                <a:latin typeface="Aptos" panose="020B0004020202020204" pitchFamily="34" charset="0"/>
              </a:rPr>
              <a:t> investment income, foreign rents, interest paid on certain government securities and interest on which DIRT is not collected</a:t>
            </a:r>
          </a:p>
          <a:p>
            <a:pPr lvl="1">
              <a:lnSpc>
                <a:spcPct val="120000"/>
              </a:lnSpc>
            </a:pPr>
            <a:r>
              <a:rPr lang="en-IE" b="1" dirty="0">
                <a:solidFill>
                  <a:schemeClr val="accent1">
                    <a:lumMod val="50000"/>
                  </a:schemeClr>
                </a:solidFill>
                <a:latin typeface="Aptos" panose="020B0004020202020204" pitchFamily="34" charset="0"/>
              </a:rPr>
              <a:t>Sch D Case IV</a:t>
            </a:r>
            <a:r>
              <a:rPr lang="en-IE" dirty="0">
                <a:solidFill>
                  <a:schemeClr val="accent1">
                    <a:lumMod val="50000"/>
                  </a:schemeClr>
                </a:solidFill>
                <a:latin typeface="Aptos" panose="020B0004020202020204" pitchFamily="34" charset="0"/>
              </a:rPr>
              <a:t>: </a:t>
            </a:r>
            <a:r>
              <a:rPr lang="en-IE" b="1" dirty="0">
                <a:solidFill>
                  <a:schemeClr val="accent1">
                    <a:lumMod val="50000"/>
                  </a:schemeClr>
                </a:solidFill>
                <a:latin typeface="Aptos" panose="020B0004020202020204" pitchFamily="34" charset="0"/>
              </a:rPr>
              <a:t>Deposit interest </a:t>
            </a:r>
            <a:r>
              <a:rPr lang="en-IE" dirty="0">
                <a:solidFill>
                  <a:schemeClr val="accent1">
                    <a:lumMod val="50000"/>
                  </a:schemeClr>
                </a:solidFill>
                <a:latin typeface="Aptos" panose="020B0004020202020204" pitchFamily="34" charset="0"/>
              </a:rPr>
              <a:t>subject to DIRT &amp; </a:t>
            </a:r>
            <a:r>
              <a:rPr lang="en-IE" b="1" dirty="0">
                <a:solidFill>
                  <a:schemeClr val="accent1">
                    <a:lumMod val="50000"/>
                  </a:schemeClr>
                </a:solidFill>
                <a:latin typeface="Aptos" panose="020B0004020202020204" pitchFamily="34" charset="0"/>
              </a:rPr>
              <a:t>Miscellaneous</a:t>
            </a:r>
            <a:r>
              <a:rPr lang="en-IE" dirty="0">
                <a:solidFill>
                  <a:schemeClr val="accent1">
                    <a:lumMod val="50000"/>
                  </a:schemeClr>
                </a:solidFill>
                <a:latin typeface="Aptos" panose="020B0004020202020204" pitchFamily="34" charset="0"/>
              </a:rPr>
              <a:t> income</a:t>
            </a:r>
          </a:p>
          <a:p>
            <a:pPr lvl="1">
              <a:lnSpc>
                <a:spcPct val="120000"/>
              </a:lnSpc>
            </a:pPr>
            <a:r>
              <a:rPr lang="en-IE" b="1" dirty="0">
                <a:solidFill>
                  <a:schemeClr val="accent1">
                    <a:lumMod val="50000"/>
                  </a:schemeClr>
                </a:solidFill>
                <a:latin typeface="Aptos" panose="020B0004020202020204" pitchFamily="34" charset="0"/>
              </a:rPr>
              <a:t>Sch D Case V</a:t>
            </a:r>
            <a:r>
              <a:rPr lang="en-IE" dirty="0">
                <a:solidFill>
                  <a:schemeClr val="accent1">
                    <a:lumMod val="50000"/>
                  </a:schemeClr>
                </a:solidFill>
                <a:latin typeface="Aptos" panose="020B0004020202020204" pitchFamily="34" charset="0"/>
              </a:rPr>
              <a:t>: </a:t>
            </a:r>
            <a:r>
              <a:rPr lang="en-IE" b="1" dirty="0">
                <a:solidFill>
                  <a:schemeClr val="accent1">
                    <a:lumMod val="50000"/>
                  </a:schemeClr>
                </a:solidFill>
                <a:latin typeface="Aptos" panose="020B0004020202020204" pitchFamily="34" charset="0"/>
              </a:rPr>
              <a:t>Irish Rental </a:t>
            </a:r>
            <a:r>
              <a:rPr lang="en-IE" dirty="0">
                <a:solidFill>
                  <a:schemeClr val="accent1">
                    <a:lumMod val="50000"/>
                  </a:schemeClr>
                </a:solidFill>
                <a:latin typeface="Aptos" panose="020B0004020202020204" pitchFamily="34" charset="0"/>
              </a:rPr>
              <a:t>Income</a:t>
            </a:r>
          </a:p>
          <a:p>
            <a:pPr lvl="1">
              <a:lnSpc>
                <a:spcPct val="120000"/>
              </a:lnSpc>
            </a:pPr>
            <a:endParaRPr lang="en-IE"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8741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Class Exercise - The ‘Schedular System’</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184375"/>
            <a:ext cx="10308771" cy="5212796"/>
          </a:xfrm>
        </p:spPr>
        <p:txBody>
          <a:bodyPr>
            <a:normAutofit/>
          </a:bodyPr>
          <a:lstStyle/>
          <a:p>
            <a:pPr marL="0" lvl="1" indent="0">
              <a:lnSpc>
                <a:spcPct val="120000"/>
              </a:lnSpc>
              <a:spcBef>
                <a:spcPts val="0"/>
              </a:spcBef>
              <a:buNone/>
            </a:pPr>
            <a:r>
              <a:rPr lang="en-IE" b="1" dirty="0">
                <a:solidFill>
                  <a:srgbClr val="006666"/>
                </a:solidFill>
                <a:latin typeface="Aptos" panose="020B0004020202020204" pitchFamily="34" charset="0"/>
              </a:rPr>
              <a:t>Go to Section 18 TCA 1997</a:t>
            </a:r>
          </a:p>
          <a:p>
            <a:pPr marL="0" lvl="1" indent="0">
              <a:lnSpc>
                <a:spcPct val="120000"/>
              </a:lnSpc>
              <a:spcBef>
                <a:spcPts val="0"/>
              </a:spcBef>
              <a:buNone/>
            </a:pPr>
            <a:endParaRPr lang="en-IE" b="1" dirty="0">
              <a:solidFill>
                <a:srgbClr val="006666"/>
              </a:solidFill>
              <a:latin typeface="Aptos" panose="020B0004020202020204" pitchFamily="34" charset="0"/>
            </a:endParaRPr>
          </a:p>
          <a:p>
            <a:pPr marL="342900" lvl="1" indent="-342900">
              <a:lnSpc>
                <a:spcPct val="120000"/>
              </a:lnSpc>
              <a:spcBef>
                <a:spcPts val="0"/>
              </a:spcBef>
            </a:pPr>
            <a:r>
              <a:rPr lang="en-IE" dirty="0">
                <a:solidFill>
                  <a:srgbClr val="006666"/>
                </a:solidFill>
                <a:latin typeface="Aptos" panose="020B0004020202020204" pitchFamily="34" charset="0"/>
              </a:rPr>
              <a:t>Identify the Part &amp; Chapter of the TCA 1997 which contains the provisions for </a:t>
            </a:r>
            <a:r>
              <a:rPr lang="en-IE" b="1" dirty="0">
                <a:solidFill>
                  <a:srgbClr val="006666"/>
                </a:solidFill>
                <a:latin typeface="Aptos" panose="020B0004020202020204" pitchFamily="34" charset="0"/>
              </a:rPr>
              <a:t>Section 18</a:t>
            </a:r>
          </a:p>
          <a:p>
            <a:pPr marL="342900" lvl="1" indent="-342900">
              <a:lnSpc>
                <a:spcPct val="120000"/>
              </a:lnSpc>
              <a:spcBef>
                <a:spcPts val="0"/>
              </a:spcBef>
            </a:pPr>
            <a:endParaRPr lang="en-IE" b="1" dirty="0">
              <a:solidFill>
                <a:srgbClr val="006666"/>
              </a:solidFill>
              <a:latin typeface="Aptos" panose="020B0004020202020204" pitchFamily="34" charset="0"/>
            </a:endParaRPr>
          </a:p>
          <a:p>
            <a:pPr marL="342900" lvl="1" indent="-342900">
              <a:lnSpc>
                <a:spcPct val="120000"/>
              </a:lnSpc>
              <a:spcBef>
                <a:spcPts val="0"/>
              </a:spcBef>
            </a:pPr>
            <a:r>
              <a:rPr lang="en-IE" dirty="0">
                <a:solidFill>
                  <a:srgbClr val="006666"/>
                </a:solidFill>
                <a:latin typeface="Aptos" panose="020B0004020202020204" pitchFamily="34" charset="0"/>
              </a:rPr>
              <a:t>Identify the subsection, paragraph and subparagraph which states that </a:t>
            </a:r>
            <a:r>
              <a:rPr lang="en-IE" b="1" dirty="0">
                <a:solidFill>
                  <a:srgbClr val="006666"/>
                </a:solidFill>
                <a:latin typeface="Aptos" panose="020B0004020202020204" pitchFamily="34" charset="0"/>
              </a:rPr>
              <a:t>tax under Schedule D Case I ‘shall be a charged’ on profits or gains arising from  mining ‘pyrites’</a:t>
            </a:r>
          </a:p>
          <a:p>
            <a:pPr marL="342900" lvl="1" indent="-342900">
              <a:lnSpc>
                <a:spcPct val="120000"/>
              </a:lnSpc>
              <a:spcBef>
                <a:spcPts val="0"/>
              </a:spcBef>
            </a:pPr>
            <a:endParaRPr lang="en-IE" b="1" dirty="0">
              <a:solidFill>
                <a:srgbClr val="006666"/>
              </a:solidFill>
              <a:latin typeface="Aptos" panose="020B0004020202020204" pitchFamily="34" charset="0"/>
            </a:endParaRPr>
          </a:p>
          <a:p>
            <a:pPr marL="0" lvl="1" indent="0">
              <a:lnSpc>
                <a:spcPct val="120000"/>
              </a:lnSpc>
              <a:spcBef>
                <a:spcPts val="0"/>
              </a:spcBef>
              <a:buNone/>
            </a:pPr>
            <a:r>
              <a:rPr lang="en-IE" b="1" dirty="0">
                <a:solidFill>
                  <a:srgbClr val="006666"/>
                </a:solidFill>
                <a:latin typeface="Aptos" panose="020B0004020202020204" pitchFamily="34" charset="0"/>
              </a:rPr>
              <a:t>Note: </a:t>
            </a:r>
            <a:r>
              <a:rPr lang="en-IE" dirty="0">
                <a:solidFill>
                  <a:srgbClr val="006666"/>
                </a:solidFill>
                <a:latin typeface="Aptos" panose="020B0004020202020204" pitchFamily="34" charset="0"/>
              </a:rPr>
              <a:t>Section18 subsection 1 (S18 (1))TCA 1997 provides for the charge to tax on ‘world-wide’ income on </a:t>
            </a:r>
            <a:r>
              <a:rPr lang="en-IE" b="1" dirty="0">
                <a:solidFill>
                  <a:srgbClr val="006666"/>
                </a:solidFill>
                <a:latin typeface="Aptos" panose="020B0004020202020204" pitchFamily="34" charset="0"/>
              </a:rPr>
              <a:t>Irish resident individuals</a:t>
            </a:r>
          </a:p>
          <a:p>
            <a:pPr marL="0" lvl="1" indent="0">
              <a:lnSpc>
                <a:spcPct val="120000"/>
              </a:lnSpc>
              <a:spcBef>
                <a:spcPts val="0"/>
              </a:spcBef>
              <a:buNone/>
            </a:pPr>
            <a:endParaRPr lang="en-IE" b="1" dirty="0">
              <a:solidFill>
                <a:srgbClr val="006666"/>
              </a:solidFill>
              <a:latin typeface="Aptos" panose="020B0004020202020204" pitchFamily="34" charset="0"/>
            </a:endParaRPr>
          </a:p>
          <a:p>
            <a:pPr marL="0" lvl="1" indent="0">
              <a:lnSpc>
                <a:spcPct val="120000"/>
              </a:lnSpc>
              <a:spcBef>
                <a:spcPts val="0"/>
              </a:spcBef>
              <a:buNone/>
            </a:pPr>
            <a:endParaRPr lang="en-IE" b="1" dirty="0">
              <a:solidFill>
                <a:srgbClr val="006666"/>
              </a:solidFill>
              <a:latin typeface="Aptos" panose="020B0004020202020204" pitchFamily="34" charset="0"/>
            </a:endParaRPr>
          </a:p>
          <a:p>
            <a:pPr lvl="1">
              <a:lnSpc>
                <a:spcPct val="120000"/>
              </a:lnSpc>
            </a:pPr>
            <a:endParaRPr lang="en-IE"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88167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Solution – Extract from Direct Taxes Act</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184375"/>
            <a:ext cx="10876722" cy="5212796"/>
          </a:xfrm>
        </p:spPr>
        <p:txBody>
          <a:bodyPr>
            <a:normAutofit/>
          </a:bodyPr>
          <a:lstStyle/>
          <a:p>
            <a:pPr lvl="1">
              <a:lnSpc>
                <a:spcPct val="120000"/>
              </a:lnSpc>
            </a:pPr>
            <a:endParaRPr lang="en-IE" dirty="0">
              <a:solidFill>
                <a:schemeClr val="accent1">
                  <a:lumMod val="50000"/>
                </a:schemeClr>
              </a:solidFill>
              <a:latin typeface="Aptos" panose="020B0004020202020204" pitchFamily="34" charset="0"/>
            </a:endParaRPr>
          </a:p>
          <a:p>
            <a:pPr marL="0" lvl="1" indent="0">
              <a:lnSpc>
                <a:spcPct val="120000"/>
              </a:lnSpc>
              <a:spcBef>
                <a:spcPts val="0"/>
              </a:spcBef>
              <a:buNone/>
            </a:pPr>
            <a:endParaRPr lang="en-IE" b="1" dirty="0">
              <a:solidFill>
                <a:srgbClr val="006666"/>
              </a:solidFill>
              <a:latin typeface="Aptos" panose="020B0004020202020204" pitchFamily="34" charset="0"/>
            </a:endParaRPr>
          </a:p>
          <a:p>
            <a:pPr marL="0" lvl="1" indent="0">
              <a:lnSpc>
                <a:spcPct val="120000"/>
              </a:lnSpc>
              <a:spcBef>
                <a:spcPts val="0"/>
              </a:spcBef>
              <a:buNone/>
            </a:pPr>
            <a:endParaRPr lang="en-IE" b="1" dirty="0">
              <a:solidFill>
                <a:srgbClr val="006666"/>
              </a:solidFill>
              <a:latin typeface="Aptos" panose="020B0004020202020204" pitchFamily="34" charset="0"/>
            </a:endParaRPr>
          </a:p>
          <a:p>
            <a:pPr marL="0" lvl="1" indent="0">
              <a:lnSpc>
                <a:spcPct val="120000"/>
              </a:lnSpc>
              <a:spcBef>
                <a:spcPts val="0"/>
              </a:spcBef>
              <a:buNone/>
            </a:pPr>
            <a:endParaRPr lang="en-IE" b="1" dirty="0">
              <a:solidFill>
                <a:srgbClr val="006666"/>
              </a:solidFill>
              <a:latin typeface="Aptos" panose="020B0004020202020204" pitchFamily="34" charset="0"/>
            </a:endParaRPr>
          </a:p>
          <a:p>
            <a:pPr lvl="1">
              <a:lnSpc>
                <a:spcPct val="120000"/>
              </a:lnSpc>
            </a:pPr>
            <a:endParaRPr lang="en-IE"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CC177E4F-5D83-20FB-60BD-690EB97780A2}"/>
              </a:ext>
            </a:extLst>
          </p:cNvPr>
          <p:cNvPicPr>
            <a:picLocks noChangeAspect="1"/>
          </p:cNvPicPr>
          <p:nvPr/>
        </p:nvPicPr>
        <p:blipFill>
          <a:blip r:embed="rId4"/>
          <a:stretch>
            <a:fillRect/>
          </a:stretch>
        </p:blipFill>
        <p:spPr>
          <a:xfrm>
            <a:off x="2465614" y="1213467"/>
            <a:ext cx="8045904" cy="1600886"/>
          </a:xfrm>
          <a:prstGeom prst="rect">
            <a:avLst/>
          </a:prstGeom>
        </p:spPr>
      </p:pic>
      <p:pic>
        <p:nvPicPr>
          <p:cNvPr id="9" name="Picture 8">
            <a:extLst>
              <a:ext uri="{FF2B5EF4-FFF2-40B4-BE49-F238E27FC236}">
                <a16:creationId xmlns:a16="http://schemas.microsoft.com/office/drawing/2014/main" id="{C8D00A2D-B8F9-EBA4-987F-1F0A32628B95}"/>
              </a:ext>
            </a:extLst>
          </p:cNvPr>
          <p:cNvPicPr>
            <a:picLocks noChangeAspect="1"/>
          </p:cNvPicPr>
          <p:nvPr/>
        </p:nvPicPr>
        <p:blipFill>
          <a:blip r:embed="rId5"/>
          <a:stretch>
            <a:fillRect/>
          </a:stretch>
        </p:blipFill>
        <p:spPr>
          <a:xfrm>
            <a:off x="1921735" y="2944326"/>
            <a:ext cx="8709651" cy="3758553"/>
          </a:xfrm>
          <a:prstGeom prst="rect">
            <a:avLst/>
          </a:prstGeom>
        </p:spPr>
      </p:pic>
      <p:pic>
        <p:nvPicPr>
          <p:cNvPr id="8" name="Graphic 7" descr="Arrow Right with solid fill">
            <a:extLst>
              <a:ext uri="{FF2B5EF4-FFF2-40B4-BE49-F238E27FC236}">
                <a16:creationId xmlns:a16="http://schemas.microsoft.com/office/drawing/2014/main" id="{F195EB85-D81F-1B96-420B-36E44D3DBB1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01272" y="4823602"/>
            <a:ext cx="914400" cy="914400"/>
          </a:xfrm>
          <a:prstGeom prst="rect">
            <a:avLst/>
          </a:prstGeom>
        </p:spPr>
      </p:pic>
    </p:spTree>
    <p:extLst>
      <p:ext uri="{BB962C8B-B14F-4D97-AF65-F5344CB8AC3E}">
        <p14:creationId xmlns:p14="http://schemas.microsoft.com/office/powerpoint/2010/main" val="22447096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10469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Regulations - Statutory Instruments (S.I.)</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613541" y="1700653"/>
            <a:ext cx="11155679" cy="4220031"/>
          </a:xfrm>
        </p:spPr>
        <p:txBody>
          <a:bodyPr>
            <a:normAutofit/>
          </a:bodyPr>
          <a:lstStyle/>
          <a:p>
            <a:pPr>
              <a:lnSpc>
                <a:spcPct val="120000"/>
              </a:lnSpc>
            </a:pPr>
            <a:r>
              <a:rPr lang="en-IE" sz="2400" b="1" dirty="0">
                <a:solidFill>
                  <a:schemeClr val="accent1">
                    <a:lumMod val="50000"/>
                  </a:schemeClr>
                </a:solidFill>
                <a:latin typeface="Aptos" panose="020B0004020202020204" pitchFamily="34" charset="0"/>
              </a:rPr>
              <a:t>The ‘Contents’ includes a list of ‘Regulations’ </a:t>
            </a:r>
            <a:r>
              <a:rPr lang="en-IE" sz="2400" dirty="0">
                <a:solidFill>
                  <a:schemeClr val="accent1">
                    <a:lumMod val="50000"/>
                  </a:schemeClr>
                </a:solidFill>
                <a:latin typeface="Aptos" panose="020B0004020202020204" pitchFamily="34" charset="0"/>
              </a:rPr>
              <a:t>(</a:t>
            </a:r>
            <a:r>
              <a:rPr lang="en-IE" sz="2400" i="1" dirty="0">
                <a:solidFill>
                  <a:schemeClr val="accent1">
                    <a:lumMod val="50000"/>
                  </a:schemeClr>
                </a:solidFill>
                <a:latin typeface="Aptos" panose="020B0004020202020204" pitchFamily="34" charset="0"/>
              </a:rPr>
              <a:t>incl. the relevant pages, in the Direct Taxes Act, on which these regulations can be seen</a:t>
            </a:r>
            <a:r>
              <a:rPr lang="en-IE" sz="2400" dirty="0">
                <a:solidFill>
                  <a:schemeClr val="accent1">
                    <a:lumMod val="50000"/>
                  </a:schemeClr>
                </a:solidFill>
                <a:latin typeface="Aptos" panose="020B0004020202020204" pitchFamily="34" charset="0"/>
              </a:rPr>
              <a:t>)</a:t>
            </a:r>
          </a:p>
          <a:p>
            <a:pPr marL="0" indent="0">
              <a:lnSpc>
                <a:spcPct val="120000"/>
              </a:lnSpc>
              <a:buNone/>
            </a:pPr>
            <a:endParaRPr lang="en-IE" sz="1000" dirty="0">
              <a:solidFill>
                <a:schemeClr val="accent1">
                  <a:lumMod val="50000"/>
                </a:schemeClr>
              </a:solidFill>
              <a:latin typeface="Aptos" panose="020B0004020202020204" pitchFamily="34" charset="0"/>
            </a:endParaRPr>
          </a:p>
          <a:p>
            <a:pPr>
              <a:lnSpc>
                <a:spcPct val="120000"/>
              </a:lnSpc>
            </a:pPr>
            <a:r>
              <a:rPr lang="en-IE" sz="2400" b="1" dirty="0">
                <a:solidFill>
                  <a:schemeClr val="accent1">
                    <a:lumMod val="50000"/>
                  </a:schemeClr>
                </a:solidFill>
                <a:latin typeface="Aptos" panose="020B0004020202020204" pitchFamily="34" charset="0"/>
              </a:rPr>
              <a:t>Ministerial orders </a:t>
            </a:r>
            <a:r>
              <a:rPr lang="en-IE" sz="2400" dirty="0">
                <a:solidFill>
                  <a:schemeClr val="accent1">
                    <a:lumMod val="50000"/>
                  </a:schemeClr>
                </a:solidFill>
                <a:latin typeface="Aptos" panose="020B0004020202020204" pitchFamily="34" charset="0"/>
              </a:rPr>
              <a:t>known as </a:t>
            </a:r>
            <a:r>
              <a:rPr lang="en-IE" sz="2400" b="1" dirty="0">
                <a:solidFill>
                  <a:schemeClr val="accent1">
                    <a:lumMod val="50000"/>
                  </a:schemeClr>
                </a:solidFill>
                <a:latin typeface="Aptos" panose="020B0004020202020204" pitchFamily="34" charset="0"/>
              </a:rPr>
              <a:t>Statutory Instruments </a:t>
            </a:r>
            <a:r>
              <a:rPr lang="en-IE" sz="2400" dirty="0">
                <a:solidFill>
                  <a:schemeClr val="accent1">
                    <a:lumMod val="50000"/>
                  </a:schemeClr>
                </a:solidFill>
                <a:latin typeface="Aptos" panose="020B0004020202020204" pitchFamily="34" charset="0"/>
              </a:rPr>
              <a:t>provide </a:t>
            </a:r>
            <a:r>
              <a:rPr lang="en-IE" sz="2400" b="1" dirty="0">
                <a:solidFill>
                  <a:schemeClr val="accent1">
                    <a:lumMod val="50000"/>
                  </a:schemeClr>
                </a:solidFill>
                <a:latin typeface="Aptos" panose="020B0004020202020204" pitchFamily="34" charset="0"/>
              </a:rPr>
              <a:t>detailed rules </a:t>
            </a:r>
            <a:r>
              <a:rPr lang="en-IE" sz="2400" dirty="0">
                <a:solidFill>
                  <a:schemeClr val="accent1">
                    <a:lumMod val="50000"/>
                  </a:schemeClr>
                </a:solidFill>
                <a:latin typeface="Aptos" panose="020B0004020202020204" pitchFamily="34" charset="0"/>
              </a:rPr>
              <a:t> known as </a:t>
            </a:r>
            <a:r>
              <a:rPr lang="en-IE" sz="2400" b="1" i="1" dirty="0">
                <a:solidFill>
                  <a:schemeClr val="accent1">
                    <a:lumMod val="50000"/>
                  </a:schemeClr>
                </a:solidFill>
                <a:latin typeface="Aptos" panose="020B0004020202020204" pitchFamily="34" charset="0"/>
              </a:rPr>
              <a:t>Regulations</a:t>
            </a:r>
            <a:r>
              <a:rPr lang="en-IE" sz="2400" dirty="0">
                <a:solidFill>
                  <a:schemeClr val="accent1">
                    <a:lumMod val="50000"/>
                  </a:schemeClr>
                </a:solidFill>
                <a:latin typeface="Aptos" panose="020B0004020202020204" pitchFamily="34" charset="0"/>
              </a:rPr>
              <a:t> for </a:t>
            </a:r>
            <a:r>
              <a:rPr lang="en-IE" sz="2400" b="1" dirty="0">
                <a:solidFill>
                  <a:schemeClr val="accent1">
                    <a:lumMod val="50000"/>
                  </a:schemeClr>
                </a:solidFill>
                <a:latin typeface="Aptos" panose="020B0004020202020204" pitchFamily="34" charset="0"/>
              </a:rPr>
              <a:t>implementing the Tax Acts </a:t>
            </a:r>
            <a:r>
              <a:rPr lang="en-IE" sz="2400" dirty="0">
                <a:solidFill>
                  <a:schemeClr val="accent1">
                    <a:lumMod val="50000"/>
                  </a:schemeClr>
                </a:solidFill>
                <a:latin typeface="Aptos" panose="020B0004020202020204" pitchFamily="34" charset="0"/>
              </a:rPr>
              <a:t>(</a:t>
            </a:r>
            <a:r>
              <a:rPr lang="en-IE" sz="2400" i="1" dirty="0">
                <a:solidFill>
                  <a:schemeClr val="accent1">
                    <a:lumMod val="50000"/>
                  </a:schemeClr>
                </a:solidFill>
                <a:latin typeface="Aptos" panose="020B0004020202020204" pitchFamily="34" charset="0"/>
              </a:rPr>
              <a:t>primary legislation) </a:t>
            </a:r>
          </a:p>
          <a:p>
            <a:pPr>
              <a:lnSpc>
                <a:spcPct val="120000"/>
              </a:lnSpc>
            </a:pPr>
            <a:endParaRPr lang="en-IE" sz="1000"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Each Statutory  Instrument is allocated a </a:t>
            </a:r>
            <a:r>
              <a:rPr lang="en-IE" sz="2400" b="1" dirty="0">
                <a:solidFill>
                  <a:schemeClr val="accent1">
                    <a:lumMod val="50000"/>
                  </a:schemeClr>
                </a:solidFill>
                <a:latin typeface="Aptos" panose="020B0004020202020204" pitchFamily="34" charset="0"/>
              </a:rPr>
              <a:t>number and year</a:t>
            </a:r>
          </a:p>
          <a:p>
            <a:pPr>
              <a:lnSpc>
                <a:spcPct val="120000"/>
              </a:lnSpc>
            </a:pPr>
            <a:endParaRPr lang="en-IE" sz="1000" b="1"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36714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10469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Class Exercise - Statutory Instruments (S.I.)</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609600" y="1123163"/>
            <a:ext cx="11155679" cy="5138369"/>
          </a:xfrm>
        </p:spPr>
        <p:txBody>
          <a:bodyPr>
            <a:normAutofit/>
          </a:bodyPr>
          <a:lstStyle/>
          <a:p>
            <a:pPr marL="0" indent="0">
              <a:lnSpc>
                <a:spcPct val="120000"/>
              </a:lnSpc>
              <a:buNone/>
            </a:pPr>
            <a:endParaRPr lang="en-IE" sz="2400" dirty="0">
              <a:solidFill>
                <a:schemeClr val="accent1">
                  <a:lumMod val="50000"/>
                </a:schemeClr>
              </a:solidFill>
              <a:latin typeface="Aptos" panose="020B0004020202020204" pitchFamily="34" charset="0"/>
            </a:endParaRPr>
          </a:p>
          <a:p>
            <a:pPr>
              <a:lnSpc>
                <a:spcPct val="120000"/>
              </a:lnSpc>
            </a:pPr>
            <a:r>
              <a:rPr lang="en-IE" sz="2400" b="1" dirty="0">
                <a:solidFill>
                  <a:srgbClr val="006666"/>
                </a:solidFill>
                <a:latin typeface="Aptos" panose="020B0004020202020204" pitchFamily="34" charset="0"/>
              </a:rPr>
              <a:t>Go to the ‘Regulations’ page in the ‘Contents’</a:t>
            </a:r>
          </a:p>
          <a:p>
            <a:pPr>
              <a:lnSpc>
                <a:spcPct val="120000"/>
              </a:lnSpc>
            </a:pPr>
            <a:r>
              <a:rPr lang="en-IE" sz="2400" b="1" dirty="0">
                <a:solidFill>
                  <a:srgbClr val="006666"/>
                </a:solidFill>
                <a:latin typeface="Aptos" panose="020B0004020202020204" pitchFamily="34" charset="0"/>
              </a:rPr>
              <a:t>Find the Statutory Instrument listed for Relevant Contracts Tax</a:t>
            </a:r>
          </a:p>
          <a:p>
            <a:pPr>
              <a:lnSpc>
                <a:spcPct val="120000"/>
              </a:lnSpc>
            </a:pPr>
            <a:r>
              <a:rPr lang="en-IE" sz="2400" b="1" dirty="0">
                <a:solidFill>
                  <a:srgbClr val="006666"/>
                </a:solidFill>
                <a:latin typeface="Aptos" panose="020B0004020202020204" pitchFamily="34" charset="0"/>
              </a:rPr>
              <a:t>State the number and year of the S.I.</a:t>
            </a:r>
          </a:p>
          <a:p>
            <a:pPr>
              <a:lnSpc>
                <a:spcPct val="120000"/>
              </a:lnSpc>
            </a:pPr>
            <a:r>
              <a:rPr lang="en-IE" sz="2400" b="1" dirty="0">
                <a:solidFill>
                  <a:srgbClr val="006666"/>
                </a:solidFill>
                <a:latin typeface="Aptos" panose="020B0004020202020204" pitchFamily="34" charset="0"/>
              </a:rPr>
              <a:t>Go to the pages containing the S.I.</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00933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10469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Statutory Instrument (S.I. No. 576 of 2012)</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1442719" y="1104691"/>
            <a:ext cx="9093201" cy="5138369"/>
          </a:xfrm>
        </p:spPr>
        <p:txBody>
          <a:bodyPr>
            <a:normAutofit/>
          </a:bodyPr>
          <a:lstStyle/>
          <a:p>
            <a:pPr marL="0" indent="0">
              <a:lnSpc>
                <a:spcPct val="120000"/>
              </a:lnSpc>
              <a:buNone/>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1827312-E0EE-FFCB-DD87-A612FC964584}"/>
              </a:ext>
            </a:extLst>
          </p:cNvPr>
          <p:cNvPicPr>
            <a:picLocks noChangeAspect="1"/>
          </p:cNvPicPr>
          <p:nvPr/>
        </p:nvPicPr>
        <p:blipFill>
          <a:blip r:embed="rId4"/>
          <a:stretch>
            <a:fillRect/>
          </a:stretch>
        </p:blipFill>
        <p:spPr>
          <a:xfrm>
            <a:off x="1988589" y="950580"/>
            <a:ext cx="6824744" cy="5190922"/>
          </a:xfrm>
          <a:prstGeom prst="rect">
            <a:avLst/>
          </a:prstGeom>
        </p:spPr>
      </p:pic>
      <p:pic>
        <p:nvPicPr>
          <p:cNvPr id="8" name="Graphic 7" descr="Line arrow: Straight with solid fill">
            <a:extLst>
              <a:ext uri="{FF2B5EF4-FFF2-40B4-BE49-F238E27FC236}">
                <a16:creationId xmlns:a16="http://schemas.microsoft.com/office/drawing/2014/main" id="{BE3AB4F9-2695-3690-89D5-FD4F53CFDE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0632" y="5220175"/>
            <a:ext cx="914400" cy="914400"/>
          </a:xfrm>
          <a:prstGeom prst="rect">
            <a:avLst/>
          </a:prstGeom>
        </p:spPr>
      </p:pic>
    </p:spTree>
    <p:extLst>
      <p:ext uri="{BB962C8B-B14F-4D97-AF65-F5344CB8AC3E}">
        <p14:creationId xmlns:p14="http://schemas.microsoft.com/office/powerpoint/2010/main" val="39287168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10469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Statutory Instrument (S.I. No. 576 of 2012)</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1442719" y="1104691"/>
            <a:ext cx="9093201" cy="5138369"/>
          </a:xfrm>
        </p:spPr>
        <p:txBody>
          <a:bodyPr>
            <a:normAutofit/>
          </a:bodyPr>
          <a:lstStyle/>
          <a:p>
            <a:pPr marL="0" indent="0">
              <a:lnSpc>
                <a:spcPct val="120000"/>
              </a:lnSpc>
              <a:buNone/>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ADC3E8BC-DEEF-34E0-C163-2555C998C9CC}"/>
              </a:ext>
            </a:extLst>
          </p:cNvPr>
          <p:cNvPicPr>
            <a:picLocks noChangeAspect="1"/>
          </p:cNvPicPr>
          <p:nvPr/>
        </p:nvPicPr>
        <p:blipFill>
          <a:blip r:embed="rId4"/>
          <a:stretch>
            <a:fillRect/>
          </a:stretch>
        </p:blipFill>
        <p:spPr>
          <a:xfrm>
            <a:off x="2845893" y="1104691"/>
            <a:ext cx="6111330" cy="5364177"/>
          </a:xfrm>
          <a:prstGeom prst="rect">
            <a:avLst/>
          </a:prstGeom>
        </p:spPr>
      </p:pic>
    </p:spTree>
    <p:extLst>
      <p:ext uri="{BB962C8B-B14F-4D97-AF65-F5344CB8AC3E}">
        <p14:creationId xmlns:p14="http://schemas.microsoft.com/office/powerpoint/2010/main" val="241934983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10469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Statutory Instrument (S.I. No. 576 of 2012)</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1442719" y="1104691"/>
            <a:ext cx="9093201" cy="5138369"/>
          </a:xfrm>
        </p:spPr>
        <p:txBody>
          <a:bodyPr>
            <a:normAutofit/>
          </a:bodyPr>
          <a:lstStyle/>
          <a:p>
            <a:pPr marL="0" indent="0">
              <a:lnSpc>
                <a:spcPct val="120000"/>
              </a:lnSpc>
              <a:buNone/>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79FE2D44-9EFE-9460-F550-F0E81BB9B0CE}"/>
              </a:ext>
            </a:extLst>
          </p:cNvPr>
          <p:cNvPicPr>
            <a:picLocks noChangeAspect="1"/>
          </p:cNvPicPr>
          <p:nvPr/>
        </p:nvPicPr>
        <p:blipFill>
          <a:blip r:embed="rId4"/>
          <a:stretch>
            <a:fillRect/>
          </a:stretch>
        </p:blipFill>
        <p:spPr>
          <a:xfrm>
            <a:off x="2582328" y="1104691"/>
            <a:ext cx="7193597" cy="5203745"/>
          </a:xfrm>
          <a:prstGeom prst="rect">
            <a:avLst/>
          </a:prstGeom>
        </p:spPr>
      </p:pic>
    </p:spTree>
    <p:extLst>
      <p:ext uri="{BB962C8B-B14F-4D97-AF65-F5344CB8AC3E}">
        <p14:creationId xmlns:p14="http://schemas.microsoft.com/office/powerpoint/2010/main" val="36054416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10469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Statutory Instrument (S.I. No. 576 of 2012)</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1442719" y="1104691"/>
            <a:ext cx="9093201" cy="5138369"/>
          </a:xfrm>
        </p:spPr>
        <p:txBody>
          <a:bodyPr>
            <a:normAutofit/>
          </a:bodyPr>
          <a:lstStyle/>
          <a:p>
            <a:pPr marL="0" indent="0">
              <a:lnSpc>
                <a:spcPct val="120000"/>
              </a:lnSpc>
              <a:buNone/>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95FE5F46-8895-1ECF-AF46-E50CCE667578}"/>
              </a:ext>
            </a:extLst>
          </p:cNvPr>
          <p:cNvPicPr>
            <a:picLocks noChangeAspect="1"/>
          </p:cNvPicPr>
          <p:nvPr/>
        </p:nvPicPr>
        <p:blipFill>
          <a:blip r:embed="rId4"/>
          <a:stretch>
            <a:fillRect/>
          </a:stretch>
        </p:blipFill>
        <p:spPr>
          <a:xfrm>
            <a:off x="1892452" y="1104691"/>
            <a:ext cx="8193734" cy="3566469"/>
          </a:xfrm>
          <a:prstGeom prst="rect">
            <a:avLst/>
          </a:prstGeom>
        </p:spPr>
      </p:pic>
      <p:sp>
        <p:nvSpPr>
          <p:cNvPr id="9" name="TextBox 8">
            <a:extLst>
              <a:ext uri="{FF2B5EF4-FFF2-40B4-BE49-F238E27FC236}">
                <a16:creationId xmlns:a16="http://schemas.microsoft.com/office/drawing/2014/main" id="{C4A2D78E-69F5-800C-BEC9-DC686AFB0790}"/>
              </a:ext>
            </a:extLst>
          </p:cNvPr>
          <p:cNvSpPr txBox="1"/>
          <p:nvPr/>
        </p:nvSpPr>
        <p:spPr>
          <a:xfrm>
            <a:off x="2007439" y="5119786"/>
            <a:ext cx="8307238" cy="1200329"/>
          </a:xfrm>
          <a:prstGeom prst="rect">
            <a:avLst/>
          </a:prstGeom>
          <a:noFill/>
        </p:spPr>
        <p:txBody>
          <a:bodyPr wrap="square" rtlCol="0">
            <a:spAutoFit/>
          </a:bodyPr>
          <a:lstStyle/>
          <a:p>
            <a:r>
              <a:rPr lang="en-IE" sz="2400" dirty="0">
                <a:solidFill>
                  <a:srgbClr val="006666"/>
                </a:solidFill>
                <a:latin typeface="Aptos" panose="020B0004020202020204" pitchFamily="34" charset="0"/>
              </a:rPr>
              <a:t>Note: These Regulations replace S.I. 761 of 2004 which stated that the Principal was required to register as a Principal within 21 days of entering a relevant contract with a subcontractor</a:t>
            </a:r>
          </a:p>
        </p:txBody>
      </p:sp>
    </p:spTree>
    <p:extLst>
      <p:ext uri="{BB962C8B-B14F-4D97-AF65-F5344CB8AC3E}">
        <p14:creationId xmlns:p14="http://schemas.microsoft.com/office/powerpoint/2010/main" val="5276916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1066800" y="0"/>
            <a:ext cx="10424160"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Go To ‘Contents’ – Final Item Listed - The Index</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marL="0" indent="0">
              <a:lnSpc>
                <a:spcPct val="120000"/>
              </a:lnSpc>
              <a:buNone/>
            </a:pPr>
            <a:r>
              <a:rPr lang="en-IE" sz="2400" b="1" dirty="0">
                <a:solidFill>
                  <a:schemeClr val="accent1">
                    <a:lumMod val="50000"/>
                  </a:schemeClr>
                </a:solidFill>
                <a:latin typeface="Aptos" panose="020B0004020202020204" pitchFamily="34" charset="0"/>
              </a:rPr>
              <a:t>Index- Alphabetical Order: </a:t>
            </a:r>
          </a:p>
          <a:p>
            <a:pPr marL="0" indent="0">
              <a:lnSpc>
                <a:spcPct val="120000"/>
              </a:lnSpc>
              <a:buNone/>
            </a:pPr>
            <a:endParaRPr lang="en-IE" sz="1000" b="1"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The final item listed in ‘Contents’ at the beginning of the book states the page on which the ‘</a:t>
            </a:r>
            <a:r>
              <a:rPr lang="en-IE" sz="2400" b="1" dirty="0">
                <a:solidFill>
                  <a:schemeClr val="accent1">
                    <a:lumMod val="50000"/>
                  </a:schemeClr>
                </a:solidFill>
                <a:latin typeface="Aptos" panose="020B0004020202020204" pitchFamily="34" charset="0"/>
              </a:rPr>
              <a:t>index’</a:t>
            </a:r>
            <a:r>
              <a:rPr lang="en-IE" sz="2400" dirty="0">
                <a:solidFill>
                  <a:schemeClr val="accent1">
                    <a:lumMod val="50000"/>
                  </a:schemeClr>
                </a:solidFill>
                <a:latin typeface="Aptos" panose="020B0004020202020204" pitchFamily="34" charset="0"/>
              </a:rPr>
              <a:t> at the back of the book starts. </a:t>
            </a:r>
          </a:p>
          <a:p>
            <a:pPr>
              <a:lnSpc>
                <a:spcPct val="120000"/>
              </a:lnSpc>
            </a:pPr>
            <a:endParaRPr lang="en-IE" sz="1000"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The </a:t>
            </a:r>
            <a:r>
              <a:rPr lang="en-IE" sz="2400" b="1" dirty="0">
                <a:solidFill>
                  <a:schemeClr val="accent1">
                    <a:lumMod val="50000"/>
                  </a:schemeClr>
                </a:solidFill>
                <a:latin typeface="Aptos" panose="020B0004020202020204" pitchFamily="34" charset="0"/>
              </a:rPr>
              <a:t>index</a:t>
            </a:r>
            <a:r>
              <a:rPr lang="en-IE" sz="2400" dirty="0">
                <a:solidFill>
                  <a:schemeClr val="accent1">
                    <a:lumMod val="50000"/>
                  </a:schemeClr>
                </a:solidFill>
                <a:latin typeface="Aptos" panose="020B0004020202020204" pitchFamily="34" charset="0"/>
              </a:rPr>
              <a:t> shows each relevant </a:t>
            </a:r>
            <a:r>
              <a:rPr lang="en-IE" sz="2400" b="1" dirty="0">
                <a:solidFill>
                  <a:schemeClr val="accent1">
                    <a:lumMod val="50000"/>
                  </a:schemeClr>
                </a:solidFill>
                <a:latin typeface="Aptos" panose="020B0004020202020204" pitchFamily="34" charset="0"/>
              </a:rPr>
              <a:t>Section</a:t>
            </a:r>
            <a:r>
              <a:rPr lang="en-IE" sz="2400" dirty="0">
                <a:solidFill>
                  <a:schemeClr val="accent1">
                    <a:lumMod val="50000"/>
                  </a:schemeClr>
                </a:solidFill>
                <a:latin typeface="Aptos" panose="020B0004020202020204" pitchFamily="34" charset="0"/>
              </a:rPr>
              <a:t> of the legislation and each relevant </a:t>
            </a:r>
            <a:r>
              <a:rPr lang="en-IE" sz="2400" b="1" dirty="0">
                <a:solidFill>
                  <a:schemeClr val="accent1">
                    <a:lumMod val="50000"/>
                  </a:schemeClr>
                </a:solidFill>
                <a:latin typeface="Aptos" panose="020B0004020202020204" pitchFamily="34" charset="0"/>
              </a:rPr>
              <a:t>Schedule</a:t>
            </a:r>
            <a:r>
              <a:rPr lang="en-IE" sz="2400" dirty="0">
                <a:solidFill>
                  <a:schemeClr val="accent1">
                    <a:lumMod val="50000"/>
                  </a:schemeClr>
                </a:solidFill>
                <a:latin typeface="Aptos" panose="020B0004020202020204" pitchFamily="34" charset="0"/>
              </a:rPr>
              <a:t> from </a:t>
            </a:r>
            <a:r>
              <a:rPr lang="en-IE" sz="2400" b="1" dirty="0">
                <a:solidFill>
                  <a:schemeClr val="accent1">
                    <a:lumMod val="50000"/>
                  </a:schemeClr>
                </a:solidFill>
                <a:latin typeface="Aptos" panose="020B0004020202020204" pitchFamily="34" charset="0"/>
              </a:rPr>
              <a:t>Schedule 1 to Schedule 36</a:t>
            </a:r>
            <a:r>
              <a:rPr lang="en-IE" sz="2400" dirty="0">
                <a:solidFill>
                  <a:schemeClr val="accent1">
                    <a:lumMod val="50000"/>
                  </a:schemeClr>
                </a:solidFill>
                <a:latin typeface="Aptos" panose="020B0004020202020204" pitchFamily="34" charset="0"/>
              </a:rPr>
              <a:t>, relating to each topic, sub-topic etc.</a:t>
            </a:r>
          </a:p>
          <a:p>
            <a:pPr>
              <a:lnSpc>
                <a:spcPct val="120000"/>
              </a:lnSpc>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082411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016000"/>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Go To the Index</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a:lnSpc>
                <a:spcPct val="120000"/>
              </a:lnSpc>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6EEAE75-CA33-BE26-ED4A-25AFA442D409}"/>
              </a:ext>
            </a:extLst>
          </p:cNvPr>
          <p:cNvPicPr>
            <a:picLocks noChangeAspect="1"/>
          </p:cNvPicPr>
          <p:nvPr/>
        </p:nvPicPr>
        <p:blipFill>
          <a:blip r:embed="rId4"/>
          <a:stretch>
            <a:fillRect/>
          </a:stretch>
        </p:blipFill>
        <p:spPr>
          <a:xfrm>
            <a:off x="1227083" y="975278"/>
            <a:ext cx="5369560" cy="5369560"/>
          </a:xfrm>
          <a:prstGeom prst="rect">
            <a:avLst/>
          </a:prstGeom>
        </p:spPr>
      </p:pic>
      <p:sp>
        <p:nvSpPr>
          <p:cNvPr id="7" name="TextBox 6">
            <a:extLst>
              <a:ext uri="{FF2B5EF4-FFF2-40B4-BE49-F238E27FC236}">
                <a16:creationId xmlns:a16="http://schemas.microsoft.com/office/drawing/2014/main" id="{8782DDBB-D834-1A72-0955-5EA8DB099369}"/>
              </a:ext>
            </a:extLst>
          </p:cNvPr>
          <p:cNvSpPr txBox="1"/>
          <p:nvPr/>
        </p:nvSpPr>
        <p:spPr>
          <a:xfrm>
            <a:off x="7500257" y="1491343"/>
            <a:ext cx="3646714" cy="2092881"/>
          </a:xfrm>
          <a:prstGeom prst="rect">
            <a:avLst/>
          </a:prstGeom>
          <a:noFill/>
        </p:spPr>
        <p:txBody>
          <a:bodyPr wrap="square" rtlCol="0">
            <a:spAutoFit/>
          </a:bodyPr>
          <a:lstStyle/>
          <a:p>
            <a:r>
              <a:rPr lang="en-IE" sz="2600" dirty="0">
                <a:solidFill>
                  <a:schemeClr val="tx2">
                    <a:lumMod val="50000"/>
                  </a:schemeClr>
                </a:solidFill>
                <a:latin typeface="Aptos" panose="020B0004020202020204" pitchFamily="34" charset="0"/>
              </a:rPr>
              <a:t>In this photo of the TCA index we can see that ‘accountable persons’ are provided for in S521 and Schedule 13</a:t>
            </a:r>
          </a:p>
        </p:txBody>
      </p:sp>
      <p:sp>
        <p:nvSpPr>
          <p:cNvPr id="8" name="Rectangle 7">
            <a:extLst>
              <a:ext uri="{FF2B5EF4-FFF2-40B4-BE49-F238E27FC236}">
                <a16:creationId xmlns:a16="http://schemas.microsoft.com/office/drawing/2014/main" id="{AB97E76E-0D5D-A669-1499-2017901D7F90}"/>
              </a:ext>
            </a:extLst>
          </p:cNvPr>
          <p:cNvSpPr/>
          <p:nvPr/>
        </p:nvSpPr>
        <p:spPr>
          <a:xfrm>
            <a:off x="2318657" y="4593771"/>
            <a:ext cx="3037114" cy="5442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9415060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Class Exercise- Index</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1286015" y="1224879"/>
            <a:ext cx="9231086" cy="4696187"/>
          </a:xfrm>
        </p:spPr>
        <p:txBody>
          <a:bodyPr>
            <a:normAutofit/>
          </a:bodyPr>
          <a:lstStyle/>
          <a:p>
            <a:pPr marL="0" indent="0">
              <a:lnSpc>
                <a:spcPct val="120000"/>
              </a:lnSpc>
              <a:buNone/>
            </a:pPr>
            <a:r>
              <a:rPr lang="en-IE" sz="2400" b="1" dirty="0">
                <a:solidFill>
                  <a:srgbClr val="006666"/>
                </a:solidFill>
                <a:latin typeface="Aptos" panose="020B0004020202020204" pitchFamily="34" charset="0"/>
              </a:rPr>
              <a:t>Go to the Index:</a:t>
            </a:r>
          </a:p>
          <a:p>
            <a:pPr marL="0" indent="0">
              <a:lnSpc>
                <a:spcPct val="120000"/>
              </a:lnSpc>
              <a:buNone/>
            </a:pPr>
            <a:r>
              <a:rPr lang="en-IE" sz="2400" dirty="0">
                <a:solidFill>
                  <a:srgbClr val="006666"/>
                </a:solidFill>
                <a:latin typeface="Aptos" panose="020B0004020202020204" pitchFamily="34" charset="0"/>
              </a:rPr>
              <a:t>Find:</a:t>
            </a:r>
          </a:p>
          <a:p>
            <a:pPr marL="457200" indent="-457200">
              <a:lnSpc>
                <a:spcPct val="120000"/>
              </a:lnSpc>
              <a:buFont typeface="+mj-lt"/>
              <a:buAutoNum type="arabicPeriod"/>
            </a:pPr>
            <a:r>
              <a:rPr lang="en-IE" sz="2400" dirty="0">
                <a:solidFill>
                  <a:srgbClr val="006666"/>
                </a:solidFill>
                <a:latin typeface="Aptos" panose="020B0004020202020204" pitchFamily="34" charset="0"/>
              </a:rPr>
              <a:t>The section of the legislation which contains the provisions for ‘The Residence of Individuals’ and the relevant </a:t>
            </a:r>
            <a:r>
              <a:rPr lang="en-IE" sz="2400" b="1" dirty="0">
                <a:solidFill>
                  <a:srgbClr val="006666"/>
                </a:solidFill>
                <a:latin typeface="Aptos" panose="020B0004020202020204" pitchFamily="34" charset="0"/>
              </a:rPr>
              <a:t>residency tests and</a:t>
            </a:r>
          </a:p>
          <a:p>
            <a:pPr marL="457200" indent="-457200">
              <a:lnSpc>
                <a:spcPct val="120000"/>
              </a:lnSpc>
              <a:buFont typeface="+mj-lt"/>
              <a:buAutoNum type="arabicPeriod"/>
            </a:pPr>
            <a:endParaRPr lang="en-IE" sz="2400" dirty="0">
              <a:solidFill>
                <a:srgbClr val="006666"/>
              </a:solidFill>
              <a:latin typeface="Aptos" panose="020B0004020202020204" pitchFamily="34" charset="0"/>
            </a:endParaRPr>
          </a:p>
          <a:p>
            <a:pPr marL="457200" indent="-457200">
              <a:lnSpc>
                <a:spcPct val="120000"/>
              </a:lnSpc>
              <a:buFont typeface="+mj-lt"/>
              <a:buAutoNum type="arabicPeriod"/>
            </a:pPr>
            <a:r>
              <a:rPr lang="en-IE" sz="2400" dirty="0">
                <a:solidFill>
                  <a:srgbClr val="006666"/>
                </a:solidFill>
                <a:latin typeface="Aptos" panose="020B0004020202020204" pitchFamily="34" charset="0"/>
              </a:rPr>
              <a:t>The section of the legislation which contains the provisions for ‘</a:t>
            </a:r>
            <a:r>
              <a:rPr lang="en-IE" sz="2400" b="1" dirty="0">
                <a:solidFill>
                  <a:srgbClr val="006666"/>
                </a:solidFill>
                <a:latin typeface="Aptos" panose="020B0004020202020204" pitchFamily="34" charset="0"/>
              </a:rPr>
              <a:t>Split Year Residence’</a:t>
            </a:r>
          </a:p>
          <a:p>
            <a:pPr marL="457200" indent="-457200">
              <a:lnSpc>
                <a:spcPct val="120000"/>
              </a:lnSpc>
              <a:buFont typeface="+mj-lt"/>
              <a:buAutoNum type="arabicPeriod"/>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27235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922946"/>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Solution – Extract from Direct Taxes Act</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marL="0" indent="0">
              <a:lnSpc>
                <a:spcPct val="120000"/>
              </a:lnSpc>
              <a:buNone/>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D77B27AA-F5CC-2BA4-983E-B62CD7FCB05B}"/>
              </a:ext>
            </a:extLst>
          </p:cNvPr>
          <p:cNvPicPr>
            <a:picLocks noChangeAspect="1"/>
          </p:cNvPicPr>
          <p:nvPr/>
        </p:nvPicPr>
        <p:blipFill>
          <a:blip r:embed="rId4"/>
          <a:stretch>
            <a:fillRect/>
          </a:stretch>
        </p:blipFill>
        <p:spPr>
          <a:xfrm>
            <a:off x="2518522" y="935893"/>
            <a:ext cx="7154956" cy="5643840"/>
          </a:xfrm>
          <a:prstGeom prst="rect">
            <a:avLst/>
          </a:prstGeom>
        </p:spPr>
      </p:pic>
      <p:pic>
        <p:nvPicPr>
          <p:cNvPr id="12" name="Graphic 11" descr="Arrow Right with solid fill">
            <a:extLst>
              <a:ext uri="{FF2B5EF4-FFF2-40B4-BE49-F238E27FC236}">
                <a16:creationId xmlns:a16="http://schemas.microsoft.com/office/drawing/2014/main" id="{A20FD7E8-5C09-AAB9-07A9-4053067652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28982" y="2745658"/>
            <a:ext cx="914400" cy="914400"/>
          </a:xfrm>
          <a:prstGeom prst="rect">
            <a:avLst/>
          </a:prstGeom>
        </p:spPr>
      </p:pic>
      <p:pic>
        <p:nvPicPr>
          <p:cNvPr id="13" name="Picture 12">
            <a:extLst>
              <a:ext uri="{FF2B5EF4-FFF2-40B4-BE49-F238E27FC236}">
                <a16:creationId xmlns:a16="http://schemas.microsoft.com/office/drawing/2014/main" id="{4C099FBA-038A-8DF3-6013-A70098F404C0}"/>
              </a:ext>
            </a:extLst>
          </p:cNvPr>
          <p:cNvPicPr>
            <a:picLocks noChangeAspect="1"/>
          </p:cNvPicPr>
          <p:nvPr/>
        </p:nvPicPr>
        <p:blipFill>
          <a:blip r:embed="rId7"/>
          <a:stretch>
            <a:fillRect/>
          </a:stretch>
        </p:blipFill>
        <p:spPr>
          <a:xfrm>
            <a:off x="2128903" y="4596920"/>
            <a:ext cx="914479" cy="914479"/>
          </a:xfrm>
          <a:prstGeom prst="rect">
            <a:avLst/>
          </a:prstGeom>
        </p:spPr>
      </p:pic>
      <p:pic>
        <p:nvPicPr>
          <p:cNvPr id="14" name="Picture 13">
            <a:extLst>
              <a:ext uri="{FF2B5EF4-FFF2-40B4-BE49-F238E27FC236}">
                <a16:creationId xmlns:a16="http://schemas.microsoft.com/office/drawing/2014/main" id="{B88EC9DE-71E5-15CA-4104-8EA06FCF57D9}"/>
              </a:ext>
            </a:extLst>
          </p:cNvPr>
          <p:cNvPicPr>
            <a:picLocks noChangeAspect="1"/>
          </p:cNvPicPr>
          <p:nvPr/>
        </p:nvPicPr>
        <p:blipFill>
          <a:blip r:embed="rId7"/>
          <a:stretch>
            <a:fillRect/>
          </a:stretch>
        </p:blipFill>
        <p:spPr>
          <a:xfrm rot="10800000">
            <a:off x="8758999" y="5106619"/>
            <a:ext cx="914479" cy="914479"/>
          </a:xfrm>
          <a:prstGeom prst="rect">
            <a:avLst/>
          </a:prstGeom>
        </p:spPr>
      </p:pic>
    </p:spTree>
    <p:extLst>
      <p:ext uri="{BB962C8B-B14F-4D97-AF65-F5344CB8AC3E}">
        <p14:creationId xmlns:p14="http://schemas.microsoft.com/office/powerpoint/2010/main" val="36571502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983686" cy="922946"/>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Solution – Extract from Direct Taxes Act cont’d</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marL="0" indent="0">
              <a:lnSpc>
                <a:spcPct val="120000"/>
              </a:lnSpc>
              <a:buNone/>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75D42A96-E1CF-181B-D045-300EB09DDDA4}"/>
              </a:ext>
            </a:extLst>
          </p:cNvPr>
          <p:cNvPicPr>
            <a:picLocks noChangeAspect="1"/>
          </p:cNvPicPr>
          <p:nvPr/>
        </p:nvPicPr>
        <p:blipFill>
          <a:blip r:embed="rId4"/>
          <a:stretch>
            <a:fillRect/>
          </a:stretch>
        </p:blipFill>
        <p:spPr>
          <a:xfrm>
            <a:off x="2666097" y="884896"/>
            <a:ext cx="6463461" cy="4286922"/>
          </a:xfrm>
          <a:prstGeom prst="rect">
            <a:avLst/>
          </a:prstGeom>
        </p:spPr>
      </p:pic>
      <p:pic>
        <p:nvPicPr>
          <p:cNvPr id="7" name="Picture 6">
            <a:extLst>
              <a:ext uri="{FF2B5EF4-FFF2-40B4-BE49-F238E27FC236}">
                <a16:creationId xmlns:a16="http://schemas.microsoft.com/office/drawing/2014/main" id="{336AA150-3A7E-8E70-EE0C-615D0B010C77}"/>
              </a:ext>
            </a:extLst>
          </p:cNvPr>
          <p:cNvPicPr>
            <a:picLocks noChangeAspect="1"/>
          </p:cNvPicPr>
          <p:nvPr/>
        </p:nvPicPr>
        <p:blipFill>
          <a:blip r:embed="rId5"/>
          <a:stretch>
            <a:fillRect/>
          </a:stretch>
        </p:blipFill>
        <p:spPr>
          <a:xfrm>
            <a:off x="2666097" y="5659050"/>
            <a:ext cx="6313524" cy="1087223"/>
          </a:xfrm>
          <a:prstGeom prst="rect">
            <a:avLst/>
          </a:prstGeom>
        </p:spPr>
      </p:pic>
      <p:cxnSp>
        <p:nvCxnSpPr>
          <p:cNvPr id="10" name="Straight Connector 9">
            <a:extLst>
              <a:ext uri="{FF2B5EF4-FFF2-40B4-BE49-F238E27FC236}">
                <a16:creationId xmlns:a16="http://schemas.microsoft.com/office/drawing/2014/main" id="{2682E040-83AC-E2EC-67DA-C6B2F5F32689}"/>
              </a:ext>
            </a:extLst>
          </p:cNvPr>
          <p:cNvCxnSpPr/>
          <p:nvPr/>
        </p:nvCxnSpPr>
        <p:spPr>
          <a:xfrm>
            <a:off x="2591128" y="5366327"/>
            <a:ext cx="694079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25211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Go To the Table of Cases - Case Law Listing</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507546" y="1104690"/>
            <a:ext cx="11176907" cy="5138369"/>
          </a:xfrm>
        </p:spPr>
        <p:txBody>
          <a:bodyPr>
            <a:normAutofit fontScale="85000" lnSpcReduction="20000"/>
          </a:bodyPr>
          <a:lstStyle/>
          <a:p>
            <a:pPr marL="0" indent="0">
              <a:lnSpc>
                <a:spcPct val="120000"/>
              </a:lnSpc>
              <a:buNone/>
            </a:pPr>
            <a:r>
              <a:rPr lang="en-IE" sz="2400" b="1" dirty="0">
                <a:solidFill>
                  <a:schemeClr val="accent1">
                    <a:lumMod val="50000"/>
                  </a:schemeClr>
                </a:solidFill>
                <a:latin typeface="Aptos" panose="020B0004020202020204" pitchFamily="34" charset="0"/>
              </a:rPr>
              <a:t>Table of Cases (Case Law)</a:t>
            </a:r>
          </a:p>
          <a:p>
            <a:pPr marL="0" indent="0">
              <a:lnSpc>
                <a:spcPct val="120000"/>
              </a:lnSpc>
              <a:buNone/>
            </a:pPr>
            <a:endParaRPr lang="en-IE" sz="1000" b="1"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 ‘Contents’ list is immediately followed by an alphabetical list of </a:t>
            </a:r>
            <a:r>
              <a:rPr lang="en-IE" sz="2400" b="1" dirty="0">
                <a:solidFill>
                  <a:schemeClr val="accent1">
                    <a:lumMod val="50000"/>
                  </a:schemeClr>
                </a:solidFill>
                <a:latin typeface="Aptos" panose="020B0004020202020204" pitchFamily="34" charset="0"/>
              </a:rPr>
              <a:t>Case law, </a:t>
            </a:r>
            <a:r>
              <a:rPr lang="en-IE" sz="2400" dirty="0">
                <a:solidFill>
                  <a:schemeClr val="accent1">
                    <a:lumMod val="50000"/>
                  </a:schemeClr>
                </a:solidFill>
                <a:latin typeface="Aptos" panose="020B0004020202020204" pitchFamily="34" charset="0"/>
              </a:rPr>
              <a:t>stating the </a:t>
            </a:r>
            <a:r>
              <a:rPr lang="en-IE" sz="2400" b="1" dirty="0">
                <a:solidFill>
                  <a:schemeClr val="accent1">
                    <a:lumMod val="50000"/>
                  </a:schemeClr>
                </a:solidFill>
                <a:latin typeface="Aptos" panose="020B0004020202020204" pitchFamily="34" charset="0"/>
              </a:rPr>
              <a:t>case reference </a:t>
            </a:r>
            <a:r>
              <a:rPr lang="en-IE" sz="2400" dirty="0">
                <a:solidFill>
                  <a:schemeClr val="accent1">
                    <a:lumMod val="50000"/>
                  </a:schemeClr>
                </a:solidFill>
                <a:latin typeface="Aptos" panose="020B0004020202020204" pitchFamily="34" charset="0"/>
              </a:rPr>
              <a:t>and the </a:t>
            </a:r>
            <a:r>
              <a:rPr lang="en-IE" sz="2400" b="1" dirty="0">
                <a:solidFill>
                  <a:schemeClr val="accent1">
                    <a:lumMod val="50000"/>
                  </a:schemeClr>
                </a:solidFill>
                <a:latin typeface="Aptos" panose="020B0004020202020204" pitchFamily="34" charset="0"/>
              </a:rPr>
              <a:t>relevant section/s </a:t>
            </a:r>
            <a:r>
              <a:rPr lang="en-IE" sz="2400" dirty="0">
                <a:solidFill>
                  <a:schemeClr val="accent1">
                    <a:lumMod val="50000"/>
                  </a:schemeClr>
                </a:solidFill>
                <a:latin typeface="Aptos" panose="020B0004020202020204" pitchFamily="34" charset="0"/>
              </a:rPr>
              <a:t>of the legislation to which the case relates</a:t>
            </a:r>
          </a:p>
          <a:p>
            <a:pPr>
              <a:lnSpc>
                <a:spcPct val="120000"/>
              </a:lnSpc>
            </a:pPr>
            <a:r>
              <a:rPr lang="en-IE" sz="2400" dirty="0">
                <a:solidFill>
                  <a:schemeClr val="accent1">
                    <a:lumMod val="50000"/>
                  </a:schemeClr>
                </a:solidFill>
                <a:latin typeface="Aptos" panose="020B0004020202020204" pitchFamily="34" charset="0"/>
              </a:rPr>
              <a:t>Many cases are UK cases which are </a:t>
            </a:r>
            <a:r>
              <a:rPr lang="en-IE" sz="2400" b="1" dirty="0">
                <a:solidFill>
                  <a:schemeClr val="accent1">
                    <a:lumMod val="50000"/>
                  </a:schemeClr>
                </a:solidFill>
                <a:latin typeface="Aptos" panose="020B0004020202020204" pitchFamily="34" charset="0"/>
              </a:rPr>
              <a:t>relevant in Irish Courts </a:t>
            </a:r>
            <a:endParaRPr lang="en-IE" sz="2400"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Caseworkers should note that </a:t>
            </a:r>
            <a:r>
              <a:rPr lang="en-IE" sz="2400" b="1" dirty="0">
                <a:solidFill>
                  <a:schemeClr val="accent1">
                    <a:lumMod val="50000"/>
                  </a:schemeClr>
                </a:solidFill>
                <a:latin typeface="Aptos" panose="020B0004020202020204" pitchFamily="34" charset="0"/>
              </a:rPr>
              <a:t>subsequent determinations </a:t>
            </a:r>
            <a:r>
              <a:rPr lang="en-IE" sz="2400" dirty="0">
                <a:solidFill>
                  <a:schemeClr val="accent1">
                    <a:lumMod val="50000"/>
                  </a:schemeClr>
                </a:solidFill>
                <a:latin typeface="Aptos" panose="020B0004020202020204" pitchFamily="34" charset="0"/>
              </a:rPr>
              <a:t>made in </a:t>
            </a:r>
            <a:r>
              <a:rPr lang="en-IE" sz="2400" b="1" dirty="0">
                <a:solidFill>
                  <a:schemeClr val="accent1">
                    <a:lumMod val="50000"/>
                  </a:schemeClr>
                </a:solidFill>
                <a:latin typeface="Aptos" panose="020B0004020202020204" pitchFamily="34" charset="0"/>
              </a:rPr>
              <a:t>Irish courts may differ </a:t>
            </a:r>
            <a:r>
              <a:rPr lang="en-IE" sz="2400" dirty="0">
                <a:solidFill>
                  <a:schemeClr val="accent1">
                    <a:lumMod val="50000"/>
                  </a:schemeClr>
                </a:solidFill>
                <a:latin typeface="Aptos" panose="020B0004020202020204" pitchFamily="34" charset="0"/>
              </a:rPr>
              <a:t>from a previous decision in a UK case (</a:t>
            </a:r>
            <a:r>
              <a:rPr lang="en-IE" sz="2400" i="1" dirty="0">
                <a:solidFill>
                  <a:schemeClr val="accent1">
                    <a:lumMod val="50000"/>
                  </a:schemeClr>
                </a:solidFill>
                <a:latin typeface="Aptos" panose="020B0004020202020204" pitchFamily="34" charset="0"/>
              </a:rPr>
              <a:t>e.g. </a:t>
            </a:r>
            <a:r>
              <a:rPr lang="en-IE" sz="2400" b="1" i="1" dirty="0">
                <a:solidFill>
                  <a:schemeClr val="accent1">
                    <a:lumMod val="50000"/>
                  </a:schemeClr>
                </a:solidFill>
                <a:latin typeface="Aptos" panose="020B0004020202020204" pitchFamily="34" charset="0"/>
              </a:rPr>
              <a:t>tax treatment of food delivery drivers </a:t>
            </a:r>
            <a:r>
              <a:rPr lang="en-IE" sz="2400" i="1" dirty="0">
                <a:solidFill>
                  <a:schemeClr val="accent1">
                    <a:lumMod val="50000"/>
                  </a:schemeClr>
                </a:solidFill>
                <a:latin typeface="Aptos" panose="020B0004020202020204" pitchFamily="34" charset="0"/>
              </a:rPr>
              <a:t>in the State (Karshan/Domino’s Pizza Case 2023, </a:t>
            </a:r>
            <a:r>
              <a:rPr lang="en-IE" sz="2400" b="1" i="1" dirty="0">
                <a:solidFill>
                  <a:schemeClr val="accent1">
                    <a:lumMod val="50000"/>
                  </a:schemeClr>
                </a:solidFill>
                <a:latin typeface="Aptos" panose="020B0004020202020204" pitchFamily="34" charset="0"/>
              </a:rPr>
              <a:t>employees </a:t>
            </a:r>
            <a:r>
              <a:rPr lang="en-IE" sz="2400" b="1" i="1" u="sng" dirty="0">
                <a:solidFill>
                  <a:schemeClr val="accent1">
                    <a:lumMod val="50000"/>
                  </a:schemeClr>
                </a:solidFill>
                <a:latin typeface="Aptos" panose="020B0004020202020204" pitchFamily="34" charset="0"/>
              </a:rPr>
              <a:t>not</a:t>
            </a:r>
            <a:r>
              <a:rPr lang="en-IE" sz="2400" b="1" i="1" dirty="0">
                <a:solidFill>
                  <a:schemeClr val="accent1">
                    <a:lumMod val="50000"/>
                  </a:schemeClr>
                </a:solidFill>
                <a:latin typeface="Aptos" panose="020B0004020202020204" pitchFamily="34" charset="0"/>
              </a:rPr>
              <a:t> self-employed</a:t>
            </a:r>
            <a:r>
              <a:rPr lang="en-IE" sz="2400" dirty="0">
                <a:solidFill>
                  <a:schemeClr val="accent1">
                    <a:lumMod val="50000"/>
                  </a:schemeClr>
                </a:solidFill>
                <a:latin typeface="Aptos" panose="020B0004020202020204" pitchFamily="34" charset="0"/>
              </a:rPr>
              <a:t>)</a:t>
            </a:r>
          </a:p>
          <a:p>
            <a:pPr>
              <a:lnSpc>
                <a:spcPct val="120000"/>
              </a:lnSpc>
            </a:pPr>
            <a:r>
              <a:rPr lang="en-IE" sz="2400" dirty="0">
                <a:solidFill>
                  <a:schemeClr val="accent1">
                    <a:lumMod val="50000"/>
                  </a:schemeClr>
                </a:solidFill>
                <a:latin typeface="Aptos" panose="020B0004020202020204" pitchFamily="34" charset="0"/>
              </a:rPr>
              <a:t>Relevant case law will also be listed at the </a:t>
            </a:r>
            <a:r>
              <a:rPr lang="en-IE" sz="2400" b="1" dirty="0">
                <a:solidFill>
                  <a:schemeClr val="accent1">
                    <a:lumMod val="50000"/>
                  </a:schemeClr>
                </a:solidFill>
                <a:latin typeface="Aptos" panose="020B0004020202020204" pitchFamily="34" charset="0"/>
              </a:rPr>
              <a:t>end of the section of the legislation </a:t>
            </a:r>
            <a:r>
              <a:rPr lang="en-IE" sz="2400" dirty="0">
                <a:solidFill>
                  <a:schemeClr val="accent1">
                    <a:lumMod val="50000"/>
                  </a:schemeClr>
                </a:solidFill>
                <a:latin typeface="Aptos" panose="020B0004020202020204" pitchFamily="34" charset="0"/>
              </a:rPr>
              <a:t>together with ‘amendments’ to the section, Revenue precedents, Tax Appeal Determinations, Revenue guidance etc.</a:t>
            </a:r>
          </a:p>
          <a:p>
            <a:pPr>
              <a:lnSpc>
                <a:spcPct val="120000"/>
              </a:lnSpc>
            </a:pPr>
            <a:r>
              <a:rPr lang="en-IE" sz="2600" b="1" dirty="0">
                <a:solidFill>
                  <a:srgbClr val="006666"/>
                </a:solidFill>
                <a:latin typeface="Aptos" panose="020B0004020202020204" pitchFamily="34" charset="0"/>
              </a:rPr>
              <a:t>Look up the Table of Cases for the Karshan Case (relevant to S112 Sch E charge)</a:t>
            </a:r>
          </a:p>
          <a:p>
            <a:pPr>
              <a:lnSpc>
                <a:spcPct val="120000"/>
              </a:lnSpc>
            </a:pPr>
            <a:r>
              <a:rPr lang="en-IE" sz="2600" b="1" dirty="0">
                <a:solidFill>
                  <a:srgbClr val="006666"/>
                </a:solidFill>
                <a:latin typeface="Aptos" panose="020B0004020202020204" pitchFamily="34" charset="0"/>
              </a:rPr>
              <a:t>Check for a case which is relevant to S81 (General rules as to deductions)</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276341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Class Exercise – Case Law </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258802"/>
            <a:ext cx="10515600" cy="5138369"/>
          </a:xfrm>
        </p:spPr>
        <p:txBody>
          <a:bodyPr>
            <a:normAutofit/>
          </a:bodyPr>
          <a:lstStyle/>
          <a:p>
            <a:pPr marL="0" indent="0">
              <a:lnSpc>
                <a:spcPct val="120000"/>
              </a:lnSpc>
              <a:buNone/>
            </a:pPr>
            <a:endParaRPr lang="en-IE" sz="2400" b="1" dirty="0">
              <a:solidFill>
                <a:srgbClr val="006666"/>
              </a:solidFill>
              <a:latin typeface="Aptos" panose="020B0004020202020204" pitchFamily="34" charset="0"/>
            </a:endParaRPr>
          </a:p>
          <a:p>
            <a:pPr marL="0" indent="0">
              <a:lnSpc>
                <a:spcPct val="120000"/>
              </a:lnSpc>
              <a:buNone/>
            </a:pPr>
            <a:r>
              <a:rPr lang="en-IE" sz="2400" b="1" dirty="0">
                <a:solidFill>
                  <a:srgbClr val="006666"/>
                </a:solidFill>
                <a:latin typeface="Aptos" panose="020B0004020202020204" pitchFamily="34" charset="0"/>
              </a:rPr>
              <a:t>Go to Section 81 TCA 1997 ‘General Rules as to Deductions’  to identify suggested case law relating to the non-deductibility of the following:</a:t>
            </a:r>
          </a:p>
          <a:p>
            <a:pPr marL="0" indent="0">
              <a:lnSpc>
                <a:spcPct val="120000"/>
              </a:lnSpc>
              <a:buNone/>
            </a:pPr>
            <a:endParaRPr lang="en-IE" sz="2400" b="1" dirty="0">
              <a:solidFill>
                <a:srgbClr val="006666"/>
              </a:solidFill>
              <a:latin typeface="Aptos" panose="020B0004020202020204" pitchFamily="34" charset="0"/>
            </a:endParaRPr>
          </a:p>
          <a:p>
            <a:pPr marL="457200" indent="-457200">
              <a:lnSpc>
                <a:spcPct val="120000"/>
              </a:lnSpc>
              <a:buFont typeface="+mj-lt"/>
              <a:buAutoNum type="arabicPeriod"/>
            </a:pPr>
            <a:r>
              <a:rPr lang="en-IE" sz="2400" dirty="0">
                <a:solidFill>
                  <a:srgbClr val="006666"/>
                </a:solidFill>
                <a:latin typeface="Aptos" panose="020B0004020202020204" pitchFamily="34" charset="0"/>
              </a:rPr>
              <a:t>The cost of </a:t>
            </a:r>
            <a:r>
              <a:rPr lang="en-IE" sz="2400" b="1" dirty="0">
                <a:solidFill>
                  <a:srgbClr val="006666"/>
                </a:solidFill>
                <a:latin typeface="Aptos" panose="020B0004020202020204" pitchFamily="34" charset="0"/>
              </a:rPr>
              <a:t>clothing</a:t>
            </a:r>
            <a:r>
              <a:rPr lang="en-IE" sz="2400" dirty="0">
                <a:solidFill>
                  <a:srgbClr val="006666"/>
                </a:solidFill>
                <a:latin typeface="Aptos" panose="020B0004020202020204" pitchFamily="34" charset="0"/>
              </a:rPr>
              <a:t> and</a:t>
            </a:r>
          </a:p>
          <a:p>
            <a:pPr marL="457200" indent="-457200">
              <a:lnSpc>
                <a:spcPct val="120000"/>
              </a:lnSpc>
              <a:buFont typeface="+mj-lt"/>
              <a:buAutoNum type="arabicPeriod"/>
            </a:pPr>
            <a:endParaRPr lang="en-IE" sz="2400" dirty="0">
              <a:solidFill>
                <a:srgbClr val="006666"/>
              </a:solidFill>
              <a:latin typeface="Aptos" panose="020B0004020202020204" pitchFamily="34" charset="0"/>
            </a:endParaRPr>
          </a:p>
          <a:p>
            <a:pPr marL="457200" indent="-457200">
              <a:lnSpc>
                <a:spcPct val="120000"/>
              </a:lnSpc>
              <a:buFont typeface="+mj-lt"/>
              <a:buAutoNum type="arabicPeriod"/>
            </a:pPr>
            <a:r>
              <a:rPr lang="en-IE" sz="2400" dirty="0">
                <a:solidFill>
                  <a:srgbClr val="006666"/>
                </a:solidFill>
                <a:latin typeface="Aptos" panose="020B0004020202020204" pitchFamily="34" charset="0"/>
              </a:rPr>
              <a:t>The costs of </a:t>
            </a:r>
            <a:r>
              <a:rPr lang="en-IE" sz="2400" b="1" dirty="0">
                <a:solidFill>
                  <a:srgbClr val="006666"/>
                </a:solidFill>
                <a:latin typeface="Aptos" panose="020B0004020202020204" pitchFamily="34" charset="0"/>
              </a:rPr>
              <a:t>professional fees </a:t>
            </a:r>
            <a:r>
              <a:rPr lang="en-IE" sz="2400" dirty="0">
                <a:solidFill>
                  <a:srgbClr val="006666"/>
                </a:solidFill>
                <a:latin typeface="Aptos" panose="020B0004020202020204" pitchFamily="34" charset="0"/>
              </a:rPr>
              <a:t>incurred in relation to </a:t>
            </a:r>
            <a:r>
              <a:rPr lang="en-IE" sz="2400" b="1" dirty="0">
                <a:solidFill>
                  <a:srgbClr val="006666"/>
                </a:solidFill>
                <a:latin typeface="Aptos" panose="020B0004020202020204" pitchFamily="34" charset="0"/>
              </a:rPr>
              <a:t>criminal proceedings </a:t>
            </a:r>
            <a:r>
              <a:rPr lang="en-IE" sz="2400" dirty="0">
                <a:solidFill>
                  <a:srgbClr val="006666"/>
                </a:solidFill>
                <a:latin typeface="Aptos" panose="020B0004020202020204" pitchFamily="34" charset="0"/>
              </a:rPr>
              <a:t>were ‘wholly and exclusively laid out for the purposes of the trade</a:t>
            </a:r>
          </a:p>
          <a:p>
            <a:pPr marL="0" indent="0">
              <a:lnSpc>
                <a:spcPct val="120000"/>
              </a:lnSpc>
              <a:buNone/>
            </a:pPr>
            <a:endParaRPr lang="en-IE" sz="2400" b="1" dirty="0">
              <a:solidFill>
                <a:srgbClr val="006666"/>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2362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lnSpc>
                <a:spcPct val="120000"/>
              </a:lnSpc>
            </a:pPr>
            <a:r>
              <a:rPr lang="en-IE" sz="3600" b="1" dirty="0">
                <a:solidFill>
                  <a:srgbClr val="006666"/>
                </a:solidFill>
                <a:latin typeface="Aptos" panose="020B0004020202020204" pitchFamily="34" charset="0"/>
                <a:cs typeface="Arial" panose="020B0604020202020204" pitchFamily="34" charset="0"/>
              </a:rPr>
              <a:t>Solution- Extracts from Direct Taxes Act S81</a:t>
            </a:r>
            <a:br>
              <a:rPr lang="en-IE" sz="3600" b="1" dirty="0">
                <a:solidFill>
                  <a:srgbClr val="006666"/>
                </a:solidFill>
                <a:latin typeface="Aptos" panose="020B0004020202020204" pitchFamily="34" charset="0"/>
                <a:cs typeface="Arial" panose="020B0604020202020204" pitchFamily="34" charset="0"/>
              </a:rPr>
            </a:br>
            <a:r>
              <a:rPr lang="en-IE" sz="3600" b="1" dirty="0">
                <a:solidFill>
                  <a:srgbClr val="006666"/>
                </a:solidFill>
                <a:latin typeface="Aptos" panose="020B0004020202020204" pitchFamily="34" charset="0"/>
                <a:cs typeface="Arial" panose="020B0604020202020204" pitchFamily="34" charset="0"/>
              </a:rPr>
              <a:t>General Rules as to Deductions</a:t>
            </a:r>
          </a:p>
        </p:txBody>
      </p:sp>
      <p:pic>
        <p:nvPicPr>
          <p:cNvPr id="7" name="Content Placeholder 6">
            <a:extLst>
              <a:ext uri="{FF2B5EF4-FFF2-40B4-BE49-F238E27FC236}">
                <a16:creationId xmlns:a16="http://schemas.microsoft.com/office/drawing/2014/main" id="{70B12271-01FE-F8AA-6C0C-109D98C1AEC9}"/>
              </a:ext>
            </a:extLst>
          </p:cNvPr>
          <p:cNvPicPr>
            <a:picLocks noGrp="1" noChangeAspect="1"/>
          </p:cNvPicPr>
          <p:nvPr>
            <p:ph sz="half" idx="1"/>
          </p:nvPr>
        </p:nvPicPr>
        <p:blipFill>
          <a:blip r:embed="rId3"/>
          <a:stretch>
            <a:fillRect/>
          </a:stretch>
        </p:blipFill>
        <p:spPr>
          <a:xfrm>
            <a:off x="1488902" y="2145329"/>
            <a:ext cx="8820150" cy="1009650"/>
          </a:xfrm>
        </p:spPr>
      </p:pic>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4"/>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9C105D0E-2FCC-A3F8-AEF9-AFB9B4A203B2}"/>
              </a:ext>
            </a:extLst>
          </p:cNvPr>
          <p:cNvPicPr>
            <a:picLocks noChangeAspect="1"/>
          </p:cNvPicPr>
          <p:nvPr/>
        </p:nvPicPr>
        <p:blipFill>
          <a:blip r:embed="rId5"/>
          <a:stretch>
            <a:fillRect/>
          </a:stretch>
        </p:blipFill>
        <p:spPr>
          <a:xfrm>
            <a:off x="1577748" y="3742862"/>
            <a:ext cx="8905875" cy="981075"/>
          </a:xfrm>
          <a:prstGeom prst="rect">
            <a:avLst/>
          </a:prstGeom>
        </p:spPr>
      </p:pic>
      <p:pic>
        <p:nvPicPr>
          <p:cNvPr id="11" name="Picture 10">
            <a:extLst>
              <a:ext uri="{FF2B5EF4-FFF2-40B4-BE49-F238E27FC236}">
                <a16:creationId xmlns:a16="http://schemas.microsoft.com/office/drawing/2014/main" id="{14921F93-C738-BD1C-8E26-30CC92247453}"/>
              </a:ext>
            </a:extLst>
          </p:cNvPr>
          <p:cNvPicPr>
            <a:picLocks noChangeAspect="1"/>
          </p:cNvPicPr>
          <p:nvPr/>
        </p:nvPicPr>
        <p:blipFill>
          <a:blip r:embed="rId6"/>
          <a:stretch>
            <a:fillRect/>
          </a:stretch>
        </p:blipFill>
        <p:spPr>
          <a:xfrm>
            <a:off x="1488902" y="1634846"/>
            <a:ext cx="4229100" cy="333375"/>
          </a:xfrm>
          <a:prstGeom prst="rect">
            <a:avLst/>
          </a:prstGeom>
        </p:spPr>
      </p:pic>
    </p:spTree>
    <p:extLst>
      <p:ext uri="{BB962C8B-B14F-4D97-AF65-F5344CB8AC3E}">
        <p14:creationId xmlns:p14="http://schemas.microsoft.com/office/powerpoint/2010/main" val="17709583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Parts &amp; Chapters of the TCA 1997</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534256" y="1311965"/>
            <a:ext cx="11180666" cy="4696187"/>
          </a:xfrm>
        </p:spPr>
        <p:txBody>
          <a:bodyPr>
            <a:normAutofit/>
          </a:bodyPr>
          <a:lstStyle/>
          <a:p>
            <a:pPr>
              <a:lnSpc>
                <a:spcPct val="120000"/>
              </a:lnSpc>
            </a:pPr>
            <a:r>
              <a:rPr lang="en-IE" sz="2300" dirty="0">
                <a:solidFill>
                  <a:schemeClr val="accent1">
                    <a:lumMod val="50000"/>
                  </a:schemeClr>
                </a:solidFill>
                <a:latin typeface="Aptos" panose="020B0004020202020204" pitchFamily="34" charset="0"/>
              </a:rPr>
              <a:t>For each section of the legislation, the heading at the top of the page shows the </a:t>
            </a:r>
            <a:r>
              <a:rPr lang="en-IE" sz="2300" b="1" dirty="0">
                <a:solidFill>
                  <a:schemeClr val="accent1">
                    <a:lumMod val="50000"/>
                  </a:schemeClr>
                </a:solidFill>
                <a:latin typeface="Aptos" panose="020B0004020202020204" pitchFamily="34" charset="0"/>
              </a:rPr>
              <a:t>‘Part’ </a:t>
            </a:r>
            <a:r>
              <a:rPr lang="en-IE" sz="2300" dirty="0">
                <a:solidFill>
                  <a:schemeClr val="accent1">
                    <a:lumMod val="50000"/>
                  </a:schemeClr>
                </a:solidFill>
                <a:latin typeface="Aptos" panose="020B0004020202020204" pitchFamily="34" charset="0"/>
              </a:rPr>
              <a:t>and if applicable the </a:t>
            </a:r>
            <a:r>
              <a:rPr lang="en-IE" sz="2300" b="1" dirty="0">
                <a:solidFill>
                  <a:schemeClr val="accent1">
                    <a:lumMod val="50000"/>
                  </a:schemeClr>
                </a:solidFill>
                <a:latin typeface="Aptos" panose="020B0004020202020204" pitchFamily="34" charset="0"/>
              </a:rPr>
              <a:t>‘Chapter’ </a:t>
            </a:r>
            <a:r>
              <a:rPr lang="en-IE" sz="2300" dirty="0">
                <a:solidFill>
                  <a:schemeClr val="accent1">
                    <a:lumMod val="50000"/>
                  </a:schemeClr>
                </a:solidFill>
                <a:latin typeface="Aptos" panose="020B0004020202020204" pitchFamily="34" charset="0"/>
              </a:rPr>
              <a:t>within that Part</a:t>
            </a:r>
          </a:p>
          <a:p>
            <a:pPr marL="0" indent="0">
              <a:lnSpc>
                <a:spcPct val="120000"/>
              </a:lnSpc>
              <a:buNone/>
            </a:pPr>
            <a:r>
              <a:rPr lang="en-IE" sz="2300" dirty="0">
                <a:solidFill>
                  <a:schemeClr val="accent1">
                    <a:lumMod val="50000"/>
                  </a:schemeClr>
                </a:solidFill>
                <a:latin typeface="Aptos" panose="020B0004020202020204" pitchFamily="34" charset="0"/>
              </a:rPr>
              <a:t>e.g. </a:t>
            </a:r>
            <a:r>
              <a:rPr lang="en-IE" sz="2300" b="1" dirty="0">
                <a:solidFill>
                  <a:schemeClr val="accent1">
                    <a:lumMod val="50000"/>
                  </a:schemeClr>
                </a:solidFill>
                <a:latin typeface="Aptos" panose="020B0004020202020204" pitchFamily="34" charset="0"/>
              </a:rPr>
              <a:t>Part 4 Chapter 3 </a:t>
            </a:r>
            <a:r>
              <a:rPr lang="en-IE" sz="2300" dirty="0">
                <a:solidFill>
                  <a:schemeClr val="accent1">
                    <a:lumMod val="50000"/>
                  </a:schemeClr>
                </a:solidFill>
                <a:latin typeface="Aptos" panose="020B0004020202020204" pitchFamily="34" charset="0"/>
              </a:rPr>
              <a:t>provides for the following as regards the normal basis of assessment, the special rules for commencement and cessation of a trade, profession or vocation and short-lived business relief:</a:t>
            </a:r>
          </a:p>
          <a:p>
            <a:pPr>
              <a:lnSpc>
                <a:spcPct val="120000"/>
              </a:lnSpc>
            </a:pPr>
            <a:r>
              <a:rPr lang="en-IE" sz="2300" dirty="0">
                <a:solidFill>
                  <a:schemeClr val="accent1">
                    <a:lumMod val="50000"/>
                  </a:schemeClr>
                </a:solidFill>
                <a:latin typeface="Aptos" panose="020B0004020202020204" pitchFamily="34" charset="0"/>
              </a:rPr>
              <a:t>The </a:t>
            </a:r>
            <a:r>
              <a:rPr lang="en-IE" sz="2300" b="1" dirty="0">
                <a:solidFill>
                  <a:schemeClr val="accent1">
                    <a:lumMod val="50000"/>
                  </a:schemeClr>
                </a:solidFill>
                <a:latin typeface="Aptos" panose="020B0004020202020204" pitchFamily="34" charset="0"/>
              </a:rPr>
              <a:t>‘Normal’ Basis of Assessment </a:t>
            </a:r>
            <a:r>
              <a:rPr lang="en-IE" sz="2300" dirty="0">
                <a:solidFill>
                  <a:schemeClr val="accent1">
                    <a:lumMod val="50000"/>
                  </a:schemeClr>
                </a:solidFill>
                <a:latin typeface="Aptos" panose="020B0004020202020204" pitchFamily="34" charset="0"/>
              </a:rPr>
              <a:t>under Case I/II of Schedule D (</a:t>
            </a:r>
            <a:r>
              <a:rPr lang="en-IE" sz="2300" b="1" dirty="0">
                <a:solidFill>
                  <a:schemeClr val="accent1">
                    <a:lumMod val="50000"/>
                  </a:schemeClr>
                </a:solidFill>
                <a:latin typeface="Aptos" panose="020B0004020202020204" pitchFamily="34" charset="0"/>
              </a:rPr>
              <a:t>S65</a:t>
            </a:r>
            <a:r>
              <a:rPr lang="en-IE" sz="2300" dirty="0">
                <a:solidFill>
                  <a:schemeClr val="accent1">
                    <a:lumMod val="50000"/>
                  </a:schemeClr>
                </a:solidFill>
                <a:latin typeface="Aptos" panose="020B0004020202020204" pitchFamily="34" charset="0"/>
              </a:rPr>
              <a:t>)</a:t>
            </a:r>
          </a:p>
          <a:p>
            <a:pPr>
              <a:lnSpc>
                <a:spcPct val="120000"/>
              </a:lnSpc>
            </a:pPr>
            <a:r>
              <a:rPr lang="en-IE" sz="2300" b="1" dirty="0">
                <a:solidFill>
                  <a:schemeClr val="accent1">
                    <a:lumMod val="50000"/>
                  </a:schemeClr>
                </a:solidFill>
                <a:latin typeface="Aptos" panose="020B0004020202020204" pitchFamily="34" charset="0"/>
              </a:rPr>
              <a:t>The ‘Special’ basis at Commencement </a:t>
            </a:r>
            <a:r>
              <a:rPr lang="en-IE" sz="2300" dirty="0">
                <a:solidFill>
                  <a:schemeClr val="accent1">
                    <a:lumMod val="50000"/>
                  </a:schemeClr>
                </a:solidFill>
                <a:latin typeface="Aptos" panose="020B0004020202020204" pitchFamily="34" charset="0"/>
              </a:rPr>
              <a:t>of a trade or profession (</a:t>
            </a:r>
            <a:r>
              <a:rPr lang="en-IE" sz="2300" b="1" dirty="0">
                <a:solidFill>
                  <a:schemeClr val="accent1">
                    <a:lumMod val="50000"/>
                  </a:schemeClr>
                </a:solidFill>
                <a:latin typeface="Aptos" panose="020B0004020202020204" pitchFamily="34" charset="0"/>
              </a:rPr>
              <a:t>S66</a:t>
            </a:r>
            <a:r>
              <a:rPr lang="en-IE" sz="2300" dirty="0">
                <a:solidFill>
                  <a:schemeClr val="accent1">
                    <a:lumMod val="50000"/>
                  </a:schemeClr>
                </a:solidFill>
                <a:latin typeface="Aptos" panose="020B0004020202020204" pitchFamily="34" charset="0"/>
              </a:rPr>
              <a:t>)</a:t>
            </a:r>
          </a:p>
          <a:p>
            <a:pPr>
              <a:lnSpc>
                <a:spcPct val="120000"/>
              </a:lnSpc>
            </a:pPr>
            <a:r>
              <a:rPr lang="en-IE" sz="2300" dirty="0">
                <a:solidFill>
                  <a:schemeClr val="accent1">
                    <a:lumMod val="50000"/>
                  </a:schemeClr>
                </a:solidFill>
                <a:latin typeface="Aptos" panose="020B0004020202020204" pitchFamily="34" charset="0"/>
              </a:rPr>
              <a:t>The </a:t>
            </a:r>
            <a:r>
              <a:rPr lang="en-IE" sz="2300" b="1" dirty="0">
                <a:solidFill>
                  <a:schemeClr val="accent1">
                    <a:lumMod val="50000"/>
                  </a:schemeClr>
                </a:solidFill>
                <a:latin typeface="Aptos" panose="020B0004020202020204" pitchFamily="34" charset="0"/>
              </a:rPr>
              <a:t>‘Special’ basis </a:t>
            </a:r>
            <a:r>
              <a:rPr lang="en-IE" sz="2300" dirty="0">
                <a:solidFill>
                  <a:schemeClr val="accent1">
                    <a:lumMod val="50000"/>
                  </a:schemeClr>
                </a:solidFill>
                <a:latin typeface="Aptos" panose="020B0004020202020204" pitchFamily="34" charset="0"/>
              </a:rPr>
              <a:t>on </a:t>
            </a:r>
            <a:r>
              <a:rPr lang="en-IE" sz="2300" b="1" dirty="0">
                <a:solidFill>
                  <a:schemeClr val="accent1">
                    <a:lumMod val="50000"/>
                  </a:schemeClr>
                </a:solidFill>
                <a:latin typeface="Aptos" panose="020B0004020202020204" pitchFamily="34" charset="0"/>
              </a:rPr>
              <a:t>Discontinuance</a:t>
            </a:r>
            <a:r>
              <a:rPr lang="en-IE" sz="2300" dirty="0">
                <a:solidFill>
                  <a:schemeClr val="accent1">
                    <a:lumMod val="50000"/>
                  </a:schemeClr>
                </a:solidFill>
                <a:latin typeface="Aptos" panose="020B0004020202020204" pitchFamily="34" charset="0"/>
              </a:rPr>
              <a:t> of a trade or profession (</a:t>
            </a:r>
            <a:r>
              <a:rPr lang="en-IE" sz="2300" b="1" dirty="0">
                <a:solidFill>
                  <a:schemeClr val="accent1">
                    <a:lumMod val="50000"/>
                  </a:schemeClr>
                </a:solidFill>
                <a:latin typeface="Aptos" panose="020B0004020202020204" pitchFamily="34" charset="0"/>
              </a:rPr>
              <a:t>S67</a:t>
            </a:r>
            <a:r>
              <a:rPr lang="en-IE" sz="2300" dirty="0">
                <a:solidFill>
                  <a:schemeClr val="accent1">
                    <a:lumMod val="50000"/>
                  </a:schemeClr>
                </a:solidFill>
                <a:latin typeface="Aptos" panose="020B0004020202020204" pitchFamily="34" charset="0"/>
              </a:rPr>
              <a:t>)</a:t>
            </a:r>
          </a:p>
          <a:p>
            <a:pPr>
              <a:lnSpc>
                <a:spcPct val="120000"/>
              </a:lnSpc>
            </a:pPr>
            <a:r>
              <a:rPr lang="en-IE" sz="2300" dirty="0">
                <a:solidFill>
                  <a:schemeClr val="accent1">
                    <a:lumMod val="50000"/>
                  </a:schemeClr>
                </a:solidFill>
                <a:latin typeface="Aptos" panose="020B0004020202020204" pitchFamily="34" charset="0"/>
              </a:rPr>
              <a:t>‘</a:t>
            </a:r>
            <a:r>
              <a:rPr lang="en-IE" sz="2300" b="1" dirty="0">
                <a:solidFill>
                  <a:schemeClr val="accent1">
                    <a:lumMod val="50000"/>
                  </a:schemeClr>
                </a:solidFill>
                <a:latin typeface="Aptos" panose="020B0004020202020204" pitchFamily="34" charset="0"/>
              </a:rPr>
              <a:t>Short-lived’</a:t>
            </a:r>
            <a:r>
              <a:rPr lang="en-IE" sz="2300" dirty="0">
                <a:solidFill>
                  <a:schemeClr val="accent1">
                    <a:lumMod val="50000"/>
                  </a:schemeClr>
                </a:solidFill>
                <a:latin typeface="Aptos" panose="020B0004020202020204" pitchFamily="34" charset="0"/>
              </a:rPr>
              <a:t> business relief  (commencement &amp; cessation within 3 years (</a:t>
            </a:r>
            <a:r>
              <a:rPr lang="en-IE" sz="2300" b="1" dirty="0">
                <a:solidFill>
                  <a:schemeClr val="accent1">
                    <a:lumMod val="50000"/>
                  </a:schemeClr>
                </a:solidFill>
                <a:latin typeface="Aptos" panose="020B0004020202020204" pitchFamily="34" charset="0"/>
              </a:rPr>
              <a:t>S68</a:t>
            </a:r>
            <a:r>
              <a:rPr lang="en-IE" sz="2300" dirty="0">
                <a:solidFill>
                  <a:schemeClr val="accent1">
                    <a:lumMod val="50000"/>
                  </a:schemeClr>
                </a:solidFill>
                <a:latin typeface="Aptos" panose="020B0004020202020204" pitchFamily="34" charset="0"/>
              </a:rPr>
              <a:t>)</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06542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Part 7 – Chapter 1- Exemptions</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391886" y="1080906"/>
            <a:ext cx="11511643" cy="5525377"/>
          </a:xfrm>
        </p:spPr>
        <p:txBody>
          <a:bodyPr>
            <a:normAutofit/>
          </a:bodyPr>
          <a:lstStyle/>
          <a:p>
            <a:pPr marL="0" indent="0">
              <a:lnSpc>
                <a:spcPct val="120000"/>
              </a:lnSpc>
              <a:buNone/>
            </a:pPr>
            <a:r>
              <a:rPr lang="en-IE" sz="2400" b="1" dirty="0">
                <a:solidFill>
                  <a:schemeClr val="accent1">
                    <a:lumMod val="50000"/>
                  </a:schemeClr>
                </a:solidFill>
                <a:latin typeface="Aptos" panose="020B0004020202020204" pitchFamily="34" charset="0"/>
              </a:rPr>
              <a:t>Part 7 </a:t>
            </a:r>
            <a:r>
              <a:rPr lang="en-IE" sz="2400" dirty="0">
                <a:solidFill>
                  <a:schemeClr val="accent1">
                    <a:lumMod val="50000"/>
                  </a:schemeClr>
                </a:solidFill>
                <a:latin typeface="Aptos" panose="020B0004020202020204" pitchFamily="34" charset="0"/>
              </a:rPr>
              <a:t>deals with Income Tax and Corporation Tax </a:t>
            </a:r>
            <a:r>
              <a:rPr lang="en-IE" sz="2400" b="1" dirty="0">
                <a:solidFill>
                  <a:schemeClr val="accent1">
                    <a:lumMod val="50000"/>
                  </a:schemeClr>
                </a:solidFill>
                <a:latin typeface="Aptos" panose="020B0004020202020204" pitchFamily="34" charset="0"/>
              </a:rPr>
              <a:t>Exemptions</a:t>
            </a:r>
            <a:r>
              <a:rPr lang="en-IE" sz="2400" dirty="0">
                <a:solidFill>
                  <a:schemeClr val="accent1">
                    <a:lumMod val="50000"/>
                  </a:schemeClr>
                </a:solidFill>
                <a:latin typeface="Aptos" panose="020B0004020202020204" pitchFamily="34" charset="0"/>
              </a:rPr>
              <a:t>, </a:t>
            </a:r>
            <a:r>
              <a:rPr lang="en-IE" sz="2400" b="1" dirty="0">
                <a:solidFill>
                  <a:schemeClr val="accent1">
                    <a:lumMod val="50000"/>
                  </a:schemeClr>
                </a:solidFill>
                <a:latin typeface="Aptos" panose="020B0004020202020204" pitchFamily="34" charset="0"/>
              </a:rPr>
              <a:t>Chapter 1 of Part 7 </a:t>
            </a:r>
            <a:r>
              <a:rPr lang="en-IE" sz="2400" dirty="0">
                <a:solidFill>
                  <a:schemeClr val="accent1">
                    <a:lumMod val="50000"/>
                  </a:schemeClr>
                </a:solidFill>
                <a:latin typeface="Aptos" panose="020B0004020202020204" pitchFamily="34" charset="0"/>
              </a:rPr>
              <a:t>deals specifically with the </a:t>
            </a:r>
            <a:r>
              <a:rPr lang="en-IE" sz="2400" b="1" dirty="0">
                <a:solidFill>
                  <a:schemeClr val="accent1">
                    <a:lumMod val="50000"/>
                  </a:schemeClr>
                </a:solidFill>
                <a:latin typeface="Aptos" panose="020B0004020202020204" pitchFamily="34" charset="0"/>
              </a:rPr>
              <a:t>Income Tax exemptions</a:t>
            </a:r>
            <a:endParaRPr lang="en-IE" sz="2400" dirty="0">
              <a:solidFill>
                <a:schemeClr val="accent1">
                  <a:lumMod val="50000"/>
                </a:schemeClr>
              </a:solidFill>
              <a:latin typeface="Aptos" panose="020B0004020202020204" pitchFamily="34" charset="0"/>
            </a:endParaRPr>
          </a:p>
          <a:p>
            <a:pPr marL="0" indent="0">
              <a:lnSpc>
                <a:spcPct val="120000"/>
              </a:lnSpc>
              <a:buNone/>
            </a:pPr>
            <a:r>
              <a:rPr lang="en-IE" sz="2400" b="1" dirty="0">
                <a:solidFill>
                  <a:schemeClr val="accent1">
                    <a:lumMod val="50000"/>
                  </a:schemeClr>
                </a:solidFill>
                <a:latin typeface="Aptos" panose="020B0004020202020204" pitchFamily="34" charset="0"/>
              </a:rPr>
              <a:t>e.g. Rent-a-Room relief </a:t>
            </a:r>
            <a:r>
              <a:rPr lang="en-IE" sz="2400" dirty="0">
                <a:solidFill>
                  <a:schemeClr val="accent1">
                    <a:lumMod val="50000"/>
                  </a:schemeClr>
                </a:solidFill>
                <a:latin typeface="Aptos" panose="020B0004020202020204" pitchFamily="34" charset="0"/>
              </a:rPr>
              <a:t>provides an income tax exemption as regards certain rental income received:</a:t>
            </a:r>
            <a:r>
              <a:rPr lang="en-IE" sz="2400" b="1" dirty="0">
                <a:solidFill>
                  <a:schemeClr val="accent1">
                    <a:lumMod val="50000"/>
                  </a:schemeClr>
                </a:solidFill>
                <a:latin typeface="Aptos" panose="020B0004020202020204" pitchFamily="34" charset="0"/>
              </a:rPr>
              <a:t> S216A</a:t>
            </a:r>
            <a:r>
              <a:rPr lang="en-IE" sz="2400" dirty="0">
                <a:solidFill>
                  <a:schemeClr val="accent1">
                    <a:lumMod val="50000"/>
                  </a:schemeClr>
                </a:solidFill>
                <a:latin typeface="Aptos" panose="020B0004020202020204" pitchFamily="34" charset="0"/>
              </a:rPr>
              <a:t> Subsection (1) includes the definitions required for that specific section i.e. qualifying residence, </a:t>
            </a:r>
            <a:r>
              <a:rPr lang="en-IE" sz="2400" b="1" dirty="0">
                <a:solidFill>
                  <a:schemeClr val="accent1">
                    <a:lumMod val="50000"/>
                  </a:schemeClr>
                </a:solidFill>
                <a:latin typeface="Aptos" panose="020B0004020202020204" pitchFamily="34" charset="0"/>
              </a:rPr>
              <a:t>relevant sums</a:t>
            </a:r>
            <a:r>
              <a:rPr lang="en-IE" sz="2400" dirty="0">
                <a:solidFill>
                  <a:schemeClr val="accent1">
                    <a:lumMod val="50000"/>
                  </a:schemeClr>
                </a:solidFill>
                <a:latin typeface="Aptos" panose="020B0004020202020204" pitchFamily="34" charset="0"/>
              </a:rPr>
              <a:t>, residential premises</a:t>
            </a:r>
          </a:p>
          <a:p>
            <a:pPr marL="0" indent="0">
              <a:lnSpc>
                <a:spcPct val="120000"/>
              </a:lnSpc>
              <a:buNone/>
            </a:pPr>
            <a:r>
              <a:rPr lang="en-IE" sz="2400" b="1" dirty="0">
                <a:solidFill>
                  <a:schemeClr val="accent1">
                    <a:lumMod val="50000"/>
                  </a:schemeClr>
                </a:solidFill>
                <a:latin typeface="Aptos" panose="020B0004020202020204" pitchFamily="34" charset="0"/>
              </a:rPr>
              <a:t>Subsection (2)</a:t>
            </a:r>
            <a:r>
              <a:rPr lang="en-IE" sz="2400" dirty="0">
                <a:solidFill>
                  <a:schemeClr val="accent1">
                    <a:lumMod val="50000"/>
                  </a:schemeClr>
                </a:solidFill>
                <a:latin typeface="Aptos" panose="020B0004020202020204" pitchFamily="34" charset="0"/>
              </a:rPr>
              <a:t> contains the main purpose of the legislation i.e. Rent-a-room Relief</a:t>
            </a:r>
          </a:p>
          <a:p>
            <a:pPr marL="0" indent="0">
              <a:lnSpc>
                <a:spcPct val="120000"/>
              </a:lnSpc>
              <a:buNone/>
            </a:pPr>
            <a:r>
              <a:rPr lang="en-IE" sz="2400" b="1" dirty="0">
                <a:solidFill>
                  <a:schemeClr val="accent1">
                    <a:lumMod val="50000"/>
                  </a:schemeClr>
                </a:solidFill>
                <a:latin typeface="Aptos" panose="020B0004020202020204" pitchFamily="34" charset="0"/>
              </a:rPr>
              <a:t>Subsection (3)</a:t>
            </a:r>
            <a:r>
              <a:rPr lang="en-IE" sz="2400" dirty="0">
                <a:solidFill>
                  <a:schemeClr val="accent1">
                    <a:lumMod val="50000"/>
                  </a:schemeClr>
                </a:solidFill>
                <a:latin typeface="Aptos" panose="020B0004020202020204" pitchFamily="34" charset="0"/>
              </a:rPr>
              <a:t> includes a caveat, where the </a:t>
            </a:r>
            <a:r>
              <a:rPr lang="en-IE" sz="2400" b="1" dirty="0">
                <a:solidFill>
                  <a:schemeClr val="accent1">
                    <a:lumMod val="50000"/>
                  </a:schemeClr>
                </a:solidFill>
                <a:latin typeface="Aptos" panose="020B0004020202020204" pitchFamily="34" charset="0"/>
              </a:rPr>
              <a:t>relief will not apply </a:t>
            </a:r>
            <a:r>
              <a:rPr lang="en-IE" sz="2400" dirty="0">
                <a:solidFill>
                  <a:schemeClr val="accent1">
                    <a:lumMod val="50000"/>
                  </a:schemeClr>
                </a:solidFill>
                <a:latin typeface="Aptos" panose="020B0004020202020204" pitchFamily="34" charset="0"/>
              </a:rPr>
              <a:t>e.g. if the taxpayer </a:t>
            </a:r>
            <a:r>
              <a:rPr lang="en-IE" sz="2400" b="1" dirty="0">
                <a:solidFill>
                  <a:schemeClr val="accent1">
                    <a:lumMod val="50000"/>
                  </a:schemeClr>
                </a:solidFill>
                <a:latin typeface="Aptos" panose="020B0004020202020204" pitchFamily="34" charset="0"/>
              </a:rPr>
              <a:t>elects not to claim the relief</a:t>
            </a:r>
          </a:p>
          <a:p>
            <a:pPr marL="0" indent="0">
              <a:lnSpc>
                <a:spcPct val="120000"/>
              </a:lnSpc>
              <a:buNone/>
            </a:pPr>
            <a:r>
              <a:rPr lang="en-IE" sz="2400" b="1" dirty="0">
                <a:solidFill>
                  <a:schemeClr val="accent1">
                    <a:lumMod val="50000"/>
                  </a:schemeClr>
                </a:solidFill>
                <a:latin typeface="Aptos" panose="020B0004020202020204" pitchFamily="34" charset="0"/>
              </a:rPr>
              <a:t>Subsections (4) – (8) </a:t>
            </a:r>
            <a:r>
              <a:rPr lang="en-IE" sz="2400" dirty="0">
                <a:solidFill>
                  <a:schemeClr val="accent1">
                    <a:lumMod val="50000"/>
                  </a:schemeClr>
                </a:solidFill>
                <a:latin typeface="Aptos" panose="020B0004020202020204" pitchFamily="34" charset="0"/>
              </a:rPr>
              <a:t>contain other relevant information such as the requirement to </a:t>
            </a:r>
            <a:r>
              <a:rPr lang="en-IE" sz="2400" b="1" dirty="0">
                <a:solidFill>
                  <a:schemeClr val="accent1">
                    <a:lumMod val="50000"/>
                  </a:schemeClr>
                </a:solidFill>
                <a:latin typeface="Aptos" panose="020B0004020202020204" pitchFamily="34" charset="0"/>
              </a:rPr>
              <a:t>file a tax return </a:t>
            </a:r>
            <a:r>
              <a:rPr lang="en-IE" sz="2400" dirty="0">
                <a:solidFill>
                  <a:schemeClr val="accent1">
                    <a:lumMod val="50000"/>
                  </a:schemeClr>
                </a:solidFill>
                <a:latin typeface="Aptos" panose="020B0004020202020204" pitchFamily="34" charset="0"/>
              </a:rPr>
              <a:t>despite the fact that qualifying rental income under the Rent-a-Room scheme being exempt from Tax, USC &amp; PRSI (</a:t>
            </a:r>
            <a:r>
              <a:rPr lang="en-IE" sz="2400" b="1" dirty="0">
                <a:solidFill>
                  <a:schemeClr val="accent1">
                    <a:lumMod val="50000"/>
                  </a:schemeClr>
                </a:solidFill>
                <a:latin typeface="Aptos" panose="020B0004020202020204" pitchFamily="34" charset="0"/>
              </a:rPr>
              <a:t>216A (4)</a:t>
            </a:r>
            <a:r>
              <a:rPr lang="en-IE" sz="2400" dirty="0">
                <a:solidFill>
                  <a:schemeClr val="accent1">
                    <a:lumMod val="50000"/>
                  </a:schemeClr>
                </a:solidFill>
                <a:latin typeface="Aptos" panose="020B0004020202020204" pitchFamily="34" charset="0"/>
              </a:rPr>
              <a:t>)</a:t>
            </a:r>
          </a:p>
          <a:p>
            <a:pPr marL="0" indent="0">
              <a:lnSpc>
                <a:spcPct val="120000"/>
              </a:lnSpc>
              <a:buNone/>
            </a:pPr>
            <a:endParaRPr lang="en-IE" sz="2400" b="1" dirty="0">
              <a:solidFill>
                <a:srgbClr val="006666"/>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657360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98787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Class Exercise – S216A Definition</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8E4453D8-AED2-1EF4-4F24-80CF0A4A09C4}"/>
              </a:ext>
            </a:extLst>
          </p:cNvPr>
          <p:cNvSpPr>
            <a:spLocks noGrp="1"/>
          </p:cNvSpPr>
          <p:nvPr>
            <p:ph sz="half" idx="1"/>
          </p:nvPr>
        </p:nvSpPr>
        <p:spPr>
          <a:xfrm>
            <a:off x="1381761" y="1516856"/>
            <a:ext cx="9166498" cy="4351338"/>
          </a:xfrm>
        </p:spPr>
        <p:txBody>
          <a:bodyPr/>
          <a:lstStyle/>
          <a:p>
            <a:pPr marL="0" indent="0">
              <a:lnSpc>
                <a:spcPct val="120000"/>
              </a:lnSpc>
              <a:buNone/>
            </a:pPr>
            <a:r>
              <a:rPr lang="en-IE" sz="2400" b="1" dirty="0">
                <a:solidFill>
                  <a:srgbClr val="006666"/>
                </a:solidFill>
                <a:latin typeface="Aptos" panose="020B0004020202020204" pitchFamily="34" charset="0"/>
              </a:rPr>
              <a:t>Go to Section 216A Rent – a – Room Relief : Find the following:</a:t>
            </a:r>
          </a:p>
          <a:p>
            <a:pPr marL="0" indent="0">
              <a:lnSpc>
                <a:spcPct val="120000"/>
              </a:lnSpc>
              <a:buNone/>
            </a:pPr>
            <a:endParaRPr lang="en-IE" sz="2400" b="1" dirty="0">
              <a:solidFill>
                <a:srgbClr val="006666"/>
              </a:solidFill>
              <a:latin typeface="Aptos" panose="020B0004020202020204" pitchFamily="34" charset="0"/>
            </a:endParaRPr>
          </a:p>
          <a:p>
            <a:pPr marL="457200" indent="-457200">
              <a:lnSpc>
                <a:spcPct val="120000"/>
              </a:lnSpc>
              <a:buFont typeface="+mj-lt"/>
              <a:buAutoNum type="arabicPeriod"/>
            </a:pPr>
            <a:r>
              <a:rPr lang="en-IE" sz="2400" dirty="0">
                <a:solidFill>
                  <a:srgbClr val="006666"/>
                </a:solidFill>
                <a:latin typeface="Aptos" panose="020B0004020202020204" pitchFamily="34" charset="0"/>
              </a:rPr>
              <a:t>The definition of a </a:t>
            </a:r>
            <a:r>
              <a:rPr lang="en-IE" sz="2400" b="1" dirty="0">
                <a:solidFill>
                  <a:srgbClr val="006666"/>
                </a:solidFill>
                <a:latin typeface="Aptos" panose="020B0004020202020204" pitchFamily="34" charset="0"/>
              </a:rPr>
              <a:t>‘qualifying residence’ </a:t>
            </a:r>
            <a:r>
              <a:rPr lang="en-IE" sz="2400" dirty="0">
                <a:solidFill>
                  <a:srgbClr val="006666"/>
                </a:solidFill>
                <a:latin typeface="Aptos" panose="020B0004020202020204" pitchFamily="34" charset="0"/>
              </a:rPr>
              <a:t>for the purpose of claiming Rent-a-Room relief and</a:t>
            </a:r>
          </a:p>
          <a:p>
            <a:pPr marL="457200" indent="-457200">
              <a:lnSpc>
                <a:spcPct val="120000"/>
              </a:lnSpc>
              <a:buFont typeface="+mj-lt"/>
              <a:buAutoNum type="arabicPeriod"/>
            </a:pPr>
            <a:endParaRPr lang="en-IE" sz="2400" dirty="0">
              <a:solidFill>
                <a:srgbClr val="006666"/>
              </a:solidFill>
              <a:latin typeface="Aptos" panose="020B0004020202020204" pitchFamily="34" charset="0"/>
            </a:endParaRPr>
          </a:p>
          <a:p>
            <a:pPr marL="457200" indent="-457200">
              <a:lnSpc>
                <a:spcPct val="120000"/>
              </a:lnSpc>
              <a:buFont typeface="+mj-lt"/>
              <a:buAutoNum type="arabicPeriod"/>
            </a:pPr>
            <a:r>
              <a:rPr lang="en-IE" sz="2400" dirty="0">
                <a:solidFill>
                  <a:srgbClr val="006666"/>
                </a:solidFill>
                <a:latin typeface="Aptos" panose="020B0004020202020204" pitchFamily="34" charset="0"/>
              </a:rPr>
              <a:t>The definition of </a:t>
            </a:r>
            <a:r>
              <a:rPr lang="en-IE" sz="2400" b="1" dirty="0">
                <a:solidFill>
                  <a:srgbClr val="006666"/>
                </a:solidFill>
                <a:latin typeface="Aptos" panose="020B0004020202020204" pitchFamily="34" charset="0"/>
              </a:rPr>
              <a:t>‘relevant sums’ </a:t>
            </a:r>
            <a:r>
              <a:rPr lang="en-IE" sz="2400" dirty="0">
                <a:solidFill>
                  <a:srgbClr val="006666"/>
                </a:solidFill>
                <a:latin typeface="Aptos" panose="020B0004020202020204" pitchFamily="34" charset="0"/>
              </a:rPr>
              <a:t>for the purpose of claiming Rent-a-Room relief</a:t>
            </a:r>
          </a:p>
          <a:p>
            <a:pPr>
              <a:lnSpc>
                <a:spcPct val="120000"/>
              </a:lnSpc>
            </a:pPr>
            <a:endParaRPr lang="en-IE" sz="2400" dirty="0">
              <a:solidFill>
                <a:srgbClr val="006666"/>
              </a:solidFill>
              <a:latin typeface="Aptos" panose="020B0004020202020204" pitchFamily="34" charset="0"/>
            </a:endParaRPr>
          </a:p>
          <a:p>
            <a:pPr marL="0" indent="0">
              <a:buNone/>
            </a:pPr>
            <a:endParaRPr lang="en-IE" dirty="0"/>
          </a:p>
        </p:txBody>
      </p:sp>
    </p:spTree>
    <p:extLst>
      <p:ext uri="{BB962C8B-B14F-4D97-AF65-F5344CB8AC3E}">
        <p14:creationId xmlns:p14="http://schemas.microsoft.com/office/powerpoint/2010/main" val="24911910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Solution – Extract from Direct Taxes Act</a:t>
            </a:r>
          </a:p>
        </p:txBody>
      </p:sp>
      <p:pic>
        <p:nvPicPr>
          <p:cNvPr id="7" name="Content Placeholder 6">
            <a:extLst>
              <a:ext uri="{FF2B5EF4-FFF2-40B4-BE49-F238E27FC236}">
                <a16:creationId xmlns:a16="http://schemas.microsoft.com/office/drawing/2014/main" id="{F2C5808D-387E-CA41-CF9F-A1A8F6B0592D}"/>
              </a:ext>
            </a:extLst>
          </p:cNvPr>
          <p:cNvPicPr>
            <a:picLocks noGrp="1" noChangeAspect="1"/>
          </p:cNvPicPr>
          <p:nvPr>
            <p:ph sz="half" idx="1"/>
          </p:nvPr>
        </p:nvPicPr>
        <p:blipFill>
          <a:blip r:embed="rId3"/>
          <a:stretch>
            <a:fillRect/>
          </a:stretch>
        </p:blipFill>
        <p:spPr>
          <a:xfrm>
            <a:off x="1314450" y="1608364"/>
            <a:ext cx="9563100" cy="4944836"/>
          </a:xfrm>
        </p:spPr>
      </p:pic>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4"/>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815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lnSpc>
                <a:spcPct val="120000"/>
              </a:lnSpc>
            </a:pPr>
            <a:r>
              <a:rPr lang="en-IE" sz="3600" b="1" dirty="0">
                <a:solidFill>
                  <a:srgbClr val="006666"/>
                </a:solidFill>
                <a:latin typeface="Aptos" panose="020B0004020202020204" pitchFamily="34" charset="0"/>
                <a:cs typeface="Arial" panose="020B0604020202020204" pitchFamily="34" charset="0"/>
              </a:rPr>
              <a:t>Class Exercise – Rent -a-Room </a:t>
            </a:r>
            <a:br>
              <a:rPr lang="en-IE" sz="3600" b="1" dirty="0">
                <a:solidFill>
                  <a:srgbClr val="006666"/>
                </a:solidFill>
                <a:latin typeface="Aptos" panose="020B0004020202020204" pitchFamily="34" charset="0"/>
                <a:cs typeface="Arial" panose="020B0604020202020204" pitchFamily="34" charset="0"/>
              </a:rPr>
            </a:br>
            <a:r>
              <a:rPr lang="en-IE" sz="3600" b="1" dirty="0">
                <a:solidFill>
                  <a:srgbClr val="006666"/>
                </a:solidFill>
                <a:latin typeface="Aptos" panose="020B0004020202020204" pitchFamily="34" charset="0"/>
                <a:cs typeface="Arial" panose="020B0604020202020204" pitchFamily="34" charset="0"/>
              </a:rPr>
              <a:t>Exemption Threshold</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B74409FB-539D-08D9-07BF-C774F98D24D5}"/>
              </a:ext>
            </a:extLst>
          </p:cNvPr>
          <p:cNvSpPr>
            <a:spLocks noGrp="1"/>
          </p:cNvSpPr>
          <p:nvPr>
            <p:ph sz="half" idx="1"/>
          </p:nvPr>
        </p:nvSpPr>
        <p:spPr>
          <a:xfrm>
            <a:off x="995901" y="2045833"/>
            <a:ext cx="10053239" cy="4351338"/>
          </a:xfrm>
        </p:spPr>
        <p:txBody>
          <a:bodyPr>
            <a:normAutofit/>
          </a:bodyPr>
          <a:lstStyle/>
          <a:p>
            <a:pPr marL="0" indent="0">
              <a:lnSpc>
                <a:spcPct val="120000"/>
              </a:lnSpc>
              <a:buNone/>
            </a:pPr>
            <a:r>
              <a:rPr lang="en-IE" sz="2400" b="1" dirty="0">
                <a:solidFill>
                  <a:srgbClr val="006666"/>
                </a:solidFill>
                <a:latin typeface="Aptos" panose="020B0004020202020204" pitchFamily="34" charset="0"/>
              </a:rPr>
              <a:t>S216A - Find the following:</a:t>
            </a:r>
          </a:p>
          <a:p>
            <a:pPr marL="0" indent="0">
              <a:lnSpc>
                <a:spcPct val="120000"/>
              </a:lnSpc>
              <a:buNone/>
            </a:pPr>
            <a:endParaRPr lang="en-IE" sz="2400" b="1" dirty="0">
              <a:solidFill>
                <a:srgbClr val="006666"/>
              </a:solidFill>
              <a:latin typeface="Aptos" panose="020B0004020202020204" pitchFamily="34" charset="0"/>
            </a:endParaRPr>
          </a:p>
          <a:p>
            <a:pPr marL="457200" indent="-457200">
              <a:lnSpc>
                <a:spcPct val="120000"/>
              </a:lnSpc>
              <a:buFont typeface="+mj-lt"/>
              <a:buAutoNum type="arabicPeriod"/>
            </a:pPr>
            <a:r>
              <a:rPr lang="en-IE" sz="2400" dirty="0">
                <a:solidFill>
                  <a:srgbClr val="006666"/>
                </a:solidFill>
                <a:latin typeface="Aptos" panose="020B0004020202020204" pitchFamily="34" charset="0"/>
              </a:rPr>
              <a:t>The current threshold for claiming Rent-a-Room relief and </a:t>
            </a:r>
          </a:p>
          <a:p>
            <a:pPr marL="457200" indent="-457200">
              <a:lnSpc>
                <a:spcPct val="120000"/>
              </a:lnSpc>
              <a:buFont typeface="+mj-lt"/>
              <a:buAutoNum type="arabicPeriod"/>
            </a:pPr>
            <a:endParaRPr lang="en-IE" sz="2400" dirty="0">
              <a:solidFill>
                <a:srgbClr val="006666"/>
              </a:solidFill>
              <a:latin typeface="Aptos" panose="020B0004020202020204" pitchFamily="34" charset="0"/>
            </a:endParaRPr>
          </a:p>
          <a:p>
            <a:pPr marL="457200" indent="-457200">
              <a:lnSpc>
                <a:spcPct val="120000"/>
              </a:lnSpc>
              <a:buFont typeface="+mj-lt"/>
              <a:buAutoNum type="arabicPeriod"/>
            </a:pPr>
            <a:r>
              <a:rPr lang="en-IE" sz="2400" dirty="0">
                <a:solidFill>
                  <a:srgbClr val="006666"/>
                </a:solidFill>
                <a:latin typeface="Aptos" panose="020B0004020202020204" pitchFamily="34" charset="0"/>
              </a:rPr>
              <a:t>The date from which the current threshold came into force</a:t>
            </a:r>
          </a:p>
        </p:txBody>
      </p:sp>
    </p:spTree>
    <p:extLst>
      <p:ext uri="{BB962C8B-B14F-4D97-AF65-F5344CB8AC3E}">
        <p14:creationId xmlns:p14="http://schemas.microsoft.com/office/powerpoint/2010/main" val="6258707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Solution – Extract from Direct Taxes Act</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7B263362-40C2-3544-187B-77148A3E5293}"/>
              </a:ext>
            </a:extLst>
          </p:cNvPr>
          <p:cNvPicPr>
            <a:picLocks noGrp="1" noChangeAspect="1"/>
          </p:cNvPicPr>
          <p:nvPr>
            <p:ph sz="half" idx="1"/>
          </p:nvPr>
        </p:nvPicPr>
        <p:blipFill>
          <a:blip r:embed="rId4"/>
          <a:stretch>
            <a:fillRect/>
          </a:stretch>
        </p:blipFill>
        <p:spPr>
          <a:xfrm>
            <a:off x="1690006" y="1076739"/>
            <a:ext cx="8963025" cy="762000"/>
          </a:xfrm>
        </p:spPr>
      </p:pic>
      <p:pic>
        <p:nvPicPr>
          <p:cNvPr id="13" name="Picture 12">
            <a:extLst>
              <a:ext uri="{FF2B5EF4-FFF2-40B4-BE49-F238E27FC236}">
                <a16:creationId xmlns:a16="http://schemas.microsoft.com/office/drawing/2014/main" id="{B72B173A-864F-FF4D-16A1-68163B006CDE}"/>
              </a:ext>
            </a:extLst>
          </p:cNvPr>
          <p:cNvPicPr>
            <a:picLocks noChangeAspect="1"/>
          </p:cNvPicPr>
          <p:nvPr/>
        </p:nvPicPr>
        <p:blipFill>
          <a:blip r:embed="rId5"/>
          <a:stretch>
            <a:fillRect/>
          </a:stretch>
        </p:blipFill>
        <p:spPr>
          <a:xfrm>
            <a:off x="1690006" y="1827822"/>
            <a:ext cx="8107137" cy="4960680"/>
          </a:xfrm>
          <a:prstGeom prst="rect">
            <a:avLst/>
          </a:prstGeom>
        </p:spPr>
      </p:pic>
      <p:cxnSp>
        <p:nvCxnSpPr>
          <p:cNvPr id="15" name="Straight Connector 14">
            <a:extLst>
              <a:ext uri="{FF2B5EF4-FFF2-40B4-BE49-F238E27FC236}">
                <a16:creationId xmlns:a16="http://schemas.microsoft.com/office/drawing/2014/main" id="{2ACF3C86-4744-62D1-3051-35B2F8333B47}"/>
              </a:ext>
            </a:extLst>
          </p:cNvPr>
          <p:cNvCxnSpPr/>
          <p:nvPr/>
        </p:nvCxnSpPr>
        <p:spPr>
          <a:xfrm>
            <a:off x="1528083" y="1827822"/>
            <a:ext cx="8797017"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 name="Graphic 3" descr="Arrow Right with solid fill">
            <a:extLst>
              <a:ext uri="{FF2B5EF4-FFF2-40B4-BE49-F238E27FC236}">
                <a16:creationId xmlns:a16="http://schemas.microsoft.com/office/drawing/2014/main" id="{8591FB5A-8A1F-30DB-1394-994136E8E29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4118" y="4948381"/>
            <a:ext cx="914400" cy="914400"/>
          </a:xfrm>
          <a:prstGeom prst="rect">
            <a:avLst/>
          </a:prstGeom>
        </p:spPr>
      </p:pic>
    </p:spTree>
    <p:extLst>
      <p:ext uri="{BB962C8B-B14F-4D97-AF65-F5344CB8AC3E}">
        <p14:creationId xmlns:p14="http://schemas.microsoft.com/office/powerpoint/2010/main" val="29448768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089061"/>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‘Literal’ Rule of Statutory Interpretation</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marL="0" indent="0">
              <a:lnSpc>
                <a:spcPct val="120000"/>
              </a:lnSpc>
              <a:buNone/>
            </a:pPr>
            <a:r>
              <a:rPr lang="en-IE" sz="2400" dirty="0">
                <a:solidFill>
                  <a:schemeClr val="accent1">
                    <a:lumMod val="50000"/>
                  </a:schemeClr>
                </a:solidFill>
                <a:latin typeface="Aptos" panose="020B0004020202020204" pitchFamily="34" charset="0"/>
              </a:rPr>
              <a:t>The ‘</a:t>
            </a:r>
            <a:r>
              <a:rPr lang="en-IE" sz="2400" b="1" dirty="0">
                <a:solidFill>
                  <a:schemeClr val="accent1">
                    <a:lumMod val="50000"/>
                  </a:schemeClr>
                </a:solidFill>
                <a:latin typeface="Aptos" panose="020B0004020202020204" pitchFamily="34" charset="0"/>
              </a:rPr>
              <a:t>Literal’</a:t>
            </a:r>
            <a:r>
              <a:rPr lang="en-IE" sz="2400" dirty="0">
                <a:solidFill>
                  <a:schemeClr val="accent1">
                    <a:lumMod val="50000"/>
                  </a:schemeClr>
                </a:solidFill>
                <a:latin typeface="Aptos" panose="020B0004020202020204" pitchFamily="34" charset="0"/>
              </a:rPr>
              <a:t> or </a:t>
            </a:r>
            <a:r>
              <a:rPr lang="en-IE" sz="2400" b="1" dirty="0">
                <a:solidFill>
                  <a:schemeClr val="accent1">
                    <a:lumMod val="50000"/>
                  </a:schemeClr>
                </a:solidFill>
                <a:latin typeface="Aptos" panose="020B0004020202020204" pitchFamily="34" charset="0"/>
              </a:rPr>
              <a:t>primary</a:t>
            </a:r>
            <a:r>
              <a:rPr lang="en-IE" sz="2400" dirty="0">
                <a:solidFill>
                  <a:schemeClr val="accent1">
                    <a:lumMod val="50000"/>
                  </a:schemeClr>
                </a:solidFill>
                <a:latin typeface="Aptos" panose="020B0004020202020204" pitchFamily="34" charset="0"/>
              </a:rPr>
              <a:t> rule of interpretation:</a:t>
            </a:r>
          </a:p>
          <a:p>
            <a:pPr>
              <a:lnSpc>
                <a:spcPct val="120000"/>
              </a:lnSpc>
            </a:pPr>
            <a:r>
              <a:rPr lang="en-IE" sz="2400" dirty="0">
                <a:solidFill>
                  <a:schemeClr val="accent1">
                    <a:lumMod val="50000"/>
                  </a:schemeClr>
                </a:solidFill>
                <a:latin typeface="Aptos" panose="020B0004020202020204" pitchFamily="34" charset="0"/>
              </a:rPr>
              <a:t>Apply the </a:t>
            </a:r>
            <a:r>
              <a:rPr lang="en-IE" sz="2400" b="1" dirty="0">
                <a:solidFill>
                  <a:schemeClr val="accent1">
                    <a:lumMod val="50000"/>
                  </a:schemeClr>
                </a:solidFill>
                <a:latin typeface="Aptos" panose="020B0004020202020204" pitchFamily="34" charset="0"/>
              </a:rPr>
              <a:t>ordinary and natural </a:t>
            </a:r>
            <a:r>
              <a:rPr lang="en-IE" sz="2400" dirty="0">
                <a:solidFill>
                  <a:schemeClr val="accent1">
                    <a:lumMod val="50000"/>
                  </a:schemeClr>
                </a:solidFill>
                <a:latin typeface="Aptos" panose="020B0004020202020204" pitchFamily="34" charset="0"/>
              </a:rPr>
              <a:t>meaning of the words used</a:t>
            </a:r>
          </a:p>
          <a:p>
            <a:pPr>
              <a:lnSpc>
                <a:spcPct val="120000"/>
              </a:lnSpc>
            </a:pPr>
            <a:endParaRPr lang="en-IE" sz="2400"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Consult a </a:t>
            </a:r>
            <a:r>
              <a:rPr lang="en-IE" sz="2400" b="1" dirty="0">
                <a:solidFill>
                  <a:schemeClr val="accent1">
                    <a:lumMod val="50000"/>
                  </a:schemeClr>
                </a:solidFill>
                <a:latin typeface="Aptos" panose="020B0004020202020204" pitchFamily="34" charset="0"/>
              </a:rPr>
              <a:t>dictionary</a:t>
            </a:r>
            <a:r>
              <a:rPr lang="en-IE" sz="2400" dirty="0">
                <a:solidFill>
                  <a:schemeClr val="accent1">
                    <a:lumMod val="50000"/>
                  </a:schemeClr>
                </a:solidFill>
                <a:latin typeface="Aptos" panose="020B0004020202020204" pitchFamily="34" charset="0"/>
              </a:rPr>
              <a:t> to determine the meaning of words which have </a:t>
            </a:r>
            <a:r>
              <a:rPr lang="en-IE" sz="2400" b="1" dirty="0">
                <a:solidFill>
                  <a:schemeClr val="accent1">
                    <a:lumMod val="50000"/>
                  </a:schemeClr>
                </a:solidFill>
                <a:latin typeface="Aptos" panose="020B0004020202020204" pitchFamily="34" charset="0"/>
              </a:rPr>
              <a:t>no particular legal meaning</a:t>
            </a:r>
          </a:p>
          <a:p>
            <a:pPr>
              <a:lnSpc>
                <a:spcPct val="120000"/>
              </a:lnSpc>
            </a:pPr>
            <a:endParaRPr lang="en-IE" sz="2400"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If a provision is aimed at a </a:t>
            </a:r>
            <a:r>
              <a:rPr lang="en-IE" sz="2400" b="1" dirty="0">
                <a:solidFill>
                  <a:schemeClr val="accent1">
                    <a:lumMod val="50000"/>
                  </a:schemeClr>
                </a:solidFill>
                <a:latin typeface="Aptos" panose="020B0004020202020204" pitchFamily="34" charset="0"/>
              </a:rPr>
              <a:t>particular trade, business or transaction</a:t>
            </a:r>
            <a:r>
              <a:rPr lang="en-IE" sz="2400" dirty="0">
                <a:solidFill>
                  <a:schemeClr val="accent1">
                    <a:lumMod val="50000"/>
                  </a:schemeClr>
                </a:solidFill>
                <a:latin typeface="Aptos" panose="020B0004020202020204" pitchFamily="34" charset="0"/>
              </a:rPr>
              <a:t>, words should be construed as having the meaning that they have </a:t>
            </a:r>
            <a:r>
              <a:rPr lang="en-IE" sz="2400" b="1" dirty="0">
                <a:solidFill>
                  <a:schemeClr val="accent1">
                    <a:lumMod val="50000"/>
                  </a:schemeClr>
                </a:solidFill>
                <a:latin typeface="Aptos" panose="020B0004020202020204" pitchFamily="34" charset="0"/>
              </a:rPr>
              <a:t>in the context of that trade, business or transaction</a:t>
            </a:r>
          </a:p>
          <a:p>
            <a:pPr>
              <a:lnSpc>
                <a:spcPct val="120000"/>
              </a:lnSpc>
            </a:pPr>
            <a:endParaRPr lang="en-IE" sz="2400" dirty="0">
              <a:solidFill>
                <a:schemeClr val="accent1">
                  <a:lumMod val="50000"/>
                </a:schemeClr>
              </a:solidFill>
              <a:latin typeface="Aptos" panose="020B0004020202020204" pitchFamily="34" charset="0"/>
            </a:endParaRPr>
          </a:p>
          <a:p>
            <a:pPr>
              <a:lnSpc>
                <a:spcPct val="120000"/>
              </a:lnSpc>
            </a:pPr>
            <a:endParaRPr lang="en-IE" sz="2400" dirty="0">
              <a:solidFill>
                <a:schemeClr val="accent1">
                  <a:lumMod val="50000"/>
                </a:schemeClr>
              </a:solidFill>
              <a:latin typeface="Aptos" panose="020B0004020202020204" pitchFamily="34" charset="0"/>
            </a:endParaRPr>
          </a:p>
          <a:p>
            <a:pPr marL="0" indent="0">
              <a:lnSpc>
                <a:spcPct val="120000"/>
              </a:lnSpc>
              <a:buNone/>
            </a:pPr>
            <a:endParaRPr lang="en-IE" sz="2400" b="1" dirty="0">
              <a:solidFill>
                <a:schemeClr val="accent1">
                  <a:lumMod val="50000"/>
                </a:schemeClr>
              </a:solidFill>
              <a:latin typeface="Aptos" panose="020B0004020202020204" pitchFamily="34" charset="0"/>
            </a:endParaRPr>
          </a:p>
          <a:p>
            <a:pPr marL="0" indent="0">
              <a:lnSpc>
                <a:spcPct val="120000"/>
              </a:lnSpc>
              <a:buNone/>
            </a:pPr>
            <a:endParaRPr lang="en-IE" sz="24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40207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‘Purposive’ Rule of Interpretation</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472611" y="1099335"/>
            <a:ext cx="11465960" cy="5297836"/>
          </a:xfrm>
        </p:spPr>
        <p:txBody>
          <a:bodyPr>
            <a:normAutofit/>
          </a:bodyPr>
          <a:lstStyle/>
          <a:p>
            <a:pPr marL="0" indent="0">
              <a:lnSpc>
                <a:spcPct val="120000"/>
              </a:lnSpc>
              <a:buNone/>
            </a:pPr>
            <a:r>
              <a:rPr lang="en-IE" sz="2400" dirty="0">
                <a:solidFill>
                  <a:schemeClr val="accent1">
                    <a:lumMod val="50000"/>
                  </a:schemeClr>
                </a:solidFill>
                <a:latin typeface="Aptos" panose="020B0004020202020204" pitchFamily="34" charset="0"/>
              </a:rPr>
              <a:t>The </a:t>
            </a:r>
            <a:r>
              <a:rPr lang="en-IE" sz="2400" b="1" dirty="0">
                <a:solidFill>
                  <a:schemeClr val="accent1">
                    <a:lumMod val="50000"/>
                  </a:schemeClr>
                </a:solidFill>
                <a:latin typeface="Aptos" panose="020B0004020202020204" pitchFamily="34" charset="0"/>
              </a:rPr>
              <a:t>purposive rule </a:t>
            </a:r>
            <a:r>
              <a:rPr lang="en-IE" sz="2400" dirty="0">
                <a:solidFill>
                  <a:schemeClr val="accent1">
                    <a:lumMod val="50000"/>
                  </a:schemeClr>
                </a:solidFill>
                <a:latin typeface="Aptos" panose="020B0004020202020204" pitchFamily="34" charset="0"/>
              </a:rPr>
              <a:t>of interpretation is a legal principle where courts look beyond the literal words of a statute to understand and apply the law according to the </a:t>
            </a:r>
            <a:r>
              <a:rPr lang="en-IE" sz="2400" b="1" dirty="0">
                <a:solidFill>
                  <a:schemeClr val="accent1">
                    <a:lumMod val="50000"/>
                  </a:schemeClr>
                </a:solidFill>
                <a:latin typeface="Aptos" panose="020B0004020202020204" pitchFamily="34" charset="0"/>
              </a:rPr>
              <a:t>intended purpose or goal</a:t>
            </a:r>
            <a:r>
              <a:rPr lang="en-IE" sz="2400" dirty="0">
                <a:solidFill>
                  <a:schemeClr val="accent1">
                    <a:lumMod val="50000"/>
                  </a:schemeClr>
                </a:solidFill>
                <a:latin typeface="Aptos" panose="020B0004020202020204" pitchFamily="34" charset="0"/>
              </a:rPr>
              <a:t> of the legislature, especially if the text is ambiguous:</a:t>
            </a:r>
          </a:p>
          <a:p>
            <a:pPr marL="0" indent="0">
              <a:lnSpc>
                <a:spcPct val="120000"/>
              </a:lnSpc>
              <a:buNone/>
            </a:pPr>
            <a:r>
              <a:rPr lang="en-IE" sz="2400" b="1" dirty="0">
                <a:solidFill>
                  <a:schemeClr val="accent1">
                    <a:lumMod val="50000"/>
                  </a:schemeClr>
                </a:solidFill>
                <a:latin typeface="Aptos" panose="020B0004020202020204" pitchFamily="34" charset="0"/>
              </a:rPr>
              <a:t>In this case, caseworkers should:</a:t>
            </a:r>
          </a:p>
          <a:p>
            <a:pPr>
              <a:lnSpc>
                <a:spcPct val="120000"/>
              </a:lnSpc>
            </a:pPr>
            <a:r>
              <a:rPr lang="en-IE" sz="2400" dirty="0">
                <a:solidFill>
                  <a:schemeClr val="accent1">
                    <a:lumMod val="50000"/>
                  </a:schemeClr>
                </a:solidFill>
                <a:latin typeface="Aptos" panose="020B0004020202020204" pitchFamily="34" charset="0"/>
              </a:rPr>
              <a:t>Read the piece of legislation as a whole (</a:t>
            </a:r>
            <a:r>
              <a:rPr lang="en-IE" sz="2400" i="1" dirty="0">
                <a:solidFill>
                  <a:schemeClr val="accent1">
                    <a:lumMod val="50000"/>
                  </a:schemeClr>
                </a:solidFill>
                <a:latin typeface="Aptos" panose="020B0004020202020204" pitchFamily="34" charset="0"/>
              </a:rPr>
              <a:t>including the long and short titles, schedules, definition and interpretation sections, etc</a:t>
            </a:r>
            <a:r>
              <a:rPr lang="en-IE" sz="2400" dirty="0">
                <a:solidFill>
                  <a:schemeClr val="accent1">
                    <a:lumMod val="50000"/>
                  </a:schemeClr>
                </a:solidFill>
                <a:latin typeface="Aptos" panose="020B0004020202020204" pitchFamily="34" charset="0"/>
              </a:rPr>
              <a:t>) and</a:t>
            </a:r>
          </a:p>
          <a:p>
            <a:pPr>
              <a:lnSpc>
                <a:spcPct val="120000"/>
              </a:lnSpc>
            </a:pPr>
            <a:r>
              <a:rPr lang="en-IE" sz="2400" dirty="0">
                <a:solidFill>
                  <a:schemeClr val="accent1">
                    <a:lumMod val="50000"/>
                  </a:schemeClr>
                </a:solidFill>
                <a:latin typeface="Aptos" panose="020B0004020202020204" pitchFamily="34" charset="0"/>
              </a:rPr>
              <a:t>Apply the plain intention of the Oireachtas where it is clear, based on the context of the provision within the Act as a whole</a:t>
            </a:r>
          </a:p>
          <a:p>
            <a:pPr marL="0" indent="0">
              <a:lnSpc>
                <a:spcPct val="120000"/>
              </a:lnSpc>
              <a:buNone/>
            </a:pPr>
            <a:r>
              <a:rPr lang="en-IE" sz="2400" dirty="0">
                <a:solidFill>
                  <a:srgbClr val="006666"/>
                </a:solidFill>
                <a:latin typeface="Aptos" panose="020B0004020202020204" pitchFamily="34" charset="0"/>
              </a:rPr>
              <a:t>Note : The legislative history of the section may also be considered in determining the original intention of the Oireachtas (</a:t>
            </a:r>
            <a:r>
              <a:rPr lang="en-IE" sz="2400" i="1" dirty="0">
                <a:solidFill>
                  <a:srgbClr val="006666"/>
                </a:solidFill>
                <a:latin typeface="Aptos" panose="020B0004020202020204" pitchFamily="34" charset="0"/>
              </a:rPr>
              <a:t>RLS may be able to assist with this via RTS</a:t>
            </a:r>
            <a:r>
              <a:rPr lang="en-IE" sz="2400" dirty="0">
                <a:solidFill>
                  <a:srgbClr val="006666"/>
                </a:solidFill>
                <a:latin typeface="Aptos" panose="020B0004020202020204" pitchFamily="34" charset="0"/>
              </a:rPr>
              <a:t>)</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164842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Use of Certain Words in the Acts</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fontScale="92500" lnSpcReduction="10000"/>
          </a:bodyPr>
          <a:lstStyle/>
          <a:p>
            <a:pPr>
              <a:lnSpc>
                <a:spcPct val="120000"/>
              </a:lnSpc>
            </a:pPr>
            <a:r>
              <a:rPr lang="en-IE" sz="2400" dirty="0">
                <a:solidFill>
                  <a:schemeClr val="accent1">
                    <a:lumMod val="50000"/>
                  </a:schemeClr>
                </a:solidFill>
                <a:latin typeface="Aptos" panose="020B0004020202020204" pitchFamily="34" charset="0"/>
              </a:rPr>
              <a:t>The Direct Taxes Acts contain many specific definitions throughout</a:t>
            </a:r>
          </a:p>
          <a:p>
            <a:pPr>
              <a:lnSpc>
                <a:spcPct val="120000"/>
              </a:lnSpc>
            </a:pPr>
            <a:endParaRPr lang="en-IE" sz="1100"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Use of words in the legislation such as </a:t>
            </a:r>
            <a:r>
              <a:rPr lang="en-IE" sz="2400" b="1" dirty="0">
                <a:solidFill>
                  <a:schemeClr val="accent1">
                    <a:lumMod val="50000"/>
                  </a:schemeClr>
                </a:solidFill>
                <a:latin typeface="Aptos" panose="020B0004020202020204" pitchFamily="34" charset="0"/>
              </a:rPr>
              <a:t>‘State’, ‘notwithstanding’, ‘shall,’ ‘may’, ‘means,’ ‘includes’, ‘deemed’, ‘subject to’, ‘and’, ‘or’ </a:t>
            </a:r>
            <a:r>
              <a:rPr lang="en-IE" sz="2400" dirty="0">
                <a:solidFill>
                  <a:schemeClr val="accent1">
                    <a:lumMod val="50000"/>
                  </a:schemeClr>
                </a:solidFill>
                <a:latin typeface="Aptos" panose="020B0004020202020204" pitchFamily="34" charset="0"/>
              </a:rPr>
              <a:t>is common and their meaning is important</a:t>
            </a:r>
          </a:p>
          <a:p>
            <a:pPr>
              <a:lnSpc>
                <a:spcPct val="120000"/>
              </a:lnSpc>
            </a:pPr>
            <a:endParaRPr lang="en-IE" sz="1100" dirty="0">
              <a:solidFill>
                <a:schemeClr val="accent1">
                  <a:lumMod val="50000"/>
                </a:schemeClr>
              </a:solidFill>
              <a:latin typeface="Aptos" panose="020B0004020202020204" pitchFamily="34" charset="0"/>
            </a:endParaRPr>
          </a:p>
          <a:p>
            <a:pPr>
              <a:lnSpc>
                <a:spcPct val="120000"/>
              </a:lnSpc>
            </a:pPr>
            <a:r>
              <a:rPr lang="en-IE" sz="2400" b="1" dirty="0">
                <a:solidFill>
                  <a:schemeClr val="accent1">
                    <a:lumMod val="50000"/>
                  </a:schemeClr>
                </a:solidFill>
                <a:latin typeface="Aptos" panose="020B0004020202020204" pitchFamily="34" charset="0"/>
              </a:rPr>
              <a:t>The State: </a:t>
            </a:r>
            <a:r>
              <a:rPr lang="en-IE" sz="2400" dirty="0">
                <a:solidFill>
                  <a:schemeClr val="accent1">
                    <a:lumMod val="50000"/>
                  </a:schemeClr>
                </a:solidFill>
                <a:latin typeface="Aptos" panose="020B0004020202020204" pitchFamily="34" charset="0"/>
              </a:rPr>
              <a:t>The Republic of Ireland and its territorial waters (</a:t>
            </a:r>
            <a:r>
              <a:rPr lang="en-IE" sz="2400" i="1" dirty="0">
                <a:solidFill>
                  <a:schemeClr val="accent1">
                    <a:lumMod val="50000"/>
                  </a:schemeClr>
                </a:solidFill>
                <a:latin typeface="Aptos" panose="020B0004020202020204" pitchFamily="34" charset="0"/>
              </a:rPr>
              <a:t>Ireland’s territorial waters extend 12 nautical miles or 22km from its coast, encompassing airspace, seabed and waters, but full maritime jurisdiction stretches further)</a:t>
            </a:r>
          </a:p>
          <a:p>
            <a:pPr>
              <a:lnSpc>
                <a:spcPct val="120000"/>
              </a:lnSpc>
            </a:pPr>
            <a:endParaRPr lang="en-IE" sz="1100" dirty="0">
              <a:solidFill>
                <a:schemeClr val="accent1">
                  <a:lumMod val="50000"/>
                </a:schemeClr>
              </a:solidFill>
              <a:latin typeface="Aptos" panose="020B0004020202020204" pitchFamily="34" charset="0"/>
            </a:endParaRPr>
          </a:p>
          <a:p>
            <a:pPr>
              <a:lnSpc>
                <a:spcPct val="120000"/>
              </a:lnSpc>
            </a:pPr>
            <a:r>
              <a:rPr lang="en-IE" sz="2400" b="1" dirty="0">
                <a:solidFill>
                  <a:schemeClr val="accent1">
                    <a:lumMod val="50000"/>
                  </a:schemeClr>
                </a:solidFill>
                <a:latin typeface="Aptos" panose="020B0004020202020204" pitchFamily="34" charset="0"/>
              </a:rPr>
              <a:t>Notwithstanding</a:t>
            </a:r>
            <a:r>
              <a:rPr lang="en-IE" sz="2400" dirty="0">
                <a:solidFill>
                  <a:schemeClr val="accent1">
                    <a:lumMod val="50000"/>
                  </a:schemeClr>
                </a:solidFill>
                <a:latin typeface="Aptos" panose="020B0004020202020204" pitchFamily="34" charset="0"/>
              </a:rPr>
              <a:t>: Means ‘</a:t>
            </a:r>
            <a:r>
              <a:rPr lang="en-IE" sz="2400" b="1" dirty="0">
                <a:solidFill>
                  <a:schemeClr val="accent1">
                    <a:lumMod val="50000"/>
                  </a:schemeClr>
                </a:solidFill>
                <a:latin typeface="Aptos" panose="020B0004020202020204" pitchFamily="34" charset="0"/>
              </a:rPr>
              <a:t>despite what has been said </a:t>
            </a:r>
            <a:r>
              <a:rPr lang="en-IE" sz="2400" dirty="0">
                <a:solidFill>
                  <a:schemeClr val="accent1">
                    <a:lumMod val="50000"/>
                  </a:schemeClr>
                </a:solidFill>
                <a:latin typeface="Aptos" panose="020B0004020202020204" pitchFamily="34" charset="0"/>
              </a:rPr>
              <a:t>in an earlier part of the section or in another section of the legislation …..’</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39</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18075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Use of Certain Words in the Acts</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lnSpcReduction="10000"/>
          </a:bodyPr>
          <a:lstStyle/>
          <a:p>
            <a:pPr>
              <a:lnSpc>
                <a:spcPct val="120000"/>
              </a:lnSpc>
            </a:pPr>
            <a:r>
              <a:rPr lang="en-IE" sz="2400" b="1" dirty="0">
                <a:solidFill>
                  <a:schemeClr val="accent1">
                    <a:lumMod val="50000"/>
                  </a:schemeClr>
                </a:solidFill>
                <a:latin typeface="Aptos" panose="020B0004020202020204" pitchFamily="34" charset="0"/>
              </a:rPr>
              <a:t>Shall: </a:t>
            </a:r>
            <a:r>
              <a:rPr lang="en-IE" sz="2400" dirty="0">
                <a:solidFill>
                  <a:schemeClr val="accent1">
                    <a:lumMod val="50000"/>
                  </a:schemeClr>
                </a:solidFill>
                <a:latin typeface="Aptos" panose="020B0004020202020204" pitchFamily="34" charset="0"/>
              </a:rPr>
              <a:t>A person has a </a:t>
            </a:r>
            <a:r>
              <a:rPr lang="en-IE" sz="2400" b="1" dirty="0">
                <a:solidFill>
                  <a:schemeClr val="accent1">
                    <a:lumMod val="50000"/>
                  </a:schemeClr>
                </a:solidFill>
                <a:latin typeface="Aptos" panose="020B0004020202020204" pitchFamily="34" charset="0"/>
              </a:rPr>
              <a:t>duty</a:t>
            </a:r>
            <a:r>
              <a:rPr lang="en-IE" sz="2400" dirty="0">
                <a:solidFill>
                  <a:schemeClr val="accent1">
                    <a:lumMod val="50000"/>
                  </a:schemeClr>
                </a:solidFill>
                <a:latin typeface="Aptos" panose="020B0004020202020204" pitchFamily="34" charset="0"/>
              </a:rPr>
              <a:t> to do something </a:t>
            </a:r>
          </a:p>
          <a:p>
            <a:pPr>
              <a:lnSpc>
                <a:spcPct val="120000"/>
              </a:lnSpc>
            </a:pPr>
            <a:r>
              <a:rPr lang="en-IE" sz="2400" dirty="0">
                <a:solidFill>
                  <a:schemeClr val="accent1">
                    <a:lumMod val="50000"/>
                  </a:schemeClr>
                </a:solidFill>
                <a:latin typeface="Aptos" panose="020B0004020202020204" pitchFamily="34" charset="0"/>
              </a:rPr>
              <a:t>e.g. S216A (4) ‘The provisions of the Income Tax Acts relating to the making of returns </a:t>
            </a:r>
            <a:r>
              <a:rPr lang="en-IE" sz="2400" b="1" dirty="0">
                <a:solidFill>
                  <a:schemeClr val="accent1">
                    <a:lumMod val="50000"/>
                  </a:schemeClr>
                </a:solidFill>
                <a:latin typeface="Aptos" panose="020B0004020202020204" pitchFamily="34" charset="0"/>
              </a:rPr>
              <a:t>shall apply </a:t>
            </a:r>
            <a:r>
              <a:rPr lang="en-IE" sz="2400" dirty="0">
                <a:solidFill>
                  <a:schemeClr val="accent1">
                    <a:lumMod val="50000"/>
                  </a:schemeClr>
                </a:solidFill>
                <a:latin typeface="Aptos" panose="020B0004020202020204" pitchFamily="34" charset="0"/>
              </a:rPr>
              <a:t>as if this section had not been enacted’ (</a:t>
            </a:r>
            <a:r>
              <a:rPr lang="en-IE" sz="2400" i="1" dirty="0">
                <a:solidFill>
                  <a:schemeClr val="accent1">
                    <a:lumMod val="50000"/>
                  </a:schemeClr>
                </a:solidFill>
                <a:latin typeface="Aptos" panose="020B0004020202020204" pitchFamily="34" charset="0"/>
              </a:rPr>
              <a:t>Despite the exemption from tax, USC &amp; PRSI for income which qualifies for Rent-a-Room relief a </a:t>
            </a:r>
            <a:r>
              <a:rPr lang="en-IE" sz="2400" b="1" i="1" dirty="0">
                <a:solidFill>
                  <a:schemeClr val="accent1">
                    <a:lumMod val="50000"/>
                  </a:schemeClr>
                </a:solidFill>
                <a:latin typeface="Aptos" panose="020B0004020202020204" pitchFamily="34" charset="0"/>
              </a:rPr>
              <a:t>Return of Income must be filed</a:t>
            </a:r>
            <a:r>
              <a:rPr lang="en-IE" sz="2400" i="1" dirty="0">
                <a:solidFill>
                  <a:schemeClr val="accent1">
                    <a:lumMod val="50000"/>
                  </a:schemeClr>
                </a:solidFill>
                <a:latin typeface="Aptos" panose="020B0004020202020204" pitchFamily="34" charset="0"/>
              </a:rPr>
              <a:t>)</a:t>
            </a:r>
          </a:p>
          <a:p>
            <a:pPr>
              <a:lnSpc>
                <a:spcPct val="120000"/>
              </a:lnSpc>
            </a:pPr>
            <a:endParaRPr lang="en-IE" sz="1100" i="1" dirty="0">
              <a:solidFill>
                <a:schemeClr val="accent1">
                  <a:lumMod val="50000"/>
                </a:schemeClr>
              </a:solidFill>
              <a:latin typeface="Aptos" panose="020B0004020202020204" pitchFamily="34" charset="0"/>
            </a:endParaRPr>
          </a:p>
          <a:p>
            <a:pPr>
              <a:lnSpc>
                <a:spcPct val="120000"/>
              </a:lnSpc>
            </a:pPr>
            <a:r>
              <a:rPr lang="en-IE" sz="2400" b="1" dirty="0">
                <a:solidFill>
                  <a:schemeClr val="accent1">
                    <a:lumMod val="50000"/>
                  </a:schemeClr>
                </a:solidFill>
                <a:latin typeface="Aptos" panose="020B0004020202020204" pitchFamily="34" charset="0"/>
              </a:rPr>
              <a:t>May</a:t>
            </a:r>
            <a:r>
              <a:rPr lang="en-IE" sz="2400" dirty="0">
                <a:solidFill>
                  <a:schemeClr val="accent1">
                    <a:lumMod val="50000"/>
                  </a:schemeClr>
                </a:solidFill>
                <a:latin typeface="Aptos" panose="020B0004020202020204" pitchFamily="34" charset="0"/>
              </a:rPr>
              <a:t>: Is used where a power, permission, benefit or privilege given to a person </a:t>
            </a:r>
            <a:r>
              <a:rPr lang="en-IE" sz="2400" b="1" dirty="0">
                <a:solidFill>
                  <a:schemeClr val="accent1">
                    <a:lumMod val="50000"/>
                  </a:schemeClr>
                </a:solidFill>
                <a:latin typeface="Aptos" panose="020B0004020202020204" pitchFamily="34" charset="0"/>
              </a:rPr>
              <a:t>may, but need not be exercised</a:t>
            </a:r>
            <a:r>
              <a:rPr lang="en-IE" sz="2400" dirty="0">
                <a:solidFill>
                  <a:schemeClr val="accent1">
                    <a:lumMod val="50000"/>
                  </a:schemeClr>
                </a:solidFill>
                <a:latin typeface="Aptos" panose="020B0004020202020204" pitchFamily="34" charset="0"/>
              </a:rPr>
              <a:t> e.g. An individual may claim Rent-a-room relief under S216A but while they may be entitled to claim the relief they may not wish to do so (</a:t>
            </a:r>
            <a:r>
              <a:rPr lang="en-IE" sz="2400" i="1" dirty="0">
                <a:solidFill>
                  <a:schemeClr val="accent1">
                    <a:lumMod val="50000"/>
                  </a:schemeClr>
                </a:solidFill>
                <a:latin typeface="Aptos" panose="020B0004020202020204" pitchFamily="34" charset="0"/>
              </a:rPr>
              <a:t>it may be more beneficial to include the income with other rental income and claim all available deductions instead</a:t>
            </a:r>
            <a:r>
              <a:rPr lang="en-IE" sz="2400" dirty="0">
                <a:solidFill>
                  <a:schemeClr val="accent1">
                    <a:lumMod val="50000"/>
                  </a:schemeClr>
                </a:solidFill>
                <a:latin typeface="Aptos" panose="020B0004020202020204" pitchFamily="34" charset="0"/>
              </a:rPr>
              <a:t>)</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49790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Use of Certain Words in the Acts</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579361"/>
            <a:ext cx="10876722" cy="4696187"/>
          </a:xfrm>
        </p:spPr>
        <p:txBody>
          <a:bodyPr>
            <a:normAutofit lnSpcReduction="10000"/>
          </a:bodyPr>
          <a:lstStyle/>
          <a:p>
            <a:pPr marL="0" indent="0">
              <a:lnSpc>
                <a:spcPct val="120000"/>
              </a:lnSpc>
              <a:buNone/>
            </a:pPr>
            <a:r>
              <a:rPr lang="en-IE" sz="2400" b="1" dirty="0">
                <a:solidFill>
                  <a:schemeClr val="accent1">
                    <a:lumMod val="50000"/>
                  </a:schemeClr>
                </a:solidFill>
                <a:latin typeface="Aptos" panose="020B0004020202020204" pitchFamily="34" charset="0"/>
              </a:rPr>
              <a:t>Means: </a:t>
            </a:r>
            <a:r>
              <a:rPr lang="en-IE" sz="2400" dirty="0">
                <a:solidFill>
                  <a:schemeClr val="accent1">
                    <a:lumMod val="50000"/>
                  </a:schemeClr>
                </a:solidFill>
                <a:latin typeface="Aptos" panose="020B0004020202020204" pitchFamily="34" charset="0"/>
              </a:rPr>
              <a:t>This word is used to </a:t>
            </a:r>
            <a:r>
              <a:rPr lang="en-IE" sz="2400" b="1" dirty="0">
                <a:solidFill>
                  <a:schemeClr val="accent1">
                    <a:lumMod val="50000"/>
                  </a:schemeClr>
                </a:solidFill>
                <a:latin typeface="Aptos" panose="020B0004020202020204" pitchFamily="34" charset="0"/>
              </a:rPr>
              <a:t>define something specific</a:t>
            </a:r>
            <a:r>
              <a:rPr lang="en-IE" sz="2400" dirty="0">
                <a:solidFill>
                  <a:schemeClr val="accent1">
                    <a:lumMod val="50000"/>
                  </a:schemeClr>
                </a:solidFill>
                <a:latin typeface="Aptos" panose="020B0004020202020204" pitchFamily="34" charset="0"/>
              </a:rPr>
              <a:t>, e.g. In S216A subsection (1) ‘residential premises’ </a:t>
            </a:r>
            <a:r>
              <a:rPr lang="en-IE" sz="2400" b="1" dirty="0">
                <a:solidFill>
                  <a:schemeClr val="accent1">
                    <a:lumMod val="50000"/>
                  </a:schemeClr>
                </a:solidFill>
                <a:latin typeface="Aptos" panose="020B0004020202020204" pitchFamily="34" charset="0"/>
              </a:rPr>
              <a:t>means</a:t>
            </a:r>
            <a:r>
              <a:rPr lang="en-IE" sz="2400" dirty="0">
                <a:solidFill>
                  <a:schemeClr val="accent1">
                    <a:lumMod val="50000"/>
                  </a:schemeClr>
                </a:solidFill>
                <a:latin typeface="Aptos" panose="020B0004020202020204" pitchFamily="34" charset="0"/>
              </a:rPr>
              <a:t> ‘a building or part of a building used as a dwelling’.</a:t>
            </a:r>
          </a:p>
          <a:p>
            <a:pPr marL="0" indent="0">
              <a:lnSpc>
                <a:spcPct val="120000"/>
              </a:lnSpc>
              <a:buNone/>
            </a:pPr>
            <a:endParaRPr lang="en-IE" sz="2400" dirty="0">
              <a:solidFill>
                <a:schemeClr val="accent1">
                  <a:lumMod val="50000"/>
                </a:schemeClr>
              </a:solidFill>
              <a:latin typeface="Aptos" panose="020B0004020202020204" pitchFamily="34" charset="0"/>
            </a:endParaRPr>
          </a:p>
          <a:p>
            <a:pPr marL="0" indent="0">
              <a:lnSpc>
                <a:spcPct val="120000"/>
              </a:lnSpc>
              <a:buNone/>
            </a:pPr>
            <a:r>
              <a:rPr lang="en-IE" sz="2400" b="1" dirty="0">
                <a:solidFill>
                  <a:schemeClr val="accent1">
                    <a:lumMod val="50000"/>
                  </a:schemeClr>
                </a:solidFill>
                <a:latin typeface="Aptos" panose="020B0004020202020204" pitchFamily="34" charset="0"/>
              </a:rPr>
              <a:t>Includes: </a:t>
            </a:r>
            <a:r>
              <a:rPr lang="en-IE" sz="2400" dirty="0">
                <a:solidFill>
                  <a:schemeClr val="accent1">
                    <a:lumMod val="50000"/>
                  </a:schemeClr>
                </a:solidFill>
                <a:latin typeface="Aptos" panose="020B0004020202020204" pitchFamily="34" charset="0"/>
              </a:rPr>
              <a:t>Where the word ‘means’ is replaced with the word ‘includes’ we will see some examples of where the legislation applies but the section </a:t>
            </a:r>
            <a:r>
              <a:rPr lang="en-IE" sz="2400" b="1" dirty="0">
                <a:solidFill>
                  <a:schemeClr val="accent1">
                    <a:lumMod val="50000"/>
                  </a:schemeClr>
                </a:solidFill>
                <a:latin typeface="Aptos" panose="020B0004020202020204" pitchFamily="34" charset="0"/>
              </a:rPr>
              <a:t>does not define all possibilities</a:t>
            </a:r>
            <a:r>
              <a:rPr lang="en-IE" sz="2400" dirty="0">
                <a:solidFill>
                  <a:schemeClr val="accent1">
                    <a:lumMod val="50000"/>
                  </a:schemeClr>
                </a:solidFill>
                <a:latin typeface="Aptos" panose="020B0004020202020204" pitchFamily="34" charset="0"/>
              </a:rPr>
              <a:t>. </a:t>
            </a:r>
          </a:p>
          <a:p>
            <a:pPr marL="0" indent="0">
              <a:lnSpc>
                <a:spcPct val="120000"/>
              </a:lnSpc>
              <a:buNone/>
            </a:pPr>
            <a:r>
              <a:rPr lang="en-IE" sz="2400" dirty="0">
                <a:solidFill>
                  <a:schemeClr val="accent1">
                    <a:lumMod val="50000"/>
                  </a:schemeClr>
                </a:solidFill>
                <a:latin typeface="Aptos" panose="020B0004020202020204" pitchFamily="34" charset="0"/>
              </a:rPr>
              <a:t>e.g., Section 3 subsection (1) defines the word ‘Trade’ as follows; the word ‘trade’ includes every trade, manufacture, adventure or concern in the nature of a trade’ (</a:t>
            </a:r>
            <a:r>
              <a:rPr lang="en-IE" sz="2400" i="1" dirty="0">
                <a:solidFill>
                  <a:schemeClr val="accent1">
                    <a:lumMod val="50000"/>
                  </a:schemeClr>
                </a:solidFill>
                <a:latin typeface="Aptos" panose="020B0004020202020204" pitchFamily="34" charset="0"/>
              </a:rPr>
              <a:t>this is a broad definition as it would not be possible to be more specific)</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169366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Use of Certain Words in the Acts</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491706" y="1311965"/>
            <a:ext cx="11223216" cy="4696187"/>
          </a:xfrm>
        </p:spPr>
        <p:txBody>
          <a:bodyPr>
            <a:normAutofit fontScale="92500"/>
          </a:bodyPr>
          <a:lstStyle/>
          <a:p>
            <a:pPr marL="0" indent="0">
              <a:lnSpc>
                <a:spcPct val="120000"/>
              </a:lnSpc>
              <a:buNone/>
            </a:pPr>
            <a:r>
              <a:rPr lang="en-IE" sz="2400" b="1" dirty="0">
                <a:solidFill>
                  <a:schemeClr val="accent1">
                    <a:lumMod val="50000"/>
                  </a:schemeClr>
                </a:solidFill>
                <a:latin typeface="Aptos" panose="020B0004020202020204" pitchFamily="34" charset="0"/>
              </a:rPr>
              <a:t>Deemed: </a:t>
            </a:r>
            <a:r>
              <a:rPr lang="en-IE" sz="2400" dirty="0">
                <a:solidFill>
                  <a:schemeClr val="accent1">
                    <a:lumMod val="50000"/>
                  </a:schemeClr>
                </a:solidFill>
                <a:latin typeface="Aptos" panose="020B0004020202020204" pitchFamily="34" charset="0"/>
              </a:rPr>
              <a:t>Is used where </a:t>
            </a:r>
            <a:r>
              <a:rPr lang="en-IE" sz="2400" b="1" dirty="0">
                <a:solidFill>
                  <a:schemeClr val="accent1">
                    <a:lumMod val="50000"/>
                  </a:schemeClr>
                </a:solidFill>
                <a:latin typeface="Aptos" panose="020B0004020202020204" pitchFamily="34" charset="0"/>
              </a:rPr>
              <a:t>reality is temporarily suspended</a:t>
            </a:r>
            <a:r>
              <a:rPr lang="en-IE" sz="2400" dirty="0">
                <a:solidFill>
                  <a:schemeClr val="accent1">
                    <a:lumMod val="50000"/>
                  </a:schemeClr>
                </a:solidFill>
                <a:latin typeface="Aptos" panose="020B0004020202020204" pitchFamily="34" charset="0"/>
              </a:rPr>
              <a:t>, e.g. an RCT return is deemed to have been filed if no amendments are made by the taxpayer by the specified return date</a:t>
            </a:r>
          </a:p>
          <a:p>
            <a:pPr marL="0" indent="0">
              <a:lnSpc>
                <a:spcPct val="120000"/>
              </a:lnSpc>
              <a:buNone/>
            </a:pPr>
            <a:endParaRPr lang="en-IE" sz="1100" dirty="0">
              <a:solidFill>
                <a:schemeClr val="accent1">
                  <a:lumMod val="50000"/>
                </a:schemeClr>
              </a:solidFill>
              <a:latin typeface="Aptos" panose="020B0004020202020204" pitchFamily="34" charset="0"/>
            </a:endParaRPr>
          </a:p>
          <a:p>
            <a:pPr marL="0" indent="0">
              <a:lnSpc>
                <a:spcPct val="120000"/>
              </a:lnSpc>
              <a:buNone/>
            </a:pPr>
            <a:r>
              <a:rPr lang="en-IE" sz="2400" b="1" dirty="0">
                <a:solidFill>
                  <a:schemeClr val="accent1">
                    <a:lumMod val="50000"/>
                  </a:schemeClr>
                </a:solidFill>
                <a:latin typeface="Aptos" panose="020B0004020202020204" pitchFamily="34" charset="0"/>
              </a:rPr>
              <a:t>Subject to: </a:t>
            </a:r>
            <a:r>
              <a:rPr lang="en-IE" sz="2400" dirty="0">
                <a:solidFill>
                  <a:schemeClr val="accent1">
                    <a:lumMod val="50000"/>
                  </a:schemeClr>
                </a:solidFill>
                <a:latin typeface="Aptos" panose="020B0004020202020204" pitchFamily="34" charset="0"/>
              </a:rPr>
              <a:t>The section or paragraph may be </a:t>
            </a:r>
            <a:r>
              <a:rPr lang="en-IE" sz="2400" b="1" dirty="0">
                <a:solidFill>
                  <a:schemeClr val="accent1">
                    <a:lumMod val="50000"/>
                  </a:schemeClr>
                </a:solidFill>
                <a:latin typeface="Aptos" panose="020B0004020202020204" pitchFamily="34" charset="0"/>
              </a:rPr>
              <a:t>governed</a:t>
            </a:r>
            <a:r>
              <a:rPr lang="en-IE" sz="2400" dirty="0">
                <a:solidFill>
                  <a:schemeClr val="accent1">
                    <a:lumMod val="50000"/>
                  </a:schemeClr>
                </a:solidFill>
                <a:latin typeface="Aptos" panose="020B0004020202020204" pitchFamily="34" charset="0"/>
              </a:rPr>
              <a:t> by another part of the legislation</a:t>
            </a:r>
          </a:p>
          <a:p>
            <a:pPr marL="0" indent="0">
              <a:lnSpc>
                <a:spcPct val="120000"/>
              </a:lnSpc>
              <a:buNone/>
            </a:pPr>
            <a:r>
              <a:rPr lang="en-IE" sz="2400" dirty="0">
                <a:solidFill>
                  <a:schemeClr val="accent1">
                    <a:lumMod val="50000"/>
                  </a:schemeClr>
                </a:solidFill>
                <a:latin typeface="Aptos" panose="020B0004020202020204" pitchFamily="34" charset="0"/>
              </a:rPr>
              <a:t>e.g. S216A (5) states ‘subject to subsection (7), the rent limit of an individual referred to in subsection (2) is [€14,000] </a:t>
            </a:r>
            <a:r>
              <a:rPr lang="en-IE" sz="2400" baseline="30000" dirty="0">
                <a:solidFill>
                  <a:schemeClr val="accent1">
                    <a:lumMod val="50000"/>
                  </a:schemeClr>
                </a:solidFill>
                <a:latin typeface="Aptos" panose="020B0004020202020204" pitchFamily="34" charset="0"/>
              </a:rPr>
              <a:t>7 </a:t>
            </a:r>
            <a:r>
              <a:rPr lang="en-IE" sz="2400" dirty="0">
                <a:solidFill>
                  <a:schemeClr val="accent1">
                    <a:lumMod val="50000"/>
                  </a:schemeClr>
                </a:solidFill>
                <a:latin typeface="Aptos" panose="020B0004020202020204" pitchFamily="34" charset="0"/>
              </a:rPr>
              <a:t>’. Subsection (7) states that the threshold will be divided between multiple individuals in respect of ‘</a:t>
            </a:r>
            <a:r>
              <a:rPr lang="en-IE" sz="2400" i="1" dirty="0">
                <a:solidFill>
                  <a:schemeClr val="accent1">
                    <a:lumMod val="50000"/>
                  </a:schemeClr>
                </a:solidFill>
                <a:latin typeface="Aptos" panose="020B0004020202020204" pitchFamily="34" charset="0"/>
              </a:rPr>
              <a:t>relevant sums</a:t>
            </a:r>
            <a:r>
              <a:rPr lang="en-IE" sz="2400" dirty="0">
                <a:solidFill>
                  <a:schemeClr val="accent1">
                    <a:lumMod val="50000"/>
                  </a:schemeClr>
                </a:solidFill>
                <a:latin typeface="Aptos" panose="020B0004020202020204" pitchFamily="34" charset="0"/>
              </a:rPr>
              <a:t>’ from a ‘</a:t>
            </a:r>
            <a:r>
              <a:rPr lang="en-IE" sz="2400" i="1" dirty="0">
                <a:solidFill>
                  <a:schemeClr val="accent1">
                    <a:lumMod val="50000"/>
                  </a:schemeClr>
                </a:solidFill>
                <a:latin typeface="Aptos" panose="020B0004020202020204" pitchFamily="34" charset="0"/>
              </a:rPr>
              <a:t>qualifying residence</a:t>
            </a:r>
            <a:r>
              <a:rPr lang="en-IE" sz="2400" dirty="0">
                <a:solidFill>
                  <a:schemeClr val="accent1">
                    <a:lumMod val="50000"/>
                  </a:schemeClr>
                </a:solidFill>
                <a:latin typeface="Aptos" panose="020B0004020202020204" pitchFamily="34" charset="0"/>
              </a:rPr>
              <a:t>’</a:t>
            </a:r>
          </a:p>
          <a:p>
            <a:pPr marL="0" indent="0">
              <a:lnSpc>
                <a:spcPct val="120000"/>
              </a:lnSpc>
              <a:buNone/>
            </a:pPr>
            <a:r>
              <a:rPr lang="en-IE" sz="2400" dirty="0">
                <a:solidFill>
                  <a:srgbClr val="006666"/>
                </a:solidFill>
                <a:latin typeface="Aptos" panose="020B0004020202020204" pitchFamily="34" charset="0"/>
              </a:rPr>
              <a:t>Note: The threshold of €14,000 in square brackets indicates that the figure has been </a:t>
            </a:r>
            <a:r>
              <a:rPr lang="en-IE" sz="2400" b="1" dirty="0">
                <a:solidFill>
                  <a:srgbClr val="006666"/>
                </a:solidFill>
                <a:latin typeface="Aptos" panose="020B0004020202020204" pitchFamily="34" charset="0"/>
              </a:rPr>
              <a:t>amended by the Finance Act </a:t>
            </a:r>
            <a:r>
              <a:rPr lang="en-IE" sz="2400" dirty="0">
                <a:solidFill>
                  <a:srgbClr val="006666"/>
                </a:solidFill>
                <a:latin typeface="Aptos" panose="020B0004020202020204" pitchFamily="34" charset="0"/>
              </a:rPr>
              <a:t>in the past. The superscript number </a:t>
            </a:r>
            <a:r>
              <a:rPr lang="en-IE" sz="2400" b="1" baseline="30000" dirty="0">
                <a:solidFill>
                  <a:srgbClr val="006666"/>
                </a:solidFill>
                <a:latin typeface="Aptos" panose="020B0004020202020204" pitchFamily="34" charset="0"/>
              </a:rPr>
              <a:t>7</a:t>
            </a:r>
            <a:r>
              <a:rPr lang="en-IE" sz="2400" b="1" dirty="0">
                <a:solidFill>
                  <a:srgbClr val="006666"/>
                </a:solidFill>
                <a:latin typeface="Aptos" panose="020B0004020202020204" pitchFamily="34" charset="0"/>
              </a:rPr>
              <a:t> </a:t>
            </a:r>
            <a:r>
              <a:rPr lang="en-IE" sz="2400" dirty="0">
                <a:solidFill>
                  <a:srgbClr val="006666"/>
                </a:solidFill>
                <a:latin typeface="Aptos" panose="020B0004020202020204" pitchFamily="34" charset="0"/>
              </a:rPr>
              <a:t>brings you to a note at the end of S216A which states the date from which the new threshold of €14,000 applies</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42</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46899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Use of Certain Words in the Acts</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838200" y="1311965"/>
            <a:ext cx="10876722" cy="4696187"/>
          </a:xfrm>
        </p:spPr>
        <p:txBody>
          <a:bodyPr>
            <a:normAutofit/>
          </a:bodyPr>
          <a:lstStyle/>
          <a:p>
            <a:pPr>
              <a:lnSpc>
                <a:spcPct val="120000"/>
              </a:lnSpc>
            </a:pPr>
            <a:r>
              <a:rPr lang="en-IE" sz="2400" dirty="0">
                <a:solidFill>
                  <a:schemeClr val="accent1">
                    <a:lumMod val="50000"/>
                  </a:schemeClr>
                </a:solidFill>
                <a:latin typeface="Aptos" panose="020B0004020202020204" pitchFamily="34" charset="0"/>
              </a:rPr>
              <a:t>The use of the word </a:t>
            </a:r>
            <a:r>
              <a:rPr lang="en-IE" sz="2400" b="1" dirty="0">
                <a:solidFill>
                  <a:schemeClr val="accent1">
                    <a:lumMod val="50000"/>
                  </a:schemeClr>
                </a:solidFill>
                <a:latin typeface="Aptos" panose="020B0004020202020204" pitchFamily="34" charset="0"/>
              </a:rPr>
              <a:t>‘and’ </a:t>
            </a:r>
            <a:r>
              <a:rPr lang="en-IE" sz="2400" dirty="0">
                <a:solidFill>
                  <a:schemeClr val="accent1">
                    <a:lumMod val="50000"/>
                  </a:schemeClr>
                </a:solidFill>
                <a:latin typeface="Aptos" panose="020B0004020202020204" pitchFamily="34" charset="0"/>
              </a:rPr>
              <a:t>at the end of a sentence means that </a:t>
            </a:r>
            <a:r>
              <a:rPr lang="en-IE" sz="2400" b="1" dirty="0">
                <a:solidFill>
                  <a:schemeClr val="accent1">
                    <a:lumMod val="50000"/>
                  </a:schemeClr>
                </a:solidFill>
                <a:latin typeface="Aptos" panose="020B0004020202020204" pitchFamily="34" charset="0"/>
              </a:rPr>
              <a:t>all items </a:t>
            </a:r>
            <a:r>
              <a:rPr lang="en-IE" sz="2400" dirty="0">
                <a:solidFill>
                  <a:schemeClr val="accent1">
                    <a:lumMod val="50000"/>
                  </a:schemeClr>
                </a:solidFill>
                <a:latin typeface="Aptos" panose="020B0004020202020204" pitchFamily="34" charset="0"/>
              </a:rPr>
              <a:t>listed, such as conditions required to qualify for a relief, </a:t>
            </a:r>
            <a:r>
              <a:rPr lang="en-IE" sz="2400" b="1" dirty="0">
                <a:solidFill>
                  <a:schemeClr val="accent1">
                    <a:lumMod val="50000"/>
                  </a:schemeClr>
                </a:solidFill>
                <a:latin typeface="Aptos" panose="020B0004020202020204" pitchFamily="34" charset="0"/>
              </a:rPr>
              <a:t>must be satisfied</a:t>
            </a:r>
          </a:p>
          <a:p>
            <a:pPr>
              <a:lnSpc>
                <a:spcPct val="120000"/>
              </a:lnSpc>
            </a:pPr>
            <a:endParaRPr lang="en-IE" sz="1000" b="1"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On the other hand, if the word </a:t>
            </a:r>
            <a:r>
              <a:rPr lang="en-IE" sz="2400" b="1" dirty="0">
                <a:solidFill>
                  <a:schemeClr val="accent1">
                    <a:lumMod val="50000"/>
                  </a:schemeClr>
                </a:solidFill>
                <a:latin typeface="Aptos" panose="020B0004020202020204" pitchFamily="34" charset="0"/>
              </a:rPr>
              <a:t>‘or’ </a:t>
            </a:r>
            <a:r>
              <a:rPr lang="en-IE" sz="2400" dirty="0">
                <a:solidFill>
                  <a:schemeClr val="accent1">
                    <a:lumMod val="50000"/>
                  </a:schemeClr>
                </a:solidFill>
                <a:latin typeface="Aptos" panose="020B0004020202020204" pitchFamily="34" charset="0"/>
              </a:rPr>
              <a:t>is used at the end of the condition, this indicates that </a:t>
            </a:r>
            <a:r>
              <a:rPr lang="en-IE" sz="2400" b="1" dirty="0">
                <a:solidFill>
                  <a:schemeClr val="accent1">
                    <a:lumMod val="50000"/>
                  </a:schemeClr>
                </a:solidFill>
                <a:latin typeface="Aptos" panose="020B0004020202020204" pitchFamily="34" charset="0"/>
              </a:rPr>
              <a:t>one</a:t>
            </a:r>
            <a:r>
              <a:rPr lang="en-IE" sz="2400" dirty="0">
                <a:solidFill>
                  <a:schemeClr val="accent1">
                    <a:lumMod val="50000"/>
                  </a:schemeClr>
                </a:solidFill>
                <a:latin typeface="Aptos" panose="020B0004020202020204" pitchFamily="34" charset="0"/>
              </a:rPr>
              <a:t> of two or more </a:t>
            </a:r>
            <a:r>
              <a:rPr lang="en-IE" sz="2400" b="1" dirty="0">
                <a:solidFill>
                  <a:schemeClr val="accent1">
                    <a:lumMod val="50000"/>
                  </a:schemeClr>
                </a:solidFill>
                <a:latin typeface="Aptos" panose="020B0004020202020204" pitchFamily="34" charset="0"/>
              </a:rPr>
              <a:t>of those conditions </a:t>
            </a:r>
            <a:r>
              <a:rPr lang="en-IE" sz="2400" dirty="0">
                <a:solidFill>
                  <a:schemeClr val="accent1">
                    <a:lumMod val="50000"/>
                  </a:schemeClr>
                </a:solidFill>
                <a:latin typeface="Aptos" panose="020B0004020202020204" pitchFamily="34" charset="0"/>
              </a:rPr>
              <a:t>may be required for relief to apply but not ALL conditions</a:t>
            </a:r>
          </a:p>
          <a:p>
            <a:pPr>
              <a:lnSpc>
                <a:spcPct val="120000"/>
              </a:lnSpc>
            </a:pPr>
            <a:endParaRPr lang="en-IE" sz="1000" dirty="0">
              <a:solidFill>
                <a:schemeClr val="accent1">
                  <a:lumMod val="50000"/>
                </a:schemeClr>
              </a:solidFill>
              <a:latin typeface="Aptos" panose="020B0004020202020204" pitchFamily="34" charset="0"/>
            </a:endParaRPr>
          </a:p>
          <a:p>
            <a:pPr>
              <a:lnSpc>
                <a:spcPct val="120000"/>
              </a:lnSpc>
            </a:pPr>
            <a:r>
              <a:rPr lang="en-IE" sz="2400" dirty="0">
                <a:solidFill>
                  <a:schemeClr val="accent1">
                    <a:lumMod val="50000"/>
                  </a:schemeClr>
                </a:solidFill>
                <a:latin typeface="Aptos" panose="020B0004020202020204" pitchFamily="34" charset="0"/>
              </a:rPr>
              <a:t>If the </a:t>
            </a:r>
            <a:r>
              <a:rPr lang="en-IE" sz="2400" b="1" dirty="0">
                <a:solidFill>
                  <a:schemeClr val="accent1">
                    <a:lumMod val="50000"/>
                  </a:schemeClr>
                </a:solidFill>
                <a:latin typeface="Aptos" panose="020B0004020202020204" pitchFamily="34" charset="0"/>
              </a:rPr>
              <a:t>second last condition </a:t>
            </a:r>
            <a:r>
              <a:rPr lang="en-IE" sz="2400" dirty="0">
                <a:solidFill>
                  <a:schemeClr val="accent1">
                    <a:lumMod val="50000"/>
                  </a:schemeClr>
                </a:solidFill>
                <a:latin typeface="Aptos" panose="020B0004020202020204" pitchFamily="34" charset="0"/>
              </a:rPr>
              <a:t>ends with the word </a:t>
            </a:r>
            <a:r>
              <a:rPr lang="en-IE" sz="2400" b="1" dirty="0">
                <a:solidFill>
                  <a:schemeClr val="accent1">
                    <a:lumMod val="50000"/>
                  </a:schemeClr>
                </a:solidFill>
                <a:latin typeface="Aptos" panose="020B0004020202020204" pitchFamily="34" charset="0"/>
              </a:rPr>
              <a:t>‘or’ </a:t>
            </a:r>
            <a:r>
              <a:rPr lang="en-IE" sz="2400" dirty="0">
                <a:solidFill>
                  <a:schemeClr val="accent1">
                    <a:lumMod val="50000"/>
                  </a:schemeClr>
                </a:solidFill>
                <a:latin typeface="Aptos" panose="020B0004020202020204" pitchFamily="34" charset="0"/>
              </a:rPr>
              <a:t>then if </a:t>
            </a:r>
            <a:r>
              <a:rPr lang="en-IE" sz="2400" b="1" dirty="0">
                <a:solidFill>
                  <a:schemeClr val="accent1">
                    <a:lumMod val="50000"/>
                  </a:schemeClr>
                </a:solidFill>
                <a:latin typeface="Aptos" panose="020B0004020202020204" pitchFamily="34" charset="0"/>
              </a:rPr>
              <a:t>any one </a:t>
            </a:r>
            <a:r>
              <a:rPr lang="en-IE" sz="2400" dirty="0">
                <a:solidFill>
                  <a:schemeClr val="accent1">
                    <a:lumMod val="50000"/>
                  </a:schemeClr>
                </a:solidFill>
                <a:latin typeface="Aptos" panose="020B0004020202020204" pitchFamily="34" charset="0"/>
              </a:rPr>
              <a:t>of the conditions is satisfied the person may be entitled to the relief, </a:t>
            </a:r>
            <a:r>
              <a:rPr lang="en-IE" sz="2400" b="1" i="1" dirty="0">
                <a:solidFill>
                  <a:schemeClr val="accent1">
                    <a:lumMod val="50000"/>
                  </a:schemeClr>
                </a:solidFill>
                <a:latin typeface="Aptos" panose="020B0004020202020204" pitchFamily="34" charset="0"/>
              </a:rPr>
              <a:t>unless another section of the legislation provides for an exclusion</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42026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Class Exercise- Farming</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1034143" y="1457739"/>
            <a:ext cx="10876722" cy="4696187"/>
          </a:xfrm>
        </p:spPr>
        <p:txBody>
          <a:bodyPr>
            <a:normAutofit/>
          </a:bodyPr>
          <a:lstStyle/>
          <a:p>
            <a:pPr marL="0" indent="0">
              <a:lnSpc>
                <a:spcPct val="120000"/>
              </a:lnSpc>
              <a:buNone/>
            </a:pPr>
            <a:endParaRPr lang="en-IE" sz="2400" b="1" dirty="0">
              <a:solidFill>
                <a:srgbClr val="006666"/>
              </a:solidFill>
              <a:latin typeface="Aptos" panose="020B0004020202020204" pitchFamily="34" charset="0"/>
            </a:endParaRPr>
          </a:p>
          <a:p>
            <a:pPr marL="0" indent="0">
              <a:lnSpc>
                <a:spcPct val="120000"/>
              </a:lnSpc>
              <a:buNone/>
            </a:pPr>
            <a:r>
              <a:rPr lang="en-IE" sz="2400" b="1" dirty="0">
                <a:solidFill>
                  <a:srgbClr val="006666"/>
                </a:solidFill>
                <a:latin typeface="Aptos" panose="020B0004020202020204" pitchFamily="34" charset="0"/>
              </a:rPr>
              <a:t>Go to S667B ‘New arrangements for qualifying farmers’ </a:t>
            </a:r>
          </a:p>
          <a:p>
            <a:pPr marL="0" indent="0">
              <a:lnSpc>
                <a:spcPct val="120000"/>
              </a:lnSpc>
              <a:buNone/>
            </a:pPr>
            <a:endParaRPr lang="en-IE" sz="2400" b="1" dirty="0">
              <a:solidFill>
                <a:srgbClr val="006666"/>
              </a:solidFill>
              <a:latin typeface="Aptos" panose="020B0004020202020204" pitchFamily="34" charset="0"/>
            </a:endParaRPr>
          </a:p>
          <a:p>
            <a:pPr marL="0" indent="0">
              <a:lnSpc>
                <a:spcPct val="120000"/>
              </a:lnSpc>
              <a:buNone/>
            </a:pPr>
            <a:r>
              <a:rPr lang="en-IE" sz="2400" dirty="0">
                <a:solidFill>
                  <a:srgbClr val="006666"/>
                </a:solidFill>
                <a:latin typeface="Aptos" panose="020B0004020202020204" pitchFamily="34" charset="0"/>
              </a:rPr>
              <a:t>Check the definition of a ‘qualifying farmer’ under</a:t>
            </a:r>
          </a:p>
          <a:p>
            <a:pPr marL="0" indent="0">
              <a:lnSpc>
                <a:spcPct val="120000"/>
              </a:lnSpc>
              <a:buNone/>
            </a:pPr>
            <a:endParaRPr lang="en-IE" sz="2400" dirty="0">
              <a:solidFill>
                <a:srgbClr val="006666"/>
              </a:solidFill>
              <a:latin typeface="Aptos" panose="020B0004020202020204" pitchFamily="34" charset="0"/>
            </a:endParaRPr>
          </a:p>
          <a:p>
            <a:pPr>
              <a:lnSpc>
                <a:spcPct val="120000"/>
              </a:lnSpc>
            </a:pPr>
            <a:r>
              <a:rPr lang="en-IE" sz="2400" dirty="0">
                <a:solidFill>
                  <a:srgbClr val="006666"/>
                </a:solidFill>
                <a:latin typeface="Aptos" panose="020B0004020202020204" pitchFamily="34" charset="0"/>
              </a:rPr>
              <a:t>Subsection (1) paragraph (a) and </a:t>
            </a:r>
          </a:p>
          <a:p>
            <a:pPr>
              <a:lnSpc>
                <a:spcPct val="120000"/>
              </a:lnSpc>
            </a:pPr>
            <a:r>
              <a:rPr lang="en-IE" sz="2400" dirty="0">
                <a:solidFill>
                  <a:srgbClr val="006666"/>
                </a:solidFill>
                <a:latin typeface="Aptos" panose="020B0004020202020204" pitchFamily="34" charset="0"/>
              </a:rPr>
              <a:t>Subsection (1) paragraph (b) </a:t>
            </a:r>
          </a:p>
          <a:p>
            <a:pPr marL="0" indent="0">
              <a:lnSpc>
                <a:spcPct val="120000"/>
              </a:lnSpc>
              <a:buNone/>
            </a:pPr>
            <a:endParaRPr lang="en-IE" sz="2400" b="1" dirty="0">
              <a:solidFill>
                <a:srgbClr val="006666"/>
              </a:solidFill>
              <a:latin typeface="Aptos" panose="020B0004020202020204" pitchFamily="34" charset="0"/>
            </a:endParaRP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44</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559834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Extract from the Direct Taxes Act</a:t>
            </a:r>
          </a:p>
        </p:txBody>
      </p:sp>
      <p:pic>
        <p:nvPicPr>
          <p:cNvPr id="7" name="Content Placeholder 6">
            <a:extLst>
              <a:ext uri="{FF2B5EF4-FFF2-40B4-BE49-F238E27FC236}">
                <a16:creationId xmlns:a16="http://schemas.microsoft.com/office/drawing/2014/main" id="{FAAD30A9-513F-68C8-2D0A-E5C3AD1AA5E2}"/>
              </a:ext>
            </a:extLst>
          </p:cNvPr>
          <p:cNvPicPr>
            <a:picLocks noGrp="1" noChangeAspect="1"/>
          </p:cNvPicPr>
          <p:nvPr>
            <p:ph sz="half" idx="1"/>
          </p:nvPr>
        </p:nvPicPr>
        <p:blipFill>
          <a:blip r:embed="rId3"/>
          <a:stretch>
            <a:fillRect/>
          </a:stretch>
        </p:blipFill>
        <p:spPr>
          <a:xfrm>
            <a:off x="2473778" y="1118849"/>
            <a:ext cx="6546963" cy="2002981"/>
          </a:xfrm>
        </p:spPr>
      </p:pic>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4"/>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3CE0C9BD-A444-9273-7DC1-DD01CD517F1A}"/>
              </a:ext>
            </a:extLst>
          </p:cNvPr>
          <p:cNvPicPr>
            <a:picLocks noChangeAspect="1"/>
          </p:cNvPicPr>
          <p:nvPr/>
        </p:nvPicPr>
        <p:blipFill>
          <a:blip r:embed="rId5"/>
          <a:stretch>
            <a:fillRect/>
          </a:stretch>
        </p:blipFill>
        <p:spPr>
          <a:xfrm>
            <a:off x="2019440" y="2806933"/>
            <a:ext cx="7764236" cy="3905135"/>
          </a:xfrm>
          <a:prstGeom prst="rect">
            <a:avLst/>
          </a:prstGeom>
        </p:spPr>
      </p:pic>
      <p:sp>
        <p:nvSpPr>
          <p:cNvPr id="3" name="Oval 2">
            <a:extLst>
              <a:ext uri="{FF2B5EF4-FFF2-40B4-BE49-F238E27FC236}">
                <a16:creationId xmlns:a16="http://schemas.microsoft.com/office/drawing/2014/main" id="{C5144BE2-5FAF-66FC-F04E-834B941E9743}"/>
              </a:ext>
            </a:extLst>
          </p:cNvPr>
          <p:cNvSpPr/>
          <p:nvPr/>
        </p:nvSpPr>
        <p:spPr>
          <a:xfrm>
            <a:off x="5994400" y="5537200"/>
            <a:ext cx="596900" cy="36512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Oval 7">
            <a:extLst>
              <a:ext uri="{FF2B5EF4-FFF2-40B4-BE49-F238E27FC236}">
                <a16:creationId xmlns:a16="http://schemas.microsoft.com/office/drawing/2014/main" id="{80C2A145-C44E-FF34-B299-723A010EC07E}"/>
              </a:ext>
            </a:extLst>
          </p:cNvPr>
          <p:cNvSpPr/>
          <p:nvPr/>
        </p:nvSpPr>
        <p:spPr>
          <a:xfrm>
            <a:off x="2959100" y="6346943"/>
            <a:ext cx="749300" cy="36512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1093907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0126717" cy="1457739"/>
          </a:xfrm>
        </p:spPr>
        <p:txBody>
          <a:bodyPr>
            <a:noAutofit/>
          </a:bodyPr>
          <a:lstStyle/>
          <a:p>
            <a:pPr algn="ctr"/>
            <a:r>
              <a:rPr lang="en-IE" sz="3600" b="1" dirty="0">
                <a:solidFill>
                  <a:srgbClr val="006666"/>
                </a:solidFill>
                <a:latin typeface="Aptos" panose="020B0004020202020204" pitchFamily="34" charset="0"/>
                <a:cs typeface="Arial" panose="020B0604020202020204" pitchFamily="34" charset="0"/>
              </a:rPr>
              <a:t>Extract from the Direct Taxes Act</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46</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DA87F90C-C3C5-7EC7-676E-05C5773DD323}"/>
              </a:ext>
            </a:extLst>
          </p:cNvPr>
          <p:cNvPicPr>
            <a:picLocks noChangeAspect="1"/>
          </p:cNvPicPr>
          <p:nvPr/>
        </p:nvPicPr>
        <p:blipFill>
          <a:blip r:embed="rId4"/>
          <a:stretch>
            <a:fillRect/>
          </a:stretch>
        </p:blipFill>
        <p:spPr>
          <a:xfrm>
            <a:off x="1355612" y="4032250"/>
            <a:ext cx="9239250" cy="2266950"/>
          </a:xfrm>
          <a:prstGeom prst="rect">
            <a:avLst/>
          </a:prstGeom>
        </p:spPr>
      </p:pic>
      <p:pic>
        <p:nvPicPr>
          <p:cNvPr id="16" name="Picture 15">
            <a:extLst>
              <a:ext uri="{FF2B5EF4-FFF2-40B4-BE49-F238E27FC236}">
                <a16:creationId xmlns:a16="http://schemas.microsoft.com/office/drawing/2014/main" id="{14230A03-8D56-F197-7211-EC80E9C64066}"/>
              </a:ext>
            </a:extLst>
          </p:cNvPr>
          <p:cNvPicPr>
            <a:picLocks noChangeAspect="1"/>
          </p:cNvPicPr>
          <p:nvPr/>
        </p:nvPicPr>
        <p:blipFill>
          <a:blip r:embed="rId5"/>
          <a:stretch>
            <a:fillRect/>
          </a:stretch>
        </p:blipFill>
        <p:spPr>
          <a:xfrm>
            <a:off x="1355612" y="1457739"/>
            <a:ext cx="8648019" cy="1660149"/>
          </a:xfrm>
          <a:prstGeom prst="rect">
            <a:avLst/>
          </a:prstGeom>
        </p:spPr>
      </p:pic>
      <p:cxnSp>
        <p:nvCxnSpPr>
          <p:cNvPr id="18" name="Straight Connector 17">
            <a:extLst>
              <a:ext uri="{FF2B5EF4-FFF2-40B4-BE49-F238E27FC236}">
                <a16:creationId xmlns:a16="http://schemas.microsoft.com/office/drawing/2014/main" id="{161B0584-288E-9E10-8BD0-C07FDB880441}"/>
              </a:ext>
            </a:extLst>
          </p:cNvPr>
          <p:cNvCxnSpPr/>
          <p:nvPr/>
        </p:nvCxnSpPr>
        <p:spPr>
          <a:xfrm>
            <a:off x="1420586" y="3551464"/>
            <a:ext cx="887457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4741AB17-DA1E-9961-F713-306C779E120C}"/>
              </a:ext>
            </a:extLst>
          </p:cNvPr>
          <p:cNvSpPr/>
          <p:nvPr/>
        </p:nvSpPr>
        <p:spPr>
          <a:xfrm>
            <a:off x="6299200" y="5165725"/>
            <a:ext cx="596900" cy="36512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Oval 6">
            <a:extLst>
              <a:ext uri="{FF2B5EF4-FFF2-40B4-BE49-F238E27FC236}">
                <a16:creationId xmlns:a16="http://schemas.microsoft.com/office/drawing/2014/main" id="{71FE437C-5392-D67D-FB06-6A9ECF719849}"/>
              </a:ext>
            </a:extLst>
          </p:cNvPr>
          <p:cNvSpPr/>
          <p:nvPr/>
        </p:nvSpPr>
        <p:spPr>
          <a:xfrm>
            <a:off x="1597138" y="4100702"/>
            <a:ext cx="596900" cy="36512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41628443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253093" y="832757"/>
            <a:ext cx="11568793" cy="5676446"/>
          </a:xfrm>
        </p:spPr>
        <p:txBody>
          <a:bodyPr>
            <a:normAutofit/>
          </a:bodyPr>
          <a:lstStyle/>
          <a:p>
            <a:pPr marL="0" indent="0" algn="ctr">
              <a:lnSpc>
                <a:spcPct val="120000"/>
              </a:lnSpc>
              <a:buNone/>
            </a:pPr>
            <a:endParaRPr lang="en-IE" sz="2400" dirty="0">
              <a:solidFill>
                <a:srgbClr val="FF0000"/>
              </a:solidFill>
              <a:latin typeface="Aptos" panose="020B0004020202020204" pitchFamily="34" charset="0"/>
            </a:endParaRPr>
          </a:p>
          <a:p>
            <a:pPr marL="0" indent="0" algn="ctr">
              <a:lnSpc>
                <a:spcPct val="120000"/>
              </a:lnSpc>
              <a:buNone/>
            </a:pPr>
            <a:endParaRPr lang="en-IE" sz="2400" dirty="0">
              <a:solidFill>
                <a:srgbClr val="FF0000"/>
              </a:solidFill>
              <a:latin typeface="Aptos" panose="020B0004020202020204" pitchFamily="34" charset="0"/>
            </a:endParaRPr>
          </a:p>
          <a:p>
            <a:pPr marL="0" indent="0" algn="ctr">
              <a:lnSpc>
                <a:spcPct val="120000"/>
              </a:lnSpc>
              <a:buNone/>
            </a:pPr>
            <a:r>
              <a:rPr lang="en-IE" sz="4000" b="1" dirty="0">
                <a:solidFill>
                  <a:srgbClr val="009999"/>
                </a:solidFill>
                <a:latin typeface="Aptos" panose="020B0004020202020204" pitchFamily="34" charset="0"/>
              </a:rPr>
              <a:t>See Workbook 1</a:t>
            </a:r>
          </a:p>
          <a:p>
            <a:pPr marL="0" indent="0" algn="ctr">
              <a:lnSpc>
                <a:spcPct val="120000"/>
              </a:lnSpc>
              <a:buNone/>
            </a:pPr>
            <a:r>
              <a:rPr lang="en-IE" sz="4000" b="1" dirty="0">
                <a:solidFill>
                  <a:srgbClr val="009999"/>
                </a:solidFill>
                <a:latin typeface="Aptos" panose="020B0004020202020204" pitchFamily="34" charset="0"/>
              </a:rPr>
              <a:t>Quiz Questions on Legislation</a:t>
            </a:r>
          </a:p>
          <a:p>
            <a:pPr marL="0" indent="0" algn="ctr">
              <a:lnSpc>
                <a:spcPct val="120000"/>
              </a:lnSpc>
              <a:buNone/>
            </a:pPr>
            <a:r>
              <a:rPr lang="en-IE" sz="4000" b="1" dirty="0">
                <a:solidFill>
                  <a:srgbClr val="009999"/>
                </a:solidFill>
                <a:latin typeface="Aptos" panose="020B0004020202020204" pitchFamily="34" charset="0"/>
              </a:rPr>
              <a:t>Quiz 1</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6" name="Slide Number Placeholder 5">
            <a:extLst>
              <a:ext uri="{FF2B5EF4-FFF2-40B4-BE49-F238E27FC236}">
                <a16:creationId xmlns:a16="http://schemas.microsoft.com/office/drawing/2014/main" id="{EF329CDC-7229-D63A-297F-838B7D13A309}"/>
              </a:ext>
            </a:extLst>
          </p:cNvPr>
          <p:cNvSpPr>
            <a:spLocks noGrp="1"/>
          </p:cNvSpPr>
          <p:nvPr>
            <p:ph type="sldNum" sz="quarter" idx="12"/>
          </p:nvPr>
        </p:nvSpPr>
        <p:spPr>
          <a:xfrm>
            <a:off x="4308022" y="6397171"/>
            <a:ext cx="2743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47</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54295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A566-40E4-40A8-9A78-838C1F081521}"/>
              </a:ext>
            </a:extLst>
          </p:cNvPr>
          <p:cNvSpPr>
            <a:spLocks noGrp="1"/>
          </p:cNvSpPr>
          <p:nvPr>
            <p:ph type="ctrTitle" idx="4294967295"/>
          </p:nvPr>
        </p:nvSpPr>
        <p:spPr>
          <a:xfrm>
            <a:off x="1422919" y="883776"/>
            <a:ext cx="9486381" cy="5090447"/>
          </a:xfrm>
        </p:spPr>
        <p:txBody>
          <a:bodyPr>
            <a:normAutofit/>
          </a:bodyPr>
          <a:lstStyle/>
          <a:p>
            <a:pPr algn="ctr">
              <a:lnSpc>
                <a:spcPct val="150000"/>
              </a:lnSpc>
            </a:pPr>
            <a:r>
              <a:rPr kumimoji="0" lang="en-US" altLang="en-US" sz="4400" b="1" i="0" u="none" strike="noStrike" kern="0" cap="none" spc="0" normalizeH="0" baseline="0" noProof="0" dirty="0">
                <a:ln>
                  <a:noFill/>
                </a:ln>
                <a:solidFill>
                  <a:srgbClr val="009999"/>
                </a:solidFill>
                <a:effectLst/>
                <a:uLnTx/>
                <a:uFillTx/>
                <a:latin typeface="Arial"/>
                <a:ea typeface="+mj-ea"/>
                <a:cs typeface="+mj-cs"/>
              </a:rPr>
              <a:t>Recap Unit 1.1</a:t>
            </a:r>
            <a:br>
              <a:rPr kumimoji="0" lang="en-US" altLang="en-US" sz="4400" b="1" i="0" u="none" strike="noStrike" kern="0" cap="none" spc="0" normalizeH="0" baseline="0" noProof="0" dirty="0">
                <a:ln>
                  <a:noFill/>
                </a:ln>
                <a:solidFill>
                  <a:srgbClr val="009999"/>
                </a:solidFill>
                <a:effectLst/>
                <a:uLnTx/>
                <a:uFillTx/>
                <a:latin typeface="Arial"/>
                <a:ea typeface="+mj-ea"/>
                <a:cs typeface="+mj-cs"/>
              </a:rPr>
            </a:br>
            <a:r>
              <a:rPr kumimoji="0" lang="en-US" altLang="en-US" sz="4400" b="1" i="0" u="none" strike="noStrike" kern="0" cap="none" spc="0" normalizeH="0" baseline="0" noProof="0" dirty="0">
                <a:ln>
                  <a:noFill/>
                </a:ln>
                <a:solidFill>
                  <a:srgbClr val="009999"/>
                </a:solidFill>
                <a:effectLst/>
                <a:uLnTx/>
                <a:uFillTx/>
                <a:latin typeface="Arial"/>
                <a:ea typeface="+mj-ea"/>
                <a:cs typeface="+mj-cs"/>
              </a:rPr>
              <a:t>Residence, Ordinary Residence and Domicile</a:t>
            </a:r>
            <a:br>
              <a:rPr kumimoji="0" lang="en-US" altLang="en-US" sz="4400" b="1" i="0" u="none" strike="noStrike" kern="0" cap="none" spc="0" normalizeH="0" baseline="0" noProof="0" dirty="0">
                <a:ln>
                  <a:noFill/>
                </a:ln>
                <a:solidFill>
                  <a:srgbClr val="33CCCC">
                    <a:lumMod val="75000"/>
                  </a:srgbClr>
                </a:solidFill>
                <a:effectLst/>
                <a:uLnTx/>
                <a:uFillTx/>
                <a:latin typeface="Arial"/>
                <a:ea typeface="+mj-ea"/>
                <a:cs typeface="+mj-cs"/>
              </a:rPr>
            </a:br>
            <a:endParaRPr lang="en-IE" sz="2000" b="1" dirty="0">
              <a:solidFill>
                <a:srgbClr val="FF0000"/>
              </a:solidFill>
              <a:highlight>
                <a:srgbClr val="FFFF00"/>
              </a:highlight>
            </a:endParaRPr>
          </a:p>
        </p:txBody>
      </p:sp>
      <p:sp>
        <p:nvSpPr>
          <p:cNvPr id="11" name="Shape">
            <a:extLst>
              <a:ext uri="{FF2B5EF4-FFF2-40B4-BE49-F238E27FC236}">
                <a16:creationId xmlns:a16="http://schemas.microsoft.com/office/drawing/2014/main" id="{64DA8E4F-486D-4062-82E4-375ECC2F69C1}"/>
              </a:ext>
            </a:extLst>
          </p:cNvPr>
          <p:cNvSpPr/>
          <p:nvPr/>
        </p:nvSpPr>
        <p:spPr>
          <a:xfrm>
            <a:off x="15348" y="6076204"/>
            <a:ext cx="3450590" cy="78422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6687" y="21600"/>
                </a:lnTo>
                <a:lnTo>
                  <a:pt x="21600" y="0"/>
                </a:lnTo>
                <a:lnTo>
                  <a:pt x="4913" y="0"/>
                </a:lnTo>
                <a:close/>
              </a:path>
            </a:pathLst>
          </a:custGeom>
          <a:solidFill>
            <a:srgbClr val="006666"/>
          </a:solidFill>
          <a:ln w="12700">
            <a:miter lim="400000"/>
          </a:ln>
        </p:spPr>
        <p:txBody>
          <a:bodyPr lIns="38100" tIns="38100" rIns="38100" bIns="38100" anchor="ctr"/>
          <a:lstStyle/>
          <a:p>
            <a:endParaRPr lang="en-IE" dirty="0"/>
          </a:p>
        </p:txBody>
      </p:sp>
      <p:sp>
        <p:nvSpPr>
          <p:cNvPr id="12" name="Shape">
            <a:extLst>
              <a:ext uri="{FF2B5EF4-FFF2-40B4-BE49-F238E27FC236}">
                <a16:creationId xmlns:a16="http://schemas.microsoft.com/office/drawing/2014/main" id="{74E26CAA-C8E3-4F5E-9CB9-74135EFED657}"/>
              </a:ext>
            </a:extLst>
          </p:cNvPr>
          <p:cNvSpPr/>
          <p:nvPr/>
        </p:nvSpPr>
        <p:spPr>
          <a:xfrm>
            <a:off x="1717148" y="6508004"/>
            <a:ext cx="1871980" cy="3486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7570" y="21600"/>
                </a:lnTo>
                <a:lnTo>
                  <a:pt x="21600" y="0"/>
                </a:lnTo>
                <a:lnTo>
                  <a:pt x="4030" y="0"/>
                </a:lnTo>
                <a:close/>
              </a:path>
            </a:pathLst>
          </a:custGeom>
          <a:solidFill>
            <a:schemeClr val="tx2">
              <a:lumMod val="60000"/>
              <a:lumOff val="40000"/>
              <a:alpha val="90000"/>
            </a:schemeClr>
          </a:solidFill>
          <a:ln w="12700">
            <a:miter lim="400000"/>
          </a:ln>
        </p:spPr>
        <p:txBody>
          <a:bodyPr lIns="38100" tIns="38100" rIns="38100" bIns="38100" anchor="ctr"/>
          <a:lstStyle/>
          <a:p>
            <a:endParaRPr lang="en-IE" dirty="0"/>
          </a:p>
        </p:txBody>
      </p:sp>
      <p:sp>
        <p:nvSpPr>
          <p:cNvPr id="13" name="Shape">
            <a:extLst>
              <a:ext uri="{FF2B5EF4-FFF2-40B4-BE49-F238E27FC236}">
                <a16:creationId xmlns:a16="http://schemas.microsoft.com/office/drawing/2014/main" id="{94ED9556-F893-4791-8585-8134050D2C7B}"/>
              </a:ext>
            </a:extLst>
          </p:cNvPr>
          <p:cNvSpPr/>
          <p:nvPr/>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4" name="Triangle">
            <a:extLst>
              <a:ext uri="{FF2B5EF4-FFF2-40B4-BE49-F238E27FC236}">
                <a16:creationId xmlns:a16="http://schemas.microsoft.com/office/drawing/2014/main" id="{94D2CDCE-DE5A-459C-926E-3C632ECC7DD6}"/>
              </a:ext>
            </a:extLst>
          </p:cNvPr>
          <p:cNvSpPr/>
          <p:nvPr/>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pic>
        <p:nvPicPr>
          <p:cNvPr id="15" name="Picture 14" descr="Logo, company name&#10;&#10;Description automatically generated">
            <a:extLst>
              <a:ext uri="{FF2B5EF4-FFF2-40B4-BE49-F238E27FC236}">
                <a16:creationId xmlns:a16="http://schemas.microsoft.com/office/drawing/2014/main" id="{EE5DD90D-A358-460E-8209-C13E67514C7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9376464" y="55125"/>
            <a:ext cx="2763520" cy="1447800"/>
          </a:xfrm>
          <a:prstGeom prst="rect">
            <a:avLst/>
          </a:prstGeom>
        </p:spPr>
      </p:pic>
      <p:pic>
        <p:nvPicPr>
          <p:cNvPr id="3" name="Picture 2">
            <a:extLst>
              <a:ext uri="{FF2B5EF4-FFF2-40B4-BE49-F238E27FC236}">
                <a16:creationId xmlns:a16="http://schemas.microsoft.com/office/drawing/2014/main" id="{7432E413-2C77-D76F-1584-164B64A54C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5273" y="228551"/>
            <a:ext cx="2174710" cy="1100947"/>
          </a:xfrm>
          <a:prstGeom prst="rect">
            <a:avLst/>
          </a:prstGeom>
          <a:noFill/>
          <a:ln>
            <a:noFill/>
          </a:ln>
        </p:spPr>
      </p:pic>
    </p:spTree>
    <p:extLst>
      <p:ext uri="{BB962C8B-B14F-4D97-AF65-F5344CB8AC3E}">
        <p14:creationId xmlns:p14="http://schemas.microsoft.com/office/powerpoint/2010/main" val="1728833488"/>
      </p:ext>
    </p:extLst>
  </p:cSld>
  <p:clrMapOvr>
    <a:masterClrMapping/>
  </p:clrMapOvr>
  <mc:AlternateContent xmlns:mc="http://schemas.openxmlformats.org/markup-compatibility/2006" xmlns:p14="http://schemas.microsoft.com/office/powerpoint/2010/main">
    <mc:Choice Requires="p14">
      <p:transition spd="slow" p14:dur="2000" advTm="21140"/>
    </mc:Choice>
    <mc:Fallback xmlns="">
      <p:transition spd="slow" advTm="2114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3" name="Picture 2">
            <a:extLst>
              <a:ext uri="{FF2B5EF4-FFF2-40B4-BE49-F238E27FC236}">
                <a16:creationId xmlns:a16="http://schemas.microsoft.com/office/drawing/2014/main" id="{8EA40E75-E1AA-E638-DE92-1DA2A5903A03}"/>
              </a:ext>
            </a:extLst>
          </p:cNvPr>
          <p:cNvPicPr>
            <a:picLocks noChangeAspect="1"/>
          </p:cNvPicPr>
          <p:nvPr/>
        </p:nvPicPr>
        <p:blipFill>
          <a:blip r:embed="rId3"/>
          <a:stretch>
            <a:fillRect/>
          </a:stretch>
        </p:blipFill>
        <p:spPr>
          <a:xfrm>
            <a:off x="-99820" y="0"/>
            <a:ext cx="12291820" cy="6858000"/>
          </a:xfrm>
          <a:prstGeom prst="rect">
            <a:avLst/>
          </a:prstGeom>
        </p:spPr>
      </p:pic>
    </p:spTree>
    <p:extLst>
      <p:ext uri="{BB962C8B-B14F-4D97-AF65-F5344CB8AC3E}">
        <p14:creationId xmlns:p14="http://schemas.microsoft.com/office/powerpoint/2010/main" val="20378357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5" name="Content Placeholder 4" descr="A diagram of a government&#10;&#10;AI-generated content may be incorrect.">
            <a:extLst>
              <a:ext uri="{FF2B5EF4-FFF2-40B4-BE49-F238E27FC236}">
                <a16:creationId xmlns:a16="http://schemas.microsoft.com/office/drawing/2014/main" id="{0CAF5437-5B35-65EF-4A39-DC614D4CBFE3}"/>
              </a:ext>
            </a:extLst>
          </p:cNvPr>
          <p:cNvPicPr>
            <a:picLocks noGrp="1" noChangeAspect="1"/>
          </p:cNvPicPr>
          <p:nvPr>
            <p:ph idx="1"/>
          </p:nvPr>
        </p:nvPicPr>
        <p:blipFill>
          <a:blip r:embed="rId3"/>
          <a:srcRect t="8989" b="11521"/>
          <a:stretch>
            <a:fillRect/>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00AAC8EE-7392-740E-102A-2A5A6F9C704D}"/>
              </a:ext>
            </a:extLst>
          </p:cNvPr>
          <p:cNvSpPr txBox="1"/>
          <p:nvPr/>
        </p:nvSpPr>
        <p:spPr>
          <a:xfrm>
            <a:off x="3754582" y="5953143"/>
            <a:ext cx="4271818" cy="646331"/>
          </a:xfrm>
          <a:prstGeom prst="rect">
            <a:avLst/>
          </a:prstGeom>
          <a:noFill/>
        </p:spPr>
        <p:txBody>
          <a:bodyPr wrap="square" rtlCol="0">
            <a:spAutoFit/>
          </a:bodyPr>
          <a:lstStyle/>
          <a:p>
            <a:r>
              <a:rPr lang="en-IE" dirty="0">
                <a:solidFill>
                  <a:srgbClr val="006666"/>
                </a:solidFill>
              </a:rPr>
              <a:t>Must be resident for more than 30 days in </a:t>
            </a:r>
          </a:p>
          <a:p>
            <a:r>
              <a:rPr lang="en-IE" b="1" dirty="0">
                <a:solidFill>
                  <a:srgbClr val="006666"/>
                </a:solidFill>
              </a:rPr>
              <a:t>each year </a:t>
            </a:r>
            <a:r>
              <a:rPr lang="en-IE" dirty="0">
                <a:solidFill>
                  <a:srgbClr val="006666"/>
                </a:solidFill>
              </a:rPr>
              <a:t>for the purposes of this test</a:t>
            </a:r>
          </a:p>
        </p:txBody>
      </p:sp>
      <p:sp>
        <p:nvSpPr>
          <p:cNvPr id="3" name="TextBox 2">
            <a:extLst>
              <a:ext uri="{FF2B5EF4-FFF2-40B4-BE49-F238E27FC236}">
                <a16:creationId xmlns:a16="http://schemas.microsoft.com/office/drawing/2014/main" id="{F009C78B-B567-90B9-A115-80D54320E4CD}"/>
              </a:ext>
            </a:extLst>
          </p:cNvPr>
          <p:cNvSpPr txBox="1"/>
          <p:nvPr/>
        </p:nvSpPr>
        <p:spPr>
          <a:xfrm>
            <a:off x="4114800" y="346364"/>
            <a:ext cx="3911600" cy="830997"/>
          </a:xfrm>
          <a:prstGeom prst="rect">
            <a:avLst/>
          </a:prstGeom>
          <a:noFill/>
        </p:spPr>
        <p:txBody>
          <a:bodyPr wrap="square" rtlCol="0">
            <a:spAutoFit/>
          </a:bodyPr>
          <a:lstStyle/>
          <a:p>
            <a:r>
              <a:rPr lang="en-IE" sz="2400" i="1" dirty="0">
                <a:solidFill>
                  <a:schemeClr val="accent2"/>
                </a:solidFill>
              </a:rPr>
              <a:t>RTB note: Ireland = Republic of Ireland, the State</a:t>
            </a:r>
          </a:p>
        </p:txBody>
      </p:sp>
    </p:spTree>
    <p:extLst>
      <p:ext uri="{BB962C8B-B14F-4D97-AF65-F5344CB8AC3E}">
        <p14:creationId xmlns:p14="http://schemas.microsoft.com/office/powerpoint/2010/main" val="27987711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6" name="Picture 5">
            <a:extLst>
              <a:ext uri="{FF2B5EF4-FFF2-40B4-BE49-F238E27FC236}">
                <a16:creationId xmlns:a16="http://schemas.microsoft.com/office/drawing/2014/main" id="{802C5BDD-A3B7-4AC9-279A-D054EA84CD20}"/>
              </a:ext>
            </a:extLst>
          </p:cNvPr>
          <p:cNvPicPr>
            <a:picLocks noChangeAspect="1"/>
          </p:cNvPicPr>
          <p:nvPr/>
        </p:nvPicPr>
        <p:blipFill>
          <a:blip r:embed="rId2"/>
          <a:stretch>
            <a:fillRect/>
          </a:stretch>
        </p:blipFill>
        <p:spPr>
          <a:xfrm>
            <a:off x="298862" y="707571"/>
            <a:ext cx="11013294" cy="5900416"/>
          </a:xfrm>
          <a:prstGeom prst="rect">
            <a:avLst/>
          </a:prstGeom>
        </p:spPr>
      </p:pic>
      <p:sp>
        <p:nvSpPr>
          <p:cNvPr id="2" name="TextBox 1">
            <a:extLst>
              <a:ext uri="{FF2B5EF4-FFF2-40B4-BE49-F238E27FC236}">
                <a16:creationId xmlns:a16="http://schemas.microsoft.com/office/drawing/2014/main" id="{3D0DAFC4-F3A8-0FC1-57B1-8F78EDDEEC82}"/>
              </a:ext>
            </a:extLst>
          </p:cNvPr>
          <p:cNvSpPr txBox="1"/>
          <p:nvPr/>
        </p:nvSpPr>
        <p:spPr>
          <a:xfrm>
            <a:off x="5063256" y="80872"/>
            <a:ext cx="6851653" cy="1569660"/>
          </a:xfrm>
          <a:prstGeom prst="rect">
            <a:avLst/>
          </a:prstGeom>
          <a:noFill/>
        </p:spPr>
        <p:txBody>
          <a:bodyPr wrap="square" rtlCol="0">
            <a:spAutoFit/>
          </a:bodyPr>
          <a:lstStyle/>
          <a:p>
            <a:r>
              <a:rPr lang="en-IE" sz="2400" dirty="0">
                <a:solidFill>
                  <a:schemeClr val="accent2"/>
                </a:solidFill>
              </a:rPr>
              <a:t>RTB Note: ‘Airside’ is the </a:t>
            </a:r>
            <a:r>
              <a:rPr lang="en-IE" sz="2400" b="1" dirty="0">
                <a:solidFill>
                  <a:schemeClr val="accent2"/>
                </a:solidFill>
              </a:rPr>
              <a:t>restricted</a:t>
            </a:r>
            <a:r>
              <a:rPr lang="en-IE" sz="2400" dirty="0">
                <a:solidFill>
                  <a:schemeClr val="accent2"/>
                </a:solidFill>
              </a:rPr>
              <a:t> part of an airport including areas in the terminals past security checkpoints (opposite is ‘landside’, e.g. parking &amp; check in)</a:t>
            </a:r>
          </a:p>
        </p:txBody>
      </p:sp>
    </p:spTree>
    <p:extLst>
      <p:ext uri="{BB962C8B-B14F-4D97-AF65-F5344CB8AC3E}">
        <p14:creationId xmlns:p14="http://schemas.microsoft.com/office/powerpoint/2010/main" val="10891052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Content Placeholder 2">
            <a:extLst>
              <a:ext uri="{FF2B5EF4-FFF2-40B4-BE49-F238E27FC236}">
                <a16:creationId xmlns:a16="http://schemas.microsoft.com/office/drawing/2014/main" id="{638641FC-1BED-93C0-72FD-883D38B43E7E}"/>
              </a:ext>
            </a:extLst>
          </p:cNvPr>
          <p:cNvSpPr>
            <a:spLocks noGrp="1"/>
          </p:cNvSpPr>
          <p:nvPr>
            <p:ph idx="1"/>
          </p:nvPr>
        </p:nvSpPr>
        <p:spPr/>
        <p:txBody>
          <a:bodyPr/>
          <a:lstStyle/>
          <a:p>
            <a:endParaRPr lang="en-IE" dirty="0"/>
          </a:p>
        </p:txBody>
      </p:sp>
      <p:pic>
        <p:nvPicPr>
          <p:cNvPr id="6" name="Picture 5">
            <a:extLst>
              <a:ext uri="{FF2B5EF4-FFF2-40B4-BE49-F238E27FC236}">
                <a16:creationId xmlns:a16="http://schemas.microsoft.com/office/drawing/2014/main" id="{9B8C9897-0010-74F2-3372-767BAE2B98C2}"/>
              </a:ext>
            </a:extLst>
          </p:cNvPr>
          <p:cNvPicPr>
            <a:picLocks noChangeAspect="1"/>
          </p:cNvPicPr>
          <p:nvPr/>
        </p:nvPicPr>
        <p:blipFill>
          <a:blip r:embed="rId2"/>
          <a:stretch>
            <a:fillRect/>
          </a:stretch>
        </p:blipFill>
        <p:spPr>
          <a:xfrm>
            <a:off x="199429" y="68008"/>
            <a:ext cx="11793142" cy="6789992"/>
          </a:xfrm>
          <a:prstGeom prst="rect">
            <a:avLst/>
          </a:prstGeom>
        </p:spPr>
      </p:pic>
    </p:spTree>
    <p:extLst>
      <p:ext uri="{BB962C8B-B14F-4D97-AF65-F5344CB8AC3E}">
        <p14:creationId xmlns:p14="http://schemas.microsoft.com/office/powerpoint/2010/main" val="30638980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8" name="Picture 7">
            <a:extLst>
              <a:ext uri="{FF2B5EF4-FFF2-40B4-BE49-F238E27FC236}">
                <a16:creationId xmlns:a16="http://schemas.microsoft.com/office/drawing/2014/main" id="{4522C30C-1306-3608-FAC1-3479D051D8C7}"/>
              </a:ext>
            </a:extLst>
          </p:cNvPr>
          <p:cNvPicPr>
            <a:picLocks noChangeAspect="1"/>
          </p:cNvPicPr>
          <p:nvPr/>
        </p:nvPicPr>
        <p:blipFill>
          <a:blip r:embed="rId3"/>
          <a:srcRect t="10585" b="9443"/>
          <a:stretch/>
        </p:blipFill>
        <p:spPr>
          <a:xfrm>
            <a:off x="-15728" y="1"/>
            <a:ext cx="12124840" cy="6858000"/>
          </a:xfrm>
          <a:prstGeom prst="rect">
            <a:avLst/>
          </a:prstGeom>
        </p:spPr>
      </p:pic>
      <p:sp>
        <p:nvSpPr>
          <p:cNvPr id="2" name="TextBox 1">
            <a:extLst>
              <a:ext uri="{FF2B5EF4-FFF2-40B4-BE49-F238E27FC236}">
                <a16:creationId xmlns:a16="http://schemas.microsoft.com/office/drawing/2014/main" id="{EDE2E114-4708-4CE2-64C9-522196D5761C}"/>
              </a:ext>
            </a:extLst>
          </p:cNvPr>
          <p:cNvSpPr txBox="1"/>
          <p:nvPr/>
        </p:nvSpPr>
        <p:spPr>
          <a:xfrm>
            <a:off x="2209800" y="5743193"/>
            <a:ext cx="2068286" cy="923330"/>
          </a:xfrm>
          <a:prstGeom prst="rect">
            <a:avLst/>
          </a:prstGeom>
          <a:noFill/>
        </p:spPr>
        <p:txBody>
          <a:bodyPr wrap="square" rtlCol="0">
            <a:spAutoFit/>
          </a:bodyPr>
          <a:lstStyle/>
          <a:p>
            <a:r>
              <a:rPr lang="en-IE" dirty="0">
                <a:solidFill>
                  <a:srgbClr val="009999"/>
                </a:solidFill>
              </a:rPr>
              <a:t>RTB note: S71 (3) provides for *Remittances</a:t>
            </a:r>
          </a:p>
        </p:txBody>
      </p:sp>
    </p:spTree>
    <p:extLst>
      <p:ext uri="{BB962C8B-B14F-4D97-AF65-F5344CB8AC3E}">
        <p14:creationId xmlns:p14="http://schemas.microsoft.com/office/powerpoint/2010/main" val="23443701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diagram&#10;&#10;AI-generated content may be incorrect.">
            <a:extLst>
              <a:ext uri="{FF2B5EF4-FFF2-40B4-BE49-F238E27FC236}">
                <a16:creationId xmlns:a16="http://schemas.microsoft.com/office/drawing/2014/main" id="{1AAE59EE-29C0-AE25-FA63-C47F955018CC}"/>
              </a:ext>
            </a:extLst>
          </p:cNvPr>
          <p:cNvPicPr>
            <a:picLocks noGrp="1" noChangeAspect="1"/>
          </p:cNvPicPr>
          <p:nvPr>
            <p:ph idx="1"/>
          </p:nvPr>
        </p:nvPicPr>
        <p:blipFill>
          <a:blip r:embed="rId3"/>
          <a:srcRect t="10330" r="-2" b="10206"/>
          <a:stretch>
            <a:fillRect/>
          </a:stretch>
        </p:blipFill>
        <p:spPr>
          <a:xfrm>
            <a:off x="-6588" y="10"/>
            <a:ext cx="12198588" cy="6857990"/>
          </a:xfrm>
          <a:prstGeom prst="rect">
            <a:avLst/>
          </a:prstGeom>
        </p:spPr>
      </p:pic>
      <p:sp>
        <p:nvSpPr>
          <p:cNvPr id="2" name="TextBox 1">
            <a:extLst>
              <a:ext uri="{FF2B5EF4-FFF2-40B4-BE49-F238E27FC236}">
                <a16:creationId xmlns:a16="http://schemas.microsoft.com/office/drawing/2014/main" id="{319214AC-F244-175D-D629-D5C16F1F07C0}"/>
              </a:ext>
            </a:extLst>
          </p:cNvPr>
          <p:cNvSpPr txBox="1"/>
          <p:nvPr/>
        </p:nvSpPr>
        <p:spPr>
          <a:xfrm>
            <a:off x="5927271" y="163286"/>
            <a:ext cx="5763986" cy="830997"/>
          </a:xfrm>
          <a:prstGeom prst="rect">
            <a:avLst/>
          </a:prstGeom>
          <a:noFill/>
        </p:spPr>
        <p:txBody>
          <a:bodyPr wrap="square" rtlCol="0">
            <a:spAutoFit/>
          </a:bodyPr>
          <a:lstStyle/>
          <a:p>
            <a:r>
              <a:rPr lang="en-IE" sz="2400" dirty="0">
                <a:solidFill>
                  <a:schemeClr val="accent2"/>
                </a:solidFill>
              </a:rPr>
              <a:t>RTB Note: S72 provides for ‘loans’ repaid out of foreign income</a:t>
            </a:r>
          </a:p>
        </p:txBody>
      </p:sp>
    </p:spTree>
    <p:extLst>
      <p:ext uri="{BB962C8B-B14F-4D97-AF65-F5344CB8AC3E}">
        <p14:creationId xmlns:p14="http://schemas.microsoft.com/office/powerpoint/2010/main" val="33150634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screenshot of a website&#10;&#10;AI-generated content may be incorrect.">
            <a:extLst>
              <a:ext uri="{FF2B5EF4-FFF2-40B4-BE49-F238E27FC236}">
                <a16:creationId xmlns:a16="http://schemas.microsoft.com/office/drawing/2014/main" id="{02A185E8-8C27-4922-C621-7F1138672CC9}"/>
              </a:ext>
            </a:extLst>
          </p:cNvPr>
          <p:cNvPicPr>
            <a:picLocks noGrp="1" noChangeAspect="1"/>
          </p:cNvPicPr>
          <p:nvPr>
            <p:ph idx="1"/>
          </p:nvPr>
        </p:nvPicPr>
        <p:blipFill>
          <a:blip r:embed="rId2"/>
          <a:srcRect t="761"/>
          <a:stretch>
            <a:fillRect/>
          </a:stretch>
        </p:blipFill>
        <p:spPr>
          <a:xfrm>
            <a:off x="20" y="10"/>
            <a:ext cx="12191980" cy="6866290"/>
          </a:xfrm>
          <a:prstGeom prst="rect">
            <a:avLst/>
          </a:prstGeom>
        </p:spPr>
      </p:pic>
    </p:spTree>
    <p:extLst>
      <p:ext uri="{BB962C8B-B14F-4D97-AF65-F5344CB8AC3E}">
        <p14:creationId xmlns:p14="http://schemas.microsoft.com/office/powerpoint/2010/main" val="13499212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screenshot of a computer screen&#10;&#10;AI-generated content may be incorrect.">
            <a:extLst>
              <a:ext uri="{FF2B5EF4-FFF2-40B4-BE49-F238E27FC236}">
                <a16:creationId xmlns:a16="http://schemas.microsoft.com/office/drawing/2014/main" id="{07D191B9-7E3B-B156-ABE5-1304DF744794}"/>
              </a:ext>
            </a:extLst>
          </p:cNvPr>
          <p:cNvPicPr>
            <a:picLocks noGrp="1" noChangeAspect="1"/>
          </p:cNvPicPr>
          <p:nvPr>
            <p:ph idx="1"/>
          </p:nvPr>
        </p:nvPicPr>
        <p:blipFill>
          <a:blip r:embed="rId2"/>
          <a:srcRect t="761"/>
          <a:stretch>
            <a:fillRect/>
          </a:stretch>
        </p:blipFill>
        <p:spPr>
          <a:xfrm>
            <a:off x="20" y="10"/>
            <a:ext cx="12191980" cy="6866290"/>
          </a:xfrm>
          <a:prstGeom prst="rect">
            <a:avLst/>
          </a:prstGeom>
        </p:spPr>
      </p:pic>
    </p:spTree>
    <p:extLst>
      <p:ext uri="{BB962C8B-B14F-4D97-AF65-F5344CB8AC3E}">
        <p14:creationId xmlns:p14="http://schemas.microsoft.com/office/powerpoint/2010/main" val="32105824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5" name="Content Placeholder 4" descr="A screenshot of a diagram&#10;&#10;AI-generated content may be incorrect.">
            <a:extLst>
              <a:ext uri="{FF2B5EF4-FFF2-40B4-BE49-F238E27FC236}">
                <a16:creationId xmlns:a16="http://schemas.microsoft.com/office/drawing/2014/main" id="{EA9790C4-9095-F78B-D13C-B42BC3AAC5CE}"/>
              </a:ext>
            </a:extLst>
          </p:cNvPr>
          <p:cNvPicPr>
            <a:picLocks noGrp="1" noChangeAspect="1"/>
          </p:cNvPicPr>
          <p:nvPr>
            <p:ph idx="1"/>
          </p:nvPr>
        </p:nvPicPr>
        <p:blipFill>
          <a:blip r:embed="rId2"/>
          <a:srcRect t="1334"/>
          <a:stretch>
            <a:fillRect/>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12CB8AD2-712B-0F04-4A5B-3BF550D2A5FF}"/>
              </a:ext>
            </a:extLst>
          </p:cNvPr>
          <p:cNvSpPr txBox="1"/>
          <p:nvPr/>
        </p:nvSpPr>
        <p:spPr>
          <a:xfrm>
            <a:off x="1384300" y="5727700"/>
            <a:ext cx="8445500" cy="646331"/>
          </a:xfrm>
          <a:prstGeom prst="rect">
            <a:avLst/>
          </a:prstGeom>
          <a:noFill/>
        </p:spPr>
        <p:txBody>
          <a:bodyPr wrap="square" rtlCol="0">
            <a:spAutoFit/>
          </a:bodyPr>
          <a:lstStyle/>
          <a:p>
            <a:r>
              <a:rPr lang="en-IE" dirty="0">
                <a:solidFill>
                  <a:schemeClr val="accent2"/>
                </a:solidFill>
              </a:rPr>
              <a:t>RTB note: In the circumstances stated above, i.e. ordinarily resident but not resident, these sources of income are not taxable in Ireland (the State)</a:t>
            </a:r>
          </a:p>
        </p:txBody>
      </p:sp>
    </p:spTree>
    <p:extLst>
      <p:ext uri="{BB962C8B-B14F-4D97-AF65-F5344CB8AC3E}">
        <p14:creationId xmlns:p14="http://schemas.microsoft.com/office/powerpoint/2010/main" val="35118533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 screen&#10;&#10;AI-generated content may be incorrect.">
            <a:extLst>
              <a:ext uri="{FF2B5EF4-FFF2-40B4-BE49-F238E27FC236}">
                <a16:creationId xmlns:a16="http://schemas.microsoft.com/office/drawing/2014/main" id="{584C73D1-EDB9-E1EE-C179-12243680AE2E}"/>
              </a:ext>
            </a:extLst>
          </p:cNvPr>
          <p:cNvPicPr>
            <a:picLocks noGrp="1" noChangeAspect="1"/>
          </p:cNvPicPr>
          <p:nvPr>
            <p:ph idx="1"/>
          </p:nvPr>
        </p:nvPicPr>
        <p:blipFill>
          <a:blip r:embed="rId2"/>
          <a:srcRect t="2650"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35667682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5" name="Content Placeholder 4" descr="A screenshot of a computer screen&#10;&#10;AI-generated content may be incorrect.">
            <a:extLst>
              <a:ext uri="{FF2B5EF4-FFF2-40B4-BE49-F238E27FC236}">
                <a16:creationId xmlns:a16="http://schemas.microsoft.com/office/drawing/2014/main" id="{C6A71150-507D-EB60-A18B-3EDD8AC7B33D}"/>
              </a:ext>
            </a:extLst>
          </p:cNvPr>
          <p:cNvPicPr>
            <a:picLocks noGrp="1" noChangeAspect="1"/>
          </p:cNvPicPr>
          <p:nvPr>
            <p:ph idx="1"/>
          </p:nvPr>
        </p:nvPicPr>
        <p:blipFill>
          <a:blip r:embed="rId2"/>
          <a:srcRect t="899"/>
          <a:stretch>
            <a:fillRect/>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58182723-B5F9-0BB3-E0EE-35443FFA971F}"/>
              </a:ext>
            </a:extLst>
          </p:cNvPr>
          <p:cNvSpPr txBox="1"/>
          <p:nvPr/>
        </p:nvSpPr>
        <p:spPr>
          <a:xfrm>
            <a:off x="4531360" y="274320"/>
            <a:ext cx="3535680" cy="646331"/>
          </a:xfrm>
          <a:prstGeom prst="rect">
            <a:avLst/>
          </a:prstGeom>
          <a:noFill/>
        </p:spPr>
        <p:txBody>
          <a:bodyPr wrap="square" rtlCol="0">
            <a:spAutoFit/>
          </a:bodyPr>
          <a:lstStyle/>
          <a:p>
            <a:r>
              <a:rPr lang="en-IE" b="1" dirty="0">
                <a:solidFill>
                  <a:srgbClr val="009999"/>
                </a:solidFill>
              </a:rPr>
              <a:t>RTB Note: WWI = World-wide Income</a:t>
            </a:r>
          </a:p>
        </p:txBody>
      </p:sp>
      <p:sp>
        <p:nvSpPr>
          <p:cNvPr id="3" name="TextBox 2">
            <a:extLst>
              <a:ext uri="{FF2B5EF4-FFF2-40B4-BE49-F238E27FC236}">
                <a16:creationId xmlns:a16="http://schemas.microsoft.com/office/drawing/2014/main" id="{4DC7A6CE-B284-E4A1-ACAE-E4859676A698}"/>
              </a:ext>
            </a:extLst>
          </p:cNvPr>
          <p:cNvSpPr txBox="1"/>
          <p:nvPr/>
        </p:nvSpPr>
        <p:spPr>
          <a:xfrm>
            <a:off x="8747760" y="4490720"/>
            <a:ext cx="3302000" cy="1200329"/>
          </a:xfrm>
          <a:prstGeom prst="rect">
            <a:avLst/>
          </a:prstGeom>
          <a:noFill/>
        </p:spPr>
        <p:txBody>
          <a:bodyPr wrap="square" rtlCol="0">
            <a:spAutoFit/>
          </a:bodyPr>
          <a:lstStyle/>
          <a:p>
            <a:r>
              <a:rPr lang="en-IE" dirty="0">
                <a:solidFill>
                  <a:schemeClr val="accent2"/>
                </a:solidFill>
              </a:rPr>
              <a:t>RTB Note: S821 wording as follows: Does not exceed €3,810 as opposed to saying ‘is less than’</a:t>
            </a:r>
          </a:p>
        </p:txBody>
      </p:sp>
    </p:spTree>
    <p:extLst>
      <p:ext uri="{BB962C8B-B14F-4D97-AF65-F5344CB8AC3E}">
        <p14:creationId xmlns:p14="http://schemas.microsoft.com/office/powerpoint/2010/main" val="29316503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4412B24-E225-EB4A-B484-CF69A1FF0205}"/>
              </a:ext>
            </a:extLst>
          </p:cNvPr>
          <p:cNvGraphicFramePr>
            <a:graphicFrameLocks noGrp="1"/>
          </p:cNvGraphicFramePr>
          <p:nvPr>
            <p:extLst>
              <p:ext uri="{D42A27DB-BD31-4B8C-83A1-F6EECF244321}">
                <p14:modId xmlns:p14="http://schemas.microsoft.com/office/powerpoint/2010/main" val="2762398452"/>
              </p:ext>
            </p:extLst>
          </p:nvPr>
        </p:nvGraphicFramePr>
        <p:xfrm>
          <a:off x="0" y="1"/>
          <a:ext cx="12191999" cy="6837322"/>
        </p:xfrm>
        <a:graphic>
          <a:graphicData uri="http://schemas.openxmlformats.org/drawingml/2006/table">
            <a:tbl>
              <a:tblPr firstRow="1" bandRow="1"/>
              <a:tblGrid>
                <a:gridCol w="59263">
                  <a:extLst>
                    <a:ext uri="{9D8B030D-6E8A-4147-A177-3AD203B41FA5}">
                      <a16:colId xmlns:a16="http://schemas.microsoft.com/office/drawing/2014/main" val="1150711057"/>
                    </a:ext>
                  </a:extLst>
                </a:gridCol>
                <a:gridCol w="1594610">
                  <a:extLst>
                    <a:ext uri="{9D8B030D-6E8A-4147-A177-3AD203B41FA5}">
                      <a16:colId xmlns:a16="http://schemas.microsoft.com/office/drawing/2014/main" val="2544600788"/>
                    </a:ext>
                  </a:extLst>
                </a:gridCol>
                <a:gridCol w="2183957">
                  <a:extLst>
                    <a:ext uri="{9D8B030D-6E8A-4147-A177-3AD203B41FA5}">
                      <a16:colId xmlns:a16="http://schemas.microsoft.com/office/drawing/2014/main" val="1709218077"/>
                    </a:ext>
                  </a:extLst>
                </a:gridCol>
                <a:gridCol w="1526650">
                  <a:extLst>
                    <a:ext uri="{9D8B030D-6E8A-4147-A177-3AD203B41FA5}">
                      <a16:colId xmlns:a16="http://schemas.microsoft.com/office/drawing/2014/main" val="2573022375"/>
                    </a:ext>
                  </a:extLst>
                </a:gridCol>
                <a:gridCol w="6827519">
                  <a:extLst>
                    <a:ext uri="{9D8B030D-6E8A-4147-A177-3AD203B41FA5}">
                      <a16:colId xmlns:a16="http://schemas.microsoft.com/office/drawing/2014/main" val="3290620952"/>
                    </a:ext>
                  </a:extLst>
                </a:gridCol>
              </a:tblGrid>
              <a:tr h="541866">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106000"/>
                        </a:lnSpc>
                        <a:spcAft>
                          <a:spcPts val="0"/>
                        </a:spcAft>
                      </a:pPr>
                      <a:r>
                        <a:rPr lang="en-IE" sz="1200" kern="1200" dirty="0">
                          <a:effectLst/>
                        </a:rPr>
                        <a:t> </a:t>
                      </a: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CC9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106000"/>
                        </a:lnSpc>
                        <a:spcAft>
                          <a:spcPts val="0"/>
                        </a:spcAft>
                      </a:pPr>
                      <a:r>
                        <a:rPr lang="en-IE" sz="1900" kern="1200" dirty="0">
                          <a:solidFill>
                            <a:schemeClr val="tx1"/>
                          </a:solidFill>
                          <a:effectLst/>
                          <a:latin typeface="+mn-lt"/>
                        </a:rPr>
                        <a:t>Resident </a:t>
                      </a:r>
                      <a:endParaRPr lang="en-IE" sz="1900" dirty="0">
                        <a:solidFill>
                          <a:schemeClr val="tx1"/>
                        </a:solidFill>
                        <a:effectLst/>
                        <a:latin typeface="+mn-lt"/>
                        <a:ea typeface="Calibri" panose="020F0502020204030204" pitchFamily="34" charset="0"/>
                        <a:cs typeface="Times New Roman" panose="02020603050405020304" pitchFamily="18" charset="0"/>
                      </a:endParaRPr>
                    </a:p>
                  </a:txBody>
                  <a:tcPr marL="32228" marR="32228" marT="15893" marB="15893">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CC9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106000"/>
                        </a:lnSpc>
                        <a:spcAft>
                          <a:spcPts val="0"/>
                        </a:spcAft>
                      </a:pPr>
                      <a:r>
                        <a:rPr lang="en-IE" sz="1900" kern="1200" dirty="0">
                          <a:solidFill>
                            <a:schemeClr val="tx1"/>
                          </a:solidFill>
                          <a:effectLst/>
                          <a:latin typeface="+mn-lt"/>
                        </a:rPr>
                        <a:t>Ordinarily Resident</a:t>
                      </a:r>
                      <a:endParaRPr lang="en-IE" sz="1900" dirty="0">
                        <a:solidFill>
                          <a:schemeClr val="tx1"/>
                        </a:solidFill>
                        <a:effectLst/>
                        <a:latin typeface="+mn-lt"/>
                        <a:ea typeface="Calibri" panose="020F0502020204030204" pitchFamily="34" charset="0"/>
                        <a:cs typeface="Times New Roman" panose="02020603050405020304" pitchFamily="18" charset="0"/>
                      </a:endParaRPr>
                    </a:p>
                  </a:txBody>
                  <a:tcPr marL="32228" marR="32228" marT="15893" marB="15893">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CC9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106000"/>
                        </a:lnSpc>
                        <a:spcAft>
                          <a:spcPts val="0"/>
                        </a:spcAft>
                      </a:pPr>
                      <a:r>
                        <a:rPr lang="en-IE" sz="1900" kern="1200" dirty="0">
                          <a:solidFill>
                            <a:schemeClr val="tx1"/>
                          </a:solidFill>
                          <a:effectLst/>
                          <a:latin typeface="+mn-lt"/>
                        </a:rPr>
                        <a:t>Domiciled</a:t>
                      </a:r>
                      <a:endParaRPr lang="en-IE" sz="1900" dirty="0">
                        <a:solidFill>
                          <a:schemeClr val="tx1"/>
                        </a:solidFill>
                        <a:effectLst/>
                        <a:latin typeface="+mn-lt"/>
                        <a:ea typeface="Calibri" panose="020F0502020204030204" pitchFamily="34" charset="0"/>
                        <a:cs typeface="Times New Roman" panose="02020603050405020304" pitchFamily="18" charset="0"/>
                      </a:endParaRPr>
                    </a:p>
                  </a:txBody>
                  <a:tcPr marL="32228" marR="32228" marT="15893" marB="15893">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CC9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106000"/>
                        </a:lnSpc>
                        <a:spcAft>
                          <a:spcPts val="0"/>
                        </a:spcAft>
                      </a:pPr>
                      <a:r>
                        <a:rPr lang="en-IE" sz="1900" kern="1200" dirty="0">
                          <a:solidFill>
                            <a:schemeClr val="tx1"/>
                          </a:solidFill>
                          <a:effectLst/>
                          <a:latin typeface="+mn-lt"/>
                        </a:rPr>
                        <a:t>Income Assessable in State</a:t>
                      </a:r>
                      <a:endParaRPr lang="en-IE" sz="1900" dirty="0">
                        <a:solidFill>
                          <a:schemeClr val="tx1"/>
                        </a:solidFill>
                        <a:effectLst/>
                        <a:latin typeface="+mn-lt"/>
                        <a:ea typeface="Calibri" panose="020F0502020204030204" pitchFamily="34" charset="0"/>
                        <a:cs typeface="Times New Roman" panose="02020603050405020304" pitchFamily="18" charset="0"/>
                      </a:endParaRPr>
                    </a:p>
                  </a:txBody>
                  <a:tcPr marL="32228" marR="32228" marT="15893" marB="15893">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9CC99"/>
                    </a:solidFill>
                  </a:tcPr>
                </a:tc>
                <a:extLst>
                  <a:ext uri="{0D108BD9-81ED-4DB2-BD59-A6C34878D82A}">
                    <a16:rowId xmlns:a16="http://schemas.microsoft.com/office/drawing/2014/main" val="894764331"/>
                  </a:ext>
                </a:extLst>
              </a:tr>
              <a:tr h="37319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200" kern="1200" dirty="0">
                          <a:effectLst/>
                        </a:rPr>
                        <a:t> </a:t>
                      </a: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50000"/>
                        </a:lnSpc>
                        <a:spcAft>
                          <a:spcPts val="0"/>
                        </a:spcAft>
                      </a:pPr>
                      <a:r>
                        <a:rPr lang="en-US" sz="1800" kern="1200" dirty="0">
                          <a:effectLst/>
                          <a:latin typeface="+mn-lt"/>
                        </a:rPr>
                        <a:t>Worldwide Income  </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9CC99">
                        <a:tint val="40000"/>
                      </a:srgbClr>
                    </a:solidFill>
                  </a:tcPr>
                </a:tc>
                <a:extLst>
                  <a:ext uri="{0D108BD9-81ED-4DB2-BD59-A6C34878D82A}">
                    <a16:rowId xmlns:a16="http://schemas.microsoft.com/office/drawing/2014/main" val="1739838081"/>
                  </a:ext>
                </a:extLst>
              </a:tr>
              <a:tr h="37319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200" kern="1200" dirty="0">
                          <a:effectLst/>
                        </a:rPr>
                        <a:t> </a:t>
                      </a: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50000"/>
                        </a:lnSpc>
                        <a:spcAft>
                          <a:spcPts val="0"/>
                        </a:spcAft>
                      </a:pPr>
                      <a:r>
                        <a:rPr lang="en-US" sz="1800" kern="1200" dirty="0">
                          <a:effectLst/>
                          <a:latin typeface="+mn-lt"/>
                        </a:rPr>
                        <a:t>Worldwide Income  </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9CC99">
                        <a:tint val="20000"/>
                      </a:srgbClr>
                    </a:solidFill>
                  </a:tcPr>
                </a:tc>
                <a:extLst>
                  <a:ext uri="{0D108BD9-81ED-4DB2-BD59-A6C34878D82A}">
                    <a16:rowId xmlns:a16="http://schemas.microsoft.com/office/drawing/2014/main" val="1098467931"/>
                  </a:ext>
                </a:extLst>
              </a:tr>
              <a:tr h="37319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IE" sz="1200" kern="1200" dirty="0">
                          <a:effectLst/>
                        </a:rPr>
                        <a:t> </a:t>
                      </a: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IE"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GB"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50000"/>
                        </a:lnSpc>
                        <a:spcAft>
                          <a:spcPts val="0"/>
                        </a:spcAft>
                      </a:pPr>
                      <a:r>
                        <a:rPr lang="en-US" sz="1800" kern="1200" dirty="0">
                          <a:effectLst/>
                          <a:latin typeface="+mn-lt"/>
                        </a:rPr>
                        <a:t>Irish Income and Foreign Income Remitted </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9CC99">
                        <a:tint val="40000"/>
                      </a:srgbClr>
                    </a:solidFill>
                  </a:tcPr>
                </a:tc>
                <a:extLst>
                  <a:ext uri="{0D108BD9-81ED-4DB2-BD59-A6C34878D82A}">
                    <a16:rowId xmlns:a16="http://schemas.microsoft.com/office/drawing/2014/main" val="1970744337"/>
                  </a:ext>
                </a:extLst>
              </a:tr>
              <a:tr h="37319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200" kern="1200" dirty="0">
                          <a:effectLst/>
                        </a:rPr>
                        <a:t> </a:t>
                      </a: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CC9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50000"/>
                        </a:lnSpc>
                        <a:spcAft>
                          <a:spcPts val="0"/>
                        </a:spcAft>
                      </a:pPr>
                      <a:r>
                        <a:rPr lang="en-US" sz="1800" kern="1200" dirty="0">
                          <a:effectLst/>
                          <a:latin typeface="+mn-lt"/>
                        </a:rPr>
                        <a:t>Irish Income and Foreign Income Remitted</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9CC99">
                        <a:tint val="20000"/>
                      </a:srgbClr>
                    </a:solidFill>
                  </a:tcPr>
                </a:tc>
                <a:extLst>
                  <a:ext uri="{0D108BD9-81ED-4DB2-BD59-A6C34878D82A}">
                    <a16:rowId xmlns:a16="http://schemas.microsoft.com/office/drawing/2014/main" val="2838046621"/>
                  </a:ext>
                </a:extLst>
              </a:tr>
              <a:tr h="78237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IE"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50000"/>
                        </a:lnSpc>
                        <a:spcAft>
                          <a:spcPts val="0"/>
                        </a:spcAft>
                      </a:pPr>
                      <a:r>
                        <a:rPr lang="en-US" sz="1800" kern="1200" dirty="0">
                          <a:effectLst/>
                          <a:latin typeface="+mn-lt"/>
                        </a:rPr>
                        <a:t>Irish sourced Income and Income from a Trade, Profession or Employment exercised in the State </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366">
                        <a:lumMod val="20000"/>
                        <a:lumOff val="80000"/>
                      </a:srgbClr>
                    </a:solidFill>
                  </a:tcPr>
                </a:tc>
                <a:extLst>
                  <a:ext uri="{0D108BD9-81ED-4DB2-BD59-A6C34878D82A}">
                    <a16:rowId xmlns:a16="http://schemas.microsoft.com/office/drawing/2014/main" val="1026240193"/>
                  </a:ext>
                </a:extLst>
              </a:tr>
              <a:tr h="78237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GB"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GB"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GB"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50000"/>
                        </a:lnSpc>
                        <a:spcAft>
                          <a:spcPts val="0"/>
                        </a:spcAft>
                      </a:pPr>
                      <a:r>
                        <a:rPr lang="en-US" sz="1800" kern="1200" dirty="0">
                          <a:effectLst/>
                          <a:latin typeface="+mn-lt"/>
                        </a:rPr>
                        <a:t>Irish sourced Income and Income from a Trade, Profession or Employment exercised in the State</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366">
                        <a:lumMod val="20000"/>
                        <a:lumOff val="80000"/>
                      </a:srgbClr>
                    </a:solidFill>
                  </a:tcPr>
                </a:tc>
                <a:extLst>
                  <a:ext uri="{0D108BD9-81ED-4DB2-BD59-A6C34878D82A}">
                    <a16:rowId xmlns:a16="http://schemas.microsoft.com/office/drawing/2014/main" val="220778492"/>
                  </a:ext>
                </a:extLst>
              </a:tr>
              <a:tr h="160071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50000"/>
                        </a:lnSpc>
                        <a:spcAft>
                          <a:spcPts val="0"/>
                        </a:spcAft>
                      </a:pPr>
                      <a:r>
                        <a:rPr lang="en-US" sz="1800" kern="1200" dirty="0">
                          <a:effectLst/>
                          <a:latin typeface="+mn-lt"/>
                        </a:rPr>
                        <a:t>Irish sourced income &amp; Foreign Income Remitted with Exemptions: </a:t>
                      </a:r>
                      <a:endParaRPr lang="en-IE" sz="1800" dirty="0">
                        <a:effectLst/>
                        <a:latin typeface="+mn-lt"/>
                      </a:endParaRPr>
                    </a:p>
                    <a:p>
                      <a:pPr marL="342900" lvl="0" indent="-342900" algn="l">
                        <a:lnSpc>
                          <a:spcPct val="150000"/>
                        </a:lnSpc>
                        <a:spcAft>
                          <a:spcPts val="0"/>
                        </a:spcAft>
                        <a:buFont typeface="+mj-lt"/>
                        <a:buAutoNum type="alphaLcParenBoth"/>
                        <a:tabLst>
                          <a:tab pos="457200" algn="l"/>
                        </a:tabLst>
                      </a:pPr>
                      <a:r>
                        <a:rPr lang="en-US" sz="1800" kern="1200" dirty="0">
                          <a:effectLst/>
                          <a:latin typeface="+mn-lt"/>
                        </a:rPr>
                        <a:t>Income from Trade / Profession; Office or Employment, the duties of which are exercised outside the State </a:t>
                      </a:r>
                    </a:p>
                    <a:p>
                      <a:pPr marL="342900" lvl="0" indent="-342900" algn="l">
                        <a:lnSpc>
                          <a:spcPct val="150000"/>
                        </a:lnSpc>
                        <a:spcAft>
                          <a:spcPts val="0"/>
                        </a:spcAft>
                        <a:buFont typeface="+mj-lt"/>
                        <a:buAutoNum type="alphaLcParenBoth"/>
                        <a:tabLst>
                          <a:tab pos="457200" algn="l"/>
                        </a:tabLst>
                      </a:pPr>
                      <a:r>
                        <a:rPr lang="en-US" sz="1800" kern="1200" dirty="0">
                          <a:effectLst/>
                          <a:latin typeface="+mn-lt"/>
                        </a:rPr>
                        <a:t>Other Foreign Income not in excess of €3,810</a:t>
                      </a:r>
                      <a:endParaRPr lang="en-IE" sz="1800" dirty="0">
                        <a:effectLst/>
                        <a:latin typeface="+mn-lt"/>
                        <a:cs typeface="Times New Roman" panose="02020603050405020304" pitchFamily="18" charset="0"/>
                      </a:endParaRPr>
                    </a:p>
                  </a:txBody>
                  <a:tcPr marL="24281" marR="24281" marT="3532" marB="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366">
                        <a:lumMod val="20000"/>
                        <a:lumOff val="80000"/>
                      </a:srgbClr>
                    </a:solidFill>
                  </a:tcPr>
                </a:tc>
                <a:extLst>
                  <a:ext uri="{0D108BD9-81ED-4DB2-BD59-A6C34878D82A}">
                    <a16:rowId xmlns:a16="http://schemas.microsoft.com/office/drawing/2014/main" val="1931950104"/>
                  </a:ext>
                </a:extLst>
              </a:tr>
              <a:tr h="160071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endParaRPr lang="en-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No</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ct val="150000"/>
                        </a:lnSpc>
                        <a:spcAft>
                          <a:spcPts val="0"/>
                        </a:spcAft>
                      </a:pPr>
                      <a:r>
                        <a:rPr lang="en-US" sz="1800" kern="1200" dirty="0">
                          <a:effectLst/>
                          <a:latin typeface="+mn-lt"/>
                        </a:rPr>
                        <a:t>Yes</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3366">
                        <a:lumMod val="20000"/>
                        <a:lumOff val="8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50000"/>
                        </a:lnSpc>
                        <a:spcAft>
                          <a:spcPts val="0"/>
                        </a:spcAft>
                      </a:pPr>
                      <a:r>
                        <a:rPr lang="en-US" sz="1800" kern="1200" dirty="0">
                          <a:effectLst/>
                          <a:latin typeface="+mn-lt"/>
                        </a:rPr>
                        <a:t>Worldwide income with Exemptions:</a:t>
                      </a:r>
                    </a:p>
                    <a:p>
                      <a:pPr marL="342900" lvl="0" indent="-342900" algn="l" defTabSz="914400" rtl="0" eaLnBrk="1" latinLnBrk="0" hangingPunct="1">
                        <a:lnSpc>
                          <a:spcPct val="150000"/>
                        </a:lnSpc>
                        <a:spcAft>
                          <a:spcPts val="0"/>
                        </a:spcAft>
                        <a:buFont typeface="+mj-lt"/>
                        <a:buAutoNum type="alphaLcParenBoth"/>
                        <a:tabLst>
                          <a:tab pos="457200" algn="l"/>
                        </a:tabLst>
                      </a:pPr>
                      <a:r>
                        <a:rPr lang="en-US" sz="1800" kern="1200" dirty="0">
                          <a:solidFill>
                            <a:schemeClr val="dk1"/>
                          </a:solidFill>
                          <a:effectLst/>
                          <a:latin typeface="+mn-lt"/>
                          <a:ea typeface="+mn-ea"/>
                          <a:cs typeface="+mn-cs"/>
                        </a:rPr>
                        <a:t>Income from Trade / Profession; Office or Employment, the duties of which are exercised outside the State </a:t>
                      </a:r>
                    </a:p>
                    <a:p>
                      <a:pPr marL="342900" lvl="0" indent="-342900" algn="l" defTabSz="914400" rtl="0" eaLnBrk="1" latinLnBrk="0" hangingPunct="1">
                        <a:lnSpc>
                          <a:spcPct val="150000"/>
                        </a:lnSpc>
                        <a:spcAft>
                          <a:spcPts val="0"/>
                        </a:spcAft>
                        <a:buFont typeface="+mj-lt"/>
                        <a:buAutoNum type="alphaLcParenBoth"/>
                        <a:tabLst>
                          <a:tab pos="457200" algn="l"/>
                        </a:tabLst>
                      </a:pPr>
                      <a:r>
                        <a:rPr lang="en-US" sz="1800" kern="1200" dirty="0">
                          <a:effectLst/>
                          <a:latin typeface="+mn-lt"/>
                        </a:rPr>
                        <a:t>Other Foreign Income not in excess of €3,810 </a:t>
                      </a:r>
                      <a:endParaRPr lang="en-IE" sz="1800" dirty="0">
                        <a:effectLst/>
                        <a:latin typeface="+mn-lt"/>
                        <a:ea typeface="Calibri" panose="020F0502020204030204" pitchFamily="34" charset="0"/>
                        <a:cs typeface="Times New Roman" panose="02020603050405020304" pitchFamily="18" charset="0"/>
                      </a:endParaRPr>
                    </a:p>
                  </a:txBody>
                  <a:tcPr marL="24281" marR="24281" marT="3532" marB="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366">
                        <a:lumMod val="20000"/>
                        <a:lumOff val="80000"/>
                      </a:srgbClr>
                    </a:solidFill>
                  </a:tcPr>
                </a:tc>
                <a:extLst>
                  <a:ext uri="{0D108BD9-81ED-4DB2-BD59-A6C34878D82A}">
                    <a16:rowId xmlns:a16="http://schemas.microsoft.com/office/drawing/2014/main" val="2823009560"/>
                  </a:ext>
                </a:extLst>
              </a:tr>
            </a:tbl>
          </a:graphicData>
        </a:graphic>
      </p:graphicFrame>
    </p:spTree>
    <p:extLst>
      <p:ext uri="{BB962C8B-B14F-4D97-AF65-F5344CB8AC3E}">
        <p14:creationId xmlns:p14="http://schemas.microsoft.com/office/powerpoint/2010/main" val="3611859737"/>
      </p:ext>
    </p:extLst>
  </p:cSld>
  <p:clrMapOvr>
    <a:masterClrMapping/>
  </p:clrMapOvr>
  <mc:AlternateContent xmlns:mc="http://schemas.openxmlformats.org/markup-compatibility/2006" xmlns:p14="http://schemas.microsoft.com/office/powerpoint/2010/main">
    <mc:Choice Requires="p14">
      <p:transition spd="slow" p14:dur="1000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0"/>
            <a:ext cx="2174710" cy="1100947"/>
          </a:xfrm>
          <a:prstGeom prst="rect">
            <a:avLst/>
          </a:prstGeom>
          <a:noFill/>
          <a:ln>
            <a:noFill/>
          </a:ln>
        </p:spPr>
      </p:pic>
      <p:sp>
        <p:nvSpPr>
          <p:cNvPr id="5" name="TextBox 4">
            <a:extLst>
              <a:ext uri="{FF2B5EF4-FFF2-40B4-BE49-F238E27FC236}">
                <a16:creationId xmlns:a16="http://schemas.microsoft.com/office/drawing/2014/main" id="{DBFCD3F8-71B0-5785-08AD-6F4D0AF6FED9}"/>
              </a:ext>
            </a:extLst>
          </p:cNvPr>
          <p:cNvSpPr txBox="1"/>
          <p:nvPr/>
        </p:nvSpPr>
        <p:spPr>
          <a:xfrm>
            <a:off x="795669" y="1435395"/>
            <a:ext cx="10600661" cy="2739211"/>
          </a:xfrm>
          <a:prstGeom prst="rect">
            <a:avLst/>
          </a:prstGeom>
          <a:noFill/>
        </p:spPr>
        <p:txBody>
          <a:bodyPr wrap="square" rtlCol="0">
            <a:spAutoFit/>
          </a:bodyPr>
          <a:lstStyle/>
          <a:p>
            <a:pPr algn="ctr">
              <a:lnSpc>
                <a:spcPct val="120000"/>
              </a:lnSpc>
            </a:pPr>
            <a:r>
              <a:rPr lang="en-IE" sz="4000" b="1" dirty="0">
                <a:solidFill>
                  <a:srgbClr val="009999"/>
                </a:solidFill>
              </a:rPr>
              <a:t>See Workbook 1 </a:t>
            </a:r>
          </a:p>
          <a:p>
            <a:pPr algn="ctr">
              <a:lnSpc>
                <a:spcPct val="120000"/>
              </a:lnSpc>
            </a:pPr>
            <a:r>
              <a:rPr lang="en-IE" sz="4000" b="1" dirty="0">
                <a:solidFill>
                  <a:srgbClr val="009999"/>
                </a:solidFill>
              </a:rPr>
              <a:t>for </a:t>
            </a:r>
          </a:p>
          <a:p>
            <a:pPr algn="ctr">
              <a:lnSpc>
                <a:spcPct val="120000"/>
              </a:lnSpc>
            </a:pPr>
            <a:r>
              <a:rPr lang="en-IE" sz="4000" b="1" dirty="0">
                <a:solidFill>
                  <a:srgbClr val="009999"/>
                </a:solidFill>
              </a:rPr>
              <a:t>Residence Quiz 2</a:t>
            </a:r>
          </a:p>
          <a:p>
            <a:endParaRPr lang="en-IE" sz="2800" dirty="0"/>
          </a:p>
        </p:txBody>
      </p:sp>
    </p:spTree>
    <p:extLst>
      <p:ext uri="{BB962C8B-B14F-4D97-AF65-F5344CB8AC3E}">
        <p14:creationId xmlns:p14="http://schemas.microsoft.com/office/powerpoint/2010/main" val="803305986"/>
      </p:ext>
    </p:extLst>
  </p:cSld>
  <p:clrMapOvr>
    <a:masterClrMapping/>
  </p:clrMapOvr>
  <mc:AlternateContent xmlns:mc="http://schemas.openxmlformats.org/markup-compatibility/2006" xmlns:p14="http://schemas.microsoft.com/office/powerpoint/2010/main">
    <mc:Choice Requires="p14">
      <p:transition spd="slow" p14:dur="2000" advTm="37603"/>
    </mc:Choice>
    <mc:Fallback xmlns="">
      <p:transition spd="slow" advTm="376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193DA-EFD5-445F-F4ED-B1A433B5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9188C-8E96-89B4-4A2E-36FD9A27CC17}"/>
              </a:ext>
            </a:extLst>
          </p:cNvPr>
          <p:cNvSpPr>
            <a:spLocks noGrp="1"/>
          </p:cNvSpPr>
          <p:nvPr>
            <p:ph type="title"/>
          </p:nvPr>
        </p:nvSpPr>
        <p:spPr>
          <a:xfrm>
            <a:off x="5526156" y="365124"/>
            <a:ext cx="5827643" cy="1863725"/>
          </a:xfrm>
        </p:spPr>
        <p:txBody>
          <a:bodyPr vert="horz" lIns="91440" tIns="45720" rIns="91440" bIns="45720" rtlCol="0" anchor="b">
            <a:normAutofit/>
          </a:bodyPr>
          <a:lstStyle/>
          <a:p>
            <a:r>
              <a:rPr lang="en-US" sz="3100" b="1" dirty="0">
                <a:solidFill>
                  <a:schemeClr val="tx2">
                    <a:lumMod val="90000"/>
                    <a:lumOff val="10000"/>
                  </a:schemeClr>
                </a:solidFill>
              </a:rPr>
              <a:t>ATTENDANCE:  Please scan QR Code, complete form using exact course code below and submit</a:t>
            </a:r>
            <a:br>
              <a:rPr lang="en-US" sz="3100" b="1" dirty="0">
                <a:solidFill>
                  <a:schemeClr val="tx2">
                    <a:lumMod val="90000"/>
                    <a:lumOff val="10000"/>
                  </a:schemeClr>
                </a:solidFill>
              </a:rPr>
            </a:br>
            <a:endParaRPr lang="en-US" sz="2000" b="1" dirty="0">
              <a:solidFill>
                <a:schemeClr val="tx2">
                  <a:lumMod val="90000"/>
                  <a:lumOff val="10000"/>
                </a:schemeClr>
              </a:solidFill>
            </a:endParaRPr>
          </a:p>
        </p:txBody>
      </p:sp>
      <p:pic>
        <p:nvPicPr>
          <p:cNvPr id="4" name="Image" descr="Image">
            <a:extLst>
              <a:ext uri="{FF2B5EF4-FFF2-40B4-BE49-F238E27FC236}">
                <a16:creationId xmlns:a16="http://schemas.microsoft.com/office/drawing/2014/main" id="{A1E67C4E-E563-44AB-F377-5DFCC8F068E6}"/>
              </a:ext>
            </a:extLst>
          </p:cNvPr>
          <p:cNvPicPr>
            <a:picLocks noChangeAspect="1"/>
          </p:cNvPicPr>
          <p:nvPr/>
        </p:nvPicPr>
        <p:blipFill>
          <a:blip r:embed="rId3"/>
          <a:stretch>
            <a:fillRect/>
          </a:stretch>
        </p:blipFill>
        <p:spPr>
          <a:xfrm>
            <a:off x="838200" y="4968004"/>
            <a:ext cx="3297019" cy="1524871"/>
          </a:xfrm>
          <a:prstGeom prst="rect">
            <a:avLst/>
          </a:prstGeom>
        </p:spPr>
      </p:pic>
      <p:graphicFrame>
        <p:nvGraphicFramePr>
          <p:cNvPr id="32" name="TextBox 2">
            <a:extLst>
              <a:ext uri="{FF2B5EF4-FFF2-40B4-BE49-F238E27FC236}">
                <a16:creationId xmlns:a16="http://schemas.microsoft.com/office/drawing/2014/main" id="{BDFD11D3-2CFC-1EB8-8869-420B583977B2}"/>
              </a:ext>
            </a:extLst>
          </p:cNvPr>
          <p:cNvGraphicFramePr/>
          <p:nvPr>
            <p:extLst>
              <p:ext uri="{D42A27DB-BD31-4B8C-83A1-F6EECF244321}">
                <p14:modId xmlns:p14="http://schemas.microsoft.com/office/powerpoint/2010/main" val="1938960334"/>
              </p:ext>
            </p:extLst>
          </p:nvPr>
        </p:nvGraphicFramePr>
        <p:xfrm>
          <a:off x="5526156" y="2055813"/>
          <a:ext cx="5827644" cy="41211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descr="A qr code on a blue background&#10;&#10;AI-generated content may be incorrect.">
            <a:extLst>
              <a:ext uri="{FF2B5EF4-FFF2-40B4-BE49-F238E27FC236}">
                <a16:creationId xmlns:a16="http://schemas.microsoft.com/office/drawing/2014/main" id="{7481EF29-7592-2CC0-2959-71B58D7BED40}"/>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8612" y="365125"/>
            <a:ext cx="3972007" cy="3972007"/>
          </a:xfrm>
          <a:prstGeom prst="rect">
            <a:avLst/>
          </a:prstGeom>
          <a:noFill/>
          <a:ln>
            <a:noFill/>
          </a:ln>
        </p:spPr>
      </p:pic>
    </p:spTree>
    <p:extLst>
      <p:ext uri="{BB962C8B-B14F-4D97-AF65-F5344CB8AC3E}">
        <p14:creationId xmlns:p14="http://schemas.microsoft.com/office/powerpoint/2010/main" val="15431593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A566-40E4-40A8-9A78-838C1F081521}"/>
              </a:ext>
            </a:extLst>
          </p:cNvPr>
          <p:cNvSpPr>
            <a:spLocks noGrp="1"/>
          </p:cNvSpPr>
          <p:nvPr>
            <p:ph type="ctrTitle" idx="4294967295"/>
          </p:nvPr>
        </p:nvSpPr>
        <p:spPr>
          <a:xfrm>
            <a:off x="1422919" y="883776"/>
            <a:ext cx="9486381" cy="5090447"/>
          </a:xfrm>
        </p:spPr>
        <p:txBody>
          <a:bodyPr>
            <a:normAutofit/>
          </a:bodyPr>
          <a:lstStyle/>
          <a:p>
            <a:pPr algn="ctr">
              <a:lnSpc>
                <a:spcPct val="150000"/>
              </a:lnSpc>
            </a:pPr>
            <a: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t>Recap Unit 1.</a:t>
            </a:r>
            <a:r>
              <a:rPr lang="en-US" altLang="en-US" b="1" kern="0" dirty="0">
                <a:solidFill>
                  <a:srgbClr val="33CCCC">
                    <a:lumMod val="75000"/>
                  </a:srgbClr>
                </a:solidFill>
                <a:latin typeface="Aptos" panose="020B0004020202020204" pitchFamily="34" charset="0"/>
              </a:rPr>
              <a:t>2</a:t>
            </a:r>
            <a:b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br>
            <a: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t>The Schedular System</a:t>
            </a:r>
            <a:br>
              <a:rPr kumimoji="0" lang="en-US" altLang="en-US" sz="4400" b="1" i="0" u="none" strike="noStrike" kern="0" cap="none" spc="0" normalizeH="0" baseline="0" noProof="0" dirty="0">
                <a:ln>
                  <a:noFill/>
                </a:ln>
                <a:solidFill>
                  <a:srgbClr val="33CCCC">
                    <a:lumMod val="75000"/>
                  </a:srgbClr>
                </a:solidFill>
                <a:effectLst/>
                <a:uLnTx/>
                <a:uFillTx/>
                <a:latin typeface="Arial"/>
                <a:ea typeface="+mj-ea"/>
                <a:cs typeface="+mj-cs"/>
              </a:rPr>
            </a:br>
            <a:endParaRPr lang="en-IE" sz="2000" b="1" dirty="0">
              <a:solidFill>
                <a:srgbClr val="FF0000"/>
              </a:solidFill>
              <a:highlight>
                <a:srgbClr val="FFFF00"/>
              </a:highlight>
            </a:endParaRPr>
          </a:p>
        </p:txBody>
      </p:sp>
      <p:sp>
        <p:nvSpPr>
          <p:cNvPr id="11" name="Shape">
            <a:extLst>
              <a:ext uri="{FF2B5EF4-FFF2-40B4-BE49-F238E27FC236}">
                <a16:creationId xmlns:a16="http://schemas.microsoft.com/office/drawing/2014/main" id="{64DA8E4F-486D-4062-82E4-375ECC2F69C1}"/>
              </a:ext>
            </a:extLst>
          </p:cNvPr>
          <p:cNvSpPr/>
          <p:nvPr/>
        </p:nvSpPr>
        <p:spPr>
          <a:xfrm>
            <a:off x="15348" y="6076204"/>
            <a:ext cx="3450590" cy="78422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6687" y="21600"/>
                </a:lnTo>
                <a:lnTo>
                  <a:pt x="21600" y="0"/>
                </a:lnTo>
                <a:lnTo>
                  <a:pt x="4913" y="0"/>
                </a:lnTo>
                <a:close/>
              </a:path>
            </a:pathLst>
          </a:custGeom>
          <a:solidFill>
            <a:srgbClr val="006666"/>
          </a:solidFill>
          <a:ln w="12700">
            <a:miter lim="400000"/>
          </a:ln>
        </p:spPr>
        <p:txBody>
          <a:bodyPr lIns="38100" tIns="38100" rIns="38100" bIns="38100" anchor="ctr"/>
          <a:lstStyle/>
          <a:p>
            <a:endParaRPr lang="en-IE" dirty="0"/>
          </a:p>
        </p:txBody>
      </p:sp>
      <p:sp>
        <p:nvSpPr>
          <p:cNvPr id="12" name="Shape">
            <a:extLst>
              <a:ext uri="{FF2B5EF4-FFF2-40B4-BE49-F238E27FC236}">
                <a16:creationId xmlns:a16="http://schemas.microsoft.com/office/drawing/2014/main" id="{74E26CAA-C8E3-4F5E-9CB9-74135EFED657}"/>
              </a:ext>
            </a:extLst>
          </p:cNvPr>
          <p:cNvSpPr/>
          <p:nvPr/>
        </p:nvSpPr>
        <p:spPr>
          <a:xfrm>
            <a:off x="1717148" y="6508004"/>
            <a:ext cx="1871980" cy="3486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7570" y="21600"/>
                </a:lnTo>
                <a:lnTo>
                  <a:pt x="21600" y="0"/>
                </a:lnTo>
                <a:lnTo>
                  <a:pt x="4030" y="0"/>
                </a:lnTo>
                <a:close/>
              </a:path>
            </a:pathLst>
          </a:custGeom>
          <a:solidFill>
            <a:schemeClr val="tx2">
              <a:lumMod val="60000"/>
              <a:lumOff val="40000"/>
              <a:alpha val="90000"/>
            </a:schemeClr>
          </a:solidFill>
          <a:ln w="12700">
            <a:miter lim="400000"/>
          </a:ln>
        </p:spPr>
        <p:txBody>
          <a:bodyPr lIns="38100" tIns="38100" rIns="38100" bIns="38100" anchor="ctr"/>
          <a:lstStyle/>
          <a:p>
            <a:endParaRPr lang="en-IE" dirty="0"/>
          </a:p>
        </p:txBody>
      </p:sp>
      <p:sp>
        <p:nvSpPr>
          <p:cNvPr id="13" name="Shape">
            <a:extLst>
              <a:ext uri="{FF2B5EF4-FFF2-40B4-BE49-F238E27FC236}">
                <a16:creationId xmlns:a16="http://schemas.microsoft.com/office/drawing/2014/main" id="{94ED9556-F893-4791-8585-8134050D2C7B}"/>
              </a:ext>
            </a:extLst>
          </p:cNvPr>
          <p:cNvSpPr/>
          <p:nvPr/>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4" name="Triangle">
            <a:extLst>
              <a:ext uri="{FF2B5EF4-FFF2-40B4-BE49-F238E27FC236}">
                <a16:creationId xmlns:a16="http://schemas.microsoft.com/office/drawing/2014/main" id="{94D2CDCE-DE5A-459C-926E-3C632ECC7DD6}"/>
              </a:ext>
            </a:extLst>
          </p:cNvPr>
          <p:cNvSpPr/>
          <p:nvPr/>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pic>
        <p:nvPicPr>
          <p:cNvPr id="15" name="Picture 14" descr="Logo, company name&#10;&#10;Description automatically generated">
            <a:extLst>
              <a:ext uri="{FF2B5EF4-FFF2-40B4-BE49-F238E27FC236}">
                <a16:creationId xmlns:a16="http://schemas.microsoft.com/office/drawing/2014/main" id="{EE5DD90D-A358-460E-8209-C13E67514C7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9376464" y="55125"/>
            <a:ext cx="2763520" cy="1447800"/>
          </a:xfrm>
          <a:prstGeom prst="rect">
            <a:avLst/>
          </a:prstGeom>
        </p:spPr>
      </p:pic>
      <p:pic>
        <p:nvPicPr>
          <p:cNvPr id="3" name="Picture 2">
            <a:extLst>
              <a:ext uri="{FF2B5EF4-FFF2-40B4-BE49-F238E27FC236}">
                <a16:creationId xmlns:a16="http://schemas.microsoft.com/office/drawing/2014/main" id="{7432E413-2C77-D76F-1584-164B64A54C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5273" y="228551"/>
            <a:ext cx="2174710" cy="1100947"/>
          </a:xfrm>
          <a:prstGeom prst="rect">
            <a:avLst/>
          </a:prstGeom>
          <a:noFill/>
          <a:ln>
            <a:noFill/>
          </a:ln>
        </p:spPr>
      </p:pic>
    </p:spTree>
    <p:extLst>
      <p:ext uri="{BB962C8B-B14F-4D97-AF65-F5344CB8AC3E}">
        <p14:creationId xmlns:p14="http://schemas.microsoft.com/office/powerpoint/2010/main" val="3403508454"/>
      </p:ext>
    </p:extLst>
  </p:cSld>
  <p:clrMapOvr>
    <a:masterClrMapping/>
  </p:clrMapOvr>
  <mc:AlternateContent xmlns:mc="http://schemas.openxmlformats.org/markup-compatibility/2006" xmlns:p14="http://schemas.microsoft.com/office/powerpoint/2010/main">
    <mc:Choice Requires="p14">
      <p:transition spd="slow" p14:dur="2000" advTm="21140"/>
    </mc:Choice>
    <mc:Fallback xmlns="">
      <p:transition spd="slow" advTm="2114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9E6174-F40D-491E-13B1-66B7AD7E84A7}"/>
              </a:ext>
            </a:extLst>
          </p:cNvPr>
          <p:cNvSpPr>
            <a:spLocks noGrp="1"/>
          </p:cNvSpPr>
          <p:nvPr>
            <p:ph idx="1"/>
          </p:nvPr>
        </p:nvSpPr>
        <p:spPr/>
        <p:txBody>
          <a:bodyPr/>
          <a:lstStyle/>
          <a:p>
            <a:endParaRPr lang="en-IE" dirty="0"/>
          </a:p>
        </p:txBody>
      </p:sp>
      <p:pic>
        <p:nvPicPr>
          <p:cNvPr id="6" name="Picture 5">
            <a:extLst>
              <a:ext uri="{FF2B5EF4-FFF2-40B4-BE49-F238E27FC236}">
                <a16:creationId xmlns:a16="http://schemas.microsoft.com/office/drawing/2014/main" id="{CE63D319-4E12-347D-5D5C-3962CE05C01C}"/>
              </a:ext>
            </a:extLst>
          </p:cNvPr>
          <p:cNvPicPr>
            <a:picLocks noChangeAspect="1"/>
          </p:cNvPicPr>
          <p:nvPr/>
        </p:nvPicPr>
        <p:blipFill>
          <a:blip r:embed="rId2"/>
          <a:stretch>
            <a:fillRect/>
          </a:stretch>
        </p:blipFill>
        <p:spPr>
          <a:xfrm>
            <a:off x="97406" y="46607"/>
            <a:ext cx="11997187" cy="6811393"/>
          </a:xfrm>
          <a:prstGeom prst="rect">
            <a:avLst/>
          </a:prstGeom>
        </p:spPr>
      </p:pic>
    </p:spTree>
    <p:extLst>
      <p:ext uri="{BB962C8B-B14F-4D97-AF65-F5344CB8AC3E}">
        <p14:creationId xmlns:p14="http://schemas.microsoft.com/office/powerpoint/2010/main" val="38597229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170AB-5200-2A59-C5B7-96E23831C386}"/>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FF80034F-986A-76EB-A34B-90331253E0A4}"/>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BB6BAD72-2B7E-1652-B73D-7F333354358C}"/>
              </a:ext>
            </a:extLst>
          </p:cNvPr>
          <p:cNvPicPr>
            <a:picLocks noChangeAspect="1"/>
          </p:cNvPicPr>
          <p:nvPr/>
        </p:nvPicPr>
        <p:blipFill>
          <a:blip r:embed="rId2"/>
          <a:stretch>
            <a:fillRect/>
          </a:stretch>
        </p:blipFill>
        <p:spPr>
          <a:xfrm>
            <a:off x="252304" y="0"/>
            <a:ext cx="11687392" cy="6858000"/>
          </a:xfrm>
          <a:prstGeom prst="rect">
            <a:avLst/>
          </a:prstGeom>
        </p:spPr>
      </p:pic>
    </p:spTree>
    <p:extLst>
      <p:ext uri="{BB962C8B-B14F-4D97-AF65-F5344CB8AC3E}">
        <p14:creationId xmlns:p14="http://schemas.microsoft.com/office/powerpoint/2010/main" val="1040544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0719B-B3DA-CD98-B3BC-CC722BEFFEA2}"/>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AE5A3FC4-6664-8461-8E31-94B4CC962C57}"/>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412809BE-0A10-01E0-DF5A-D129D8C52913}"/>
              </a:ext>
            </a:extLst>
          </p:cNvPr>
          <p:cNvPicPr>
            <a:picLocks noChangeAspect="1"/>
          </p:cNvPicPr>
          <p:nvPr/>
        </p:nvPicPr>
        <p:blipFill>
          <a:blip r:embed="rId2"/>
          <a:stretch>
            <a:fillRect/>
          </a:stretch>
        </p:blipFill>
        <p:spPr>
          <a:xfrm>
            <a:off x="241470" y="0"/>
            <a:ext cx="11652069" cy="6858000"/>
          </a:xfrm>
          <a:prstGeom prst="rect">
            <a:avLst/>
          </a:prstGeom>
        </p:spPr>
      </p:pic>
    </p:spTree>
    <p:extLst>
      <p:ext uri="{BB962C8B-B14F-4D97-AF65-F5344CB8AC3E}">
        <p14:creationId xmlns:p14="http://schemas.microsoft.com/office/powerpoint/2010/main" val="32097666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968E6-1439-D3B4-4F9B-62DBD40D97FE}"/>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9E84D14A-4AC6-696C-751C-C719DA269B69}"/>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096B2BC3-B6AD-9621-2AB9-3EFEE7F179E4}"/>
              </a:ext>
            </a:extLst>
          </p:cNvPr>
          <p:cNvPicPr>
            <a:picLocks noChangeAspect="1"/>
          </p:cNvPicPr>
          <p:nvPr/>
        </p:nvPicPr>
        <p:blipFill>
          <a:blip r:embed="rId3"/>
          <a:stretch>
            <a:fillRect/>
          </a:stretch>
        </p:blipFill>
        <p:spPr>
          <a:xfrm>
            <a:off x="232671" y="0"/>
            <a:ext cx="11726657" cy="6858000"/>
          </a:xfrm>
          <a:prstGeom prst="rect">
            <a:avLst/>
          </a:prstGeom>
        </p:spPr>
      </p:pic>
    </p:spTree>
    <p:extLst>
      <p:ext uri="{BB962C8B-B14F-4D97-AF65-F5344CB8AC3E}">
        <p14:creationId xmlns:p14="http://schemas.microsoft.com/office/powerpoint/2010/main" val="13836764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78782-E4F0-F7E9-5B19-E91F9975B648}"/>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739C46DE-49AD-19D2-2801-9FAB0F2EEAFA}"/>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6F288C43-BAC6-A1C4-1F10-09C8F8416D10}"/>
              </a:ext>
            </a:extLst>
          </p:cNvPr>
          <p:cNvPicPr>
            <a:picLocks noChangeAspect="1"/>
          </p:cNvPicPr>
          <p:nvPr/>
        </p:nvPicPr>
        <p:blipFill>
          <a:blip r:embed="rId2"/>
          <a:stretch>
            <a:fillRect/>
          </a:stretch>
        </p:blipFill>
        <p:spPr>
          <a:xfrm>
            <a:off x="283584" y="0"/>
            <a:ext cx="11624831" cy="6858000"/>
          </a:xfrm>
          <a:prstGeom prst="rect">
            <a:avLst/>
          </a:prstGeom>
        </p:spPr>
      </p:pic>
    </p:spTree>
    <p:extLst>
      <p:ext uri="{BB962C8B-B14F-4D97-AF65-F5344CB8AC3E}">
        <p14:creationId xmlns:p14="http://schemas.microsoft.com/office/powerpoint/2010/main" val="4033726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61B00-8ED7-30E2-F230-A34D1629BF6C}"/>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EC52E4B9-52A6-C17F-71BA-A28C6DB56311}"/>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584732D2-0F15-43FB-9042-723602486565}"/>
              </a:ext>
            </a:extLst>
          </p:cNvPr>
          <p:cNvPicPr>
            <a:picLocks noChangeAspect="1"/>
          </p:cNvPicPr>
          <p:nvPr/>
        </p:nvPicPr>
        <p:blipFill>
          <a:blip r:embed="rId2"/>
          <a:stretch>
            <a:fillRect/>
          </a:stretch>
        </p:blipFill>
        <p:spPr>
          <a:xfrm>
            <a:off x="320843" y="0"/>
            <a:ext cx="11550314" cy="6858000"/>
          </a:xfrm>
          <a:prstGeom prst="rect">
            <a:avLst/>
          </a:prstGeom>
        </p:spPr>
      </p:pic>
    </p:spTree>
    <p:extLst>
      <p:ext uri="{BB962C8B-B14F-4D97-AF65-F5344CB8AC3E}">
        <p14:creationId xmlns:p14="http://schemas.microsoft.com/office/powerpoint/2010/main" val="23248279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5" name="Content Placeholder 4" descr="A diagram of a tax schedule&#10;&#10;AI-generated content may be incorrect.">
            <a:extLst>
              <a:ext uri="{FF2B5EF4-FFF2-40B4-BE49-F238E27FC236}">
                <a16:creationId xmlns:a16="http://schemas.microsoft.com/office/drawing/2014/main" id="{BBBB6580-A356-05C0-2F24-FBF485190B4D}"/>
              </a:ext>
            </a:extLst>
          </p:cNvPr>
          <p:cNvPicPr>
            <a:picLocks noGrp="1" noChangeAspect="1"/>
          </p:cNvPicPr>
          <p:nvPr>
            <p:ph idx="1"/>
          </p:nvPr>
        </p:nvPicPr>
        <p:blipFill>
          <a:blip r:embed="rId2"/>
          <a:srcRect t="1921" b="5504"/>
          <a:stretch>
            <a:fillRect/>
          </a:stretch>
        </p:blipFill>
        <p:spPr>
          <a:xfrm>
            <a:off x="20" y="1282"/>
            <a:ext cx="12191980" cy="6856718"/>
          </a:xfrm>
          <a:prstGeom prst="rect">
            <a:avLst/>
          </a:prstGeom>
        </p:spPr>
      </p:pic>
    </p:spTree>
    <p:extLst>
      <p:ext uri="{BB962C8B-B14F-4D97-AF65-F5344CB8AC3E}">
        <p14:creationId xmlns:p14="http://schemas.microsoft.com/office/powerpoint/2010/main" val="37824676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93183-8442-6F60-FC48-EEF1BCCA144C}"/>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5C65621A-4DEE-3C5F-5D7D-11C742F5D065}"/>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2CA90082-0653-9D90-878B-B5F20B5364BF}"/>
              </a:ext>
            </a:extLst>
          </p:cNvPr>
          <p:cNvPicPr>
            <a:picLocks noChangeAspect="1"/>
          </p:cNvPicPr>
          <p:nvPr/>
        </p:nvPicPr>
        <p:blipFill>
          <a:blip r:embed="rId2"/>
          <a:stretch>
            <a:fillRect/>
          </a:stretch>
        </p:blipFill>
        <p:spPr>
          <a:xfrm>
            <a:off x="359636" y="0"/>
            <a:ext cx="11472728" cy="6858000"/>
          </a:xfrm>
          <a:prstGeom prst="rect">
            <a:avLst/>
          </a:prstGeom>
        </p:spPr>
      </p:pic>
    </p:spTree>
    <p:extLst>
      <p:ext uri="{BB962C8B-B14F-4D97-AF65-F5344CB8AC3E}">
        <p14:creationId xmlns:p14="http://schemas.microsoft.com/office/powerpoint/2010/main" val="17889915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0"/>
            <a:ext cx="2174710" cy="1100947"/>
          </a:xfrm>
          <a:prstGeom prst="rect">
            <a:avLst/>
          </a:prstGeom>
          <a:noFill/>
          <a:ln>
            <a:noFill/>
          </a:ln>
        </p:spPr>
      </p:pic>
      <p:sp>
        <p:nvSpPr>
          <p:cNvPr id="5" name="TextBox 4">
            <a:extLst>
              <a:ext uri="{FF2B5EF4-FFF2-40B4-BE49-F238E27FC236}">
                <a16:creationId xmlns:a16="http://schemas.microsoft.com/office/drawing/2014/main" id="{DBFCD3F8-71B0-5785-08AD-6F4D0AF6FED9}"/>
              </a:ext>
            </a:extLst>
          </p:cNvPr>
          <p:cNvSpPr txBox="1"/>
          <p:nvPr/>
        </p:nvSpPr>
        <p:spPr>
          <a:xfrm>
            <a:off x="2430397" y="1697841"/>
            <a:ext cx="7150484" cy="1938992"/>
          </a:xfrm>
          <a:prstGeom prst="rect">
            <a:avLst/>
          </a:prstGeom>
          <a:noFill/>
        </p:spPr>
        <p:txBody>
          <a:bodyPr wrap="square" rtlCol="0">
            <a:spAutoFit/>
          </a:bodyPr>
          <a:lstStyle/>
          <a:p>
            <a:pPr algn="ctr"/>
            <a:r>
              <a:rPr lang="en-IE" sz="4000" b="1" dirty="0">
                <a:solidFill>
                  <a:srgbClr val="009999"/>
                </a:solidFill>
              </a:rPr>
              <a:t>See Workbook 1</a:t>
            </a:r>
          </a:p>
          <a:p>
            <a:pPr algn="ctr"/>
            <a:r>
              <a:rPr lang="en-IE" sz="4000" b="1" dirty="0">
                <a:solidFill>
                  <a:srgbClr val="009999"/>
                </a:solidFill>
              </a:rPr>
              <a:t>For Schedular System </a:t>
            </a:r>
          </a:p>
          <a:p>
            <a:pPr algn="ctr"/>
            <a:r>
              <a:rPr lang="en-IE" sz="4000" b="1" dirty="0">
                <a:solidFill>
                  <a:srgbClr val="009999"/>
                </a:solidFill>
              </a:rPr>
              <a:t>Quiz 3</a:t>
            </a:r>
          </a:p>
        </p:txBody>
      </p:sp>
    </p:spTree>
    <p:extLst>
      <p:ext uri="{BB962C8B-B14F-4D97-AF65-F5344CB8AC3E}">
        <p14:creationId xmlns:p14="http://schemas.microsoft.com/office/powerpoint/2010/main" val="2079408562"/>
      </p:ext>
    </p:extLst>
  </p:cSld>
  <p:clrMapOvr>
    <a:masterClrMapping/>
  </p:clrMapOvr>
  <mc:AlternateContent xmlns:mc="http://schemas.openxmlformats.org/markup-compatibility/2006" xmlns:p14="http://schemas.microsoft.com/office/powerpoint/2010/main">
    <mc:Choice Requires="p14">
      <p:transition spd="slow" p14:dur="2000" advTm="37603"/>
    </mc:Choice>
    <mc:Fallback xmlns="">
      <p:transition spd="slow" advTm="37603"/>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A566-40E4-40A8-9A78-838C1F081521}"/>
              </a:ext>
            </a:extLst>
          </p:cNvPr>
          <p:cNvSpPr>
            <a:spLocks noGrp="1"/>
          </p:cNvSpPr>
          <p:nvPr>
            <p:ph type="ctrTitle" idx="4294967295"/>
          </p:nvPr>
        </p:nvSpPr>
        <p:spPr>
          <a:xfrm>
            <a:off x="1422919" y="883776"/>
            <a:ext cx="9486381" cy="5090447"/>
          </a:xfrm>
        </p:spPr>
        <p:txBody>
          <a:bodyPr>
            <a:normAutofit/>
          </a:bodyPr>
          <a:lstStyle/>
          <a:p>
            <a:pPr algn="ctr">
              <a:lnSpc>
                <a:spcPct val="150000"/>
              </a:lnSpc>
            </a:pPr>
            <a: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t>Recap Unit 1.3</a:t>
            </a:r>
            <a:b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br>
            <a: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t>Schedule D Case I &amp; II</a:t>
            </a:r>
            <a:b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br>
            <a: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t>Computation for an Individual</a:t>
            </a:r>
            <a:b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br>
            <a:endParaRPr lang="en-IE" sz="2000" b="1" dirty="0">
              <a:solidFill>
                <a:srgbClr val="FF0000"/>
              </a:solidFill>
              <a:highlight>
                <a:srgbClr val="FFFF00"/>
              </a:highlight>
              <a:latin typeface="Aptos" panose="020B0004020202020204" pitchFamily="34" charset="0"/>
            </a:endParaRPr>
          </a:p>
        </p:txBody>
      </p:sp>
      <p:sp>
        <p:nvSpPr>
          <p:cNvPr id="11" name="Shape">
            <a:extLst>
              <a:ext uri="{FF2B5EF4-FFF2-40B4-BE49-F238E27FC236}">
                <a16:creationId xmlns:a16="http://schemas.microsoft.com/office/drawing/2014/main" id="{64DA8E4F-486D-4062-82E4-375ECC2F69C1}"/>
              </a:ext>
            </a:extLst>
          </p:cNvPr>
          <p:cNvSpPr/>
          <p:nvPr/>
        </p:nvSpPr>
        <p:spPr>
          <a:xfrm>
            <a:off x="15348" y="6076204"/>
            <a:ext cx="3450590" cy="78422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6687" y="21600"/>
                </a:lnTo>
                <a:lnTo>
                  <a:pt x="21600" y="0"/>
                </a:lnTo>
                <a:lnTo>
                  <a:pt x="4913" y="0"/>
                </a:lnTo>
                <a:close/>
              </a:path>
            </a:pathLst>
          </a:custGeom>
          <a:solidFill>
            <a:srgbClr val="006666"/>
          </a:solidFill>
          <a:ln w="12700">
            <a:miter lim="400000"/>
          </a:ln>
        </p:spPr>
        <p:txBody>
          <a:bodyPr lIns="38100" tIns="38100" rIns="38100" bIns="38100" anchor="ctr"/>
          <a:lstStyle/>
          <a:p>
            <a:endParaRPr lang="en-IE" dirty="0"/>
          </a:p>
        </p:txBody>
      </p:sp>
      <p:sp>
        <p:nvSpPr>
          <p:cNvPr id="12" name="Shape">
            <a:extLst>
              <a:ext uri="{FF2B5EF4-FFF2-40B4-BE49-F238E27FC236}">
                <a16:creationId xmlns:a16="http://schemas.microsoft.com/office/drawing/2014/main" id="{74E26CAA-C8E3-4F5E-9CB9-74135EFED657}"/>
              </a:ext>
            </a:extLst>
          </p:cNvPr>
          <p:cNvSpPr/>
          <p:nvPr/>
        </p:nvSpPr>
        <p:spPr>
          <a:xfrm>
            <a:off x="1717148" y="6508004"/>
            <a:ext cx="1871980" cy="3486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7570" y="21600"/>
                </a:lnTo>
                <a:lnTo>
                  <a:pt x="21600" y="0"/>
                </a:lnTo>
                <a:lnTo>
                  <a:pt x="4030" y="0"/>
                </a:lnTo>
                <a:close/>
              </a:path>
            </a:pathLst>
          </a:custGeom>
          <a:solidFill>
            <a:schemeClr val="tx2">
              <a:lumMod val="60000"/>
              <a:lumOff val="40000"/>
              <a:alpha val="90000"/>
            </a:schemeClr>
          </a:solidFill>
          <a:ln w="12700">
            <a:miter lim="400000"/>
          </a:ln>
        </p:spPr>
        <p:txBody>
          <a:bodyPr lIns="38100" tIns="38100" rIns="38100" bIns="38100" anchor="ctr"/>
          <a:lstStyle/>
          <a:p>
            <a:endParaRPr lang="en-IE" dirty="0"/>
          </a:p>
        </p:txBody>
      </p:sp>
      <p:sp>
        <p:nvSpPr>
          <p:cNvPr id="13" name="Shape">
            <a:extLst>
              <a:ext uri="{FF2B5EF4-FFF2-40B4-BE49-F238E27FC236}">
                <a16:creationId xmlns:a16="http://schemas.microsoft.com/office/drawing/2014/main" id="{94ED9556-F893-4791-8585-8134050D2C7B}"/>
              </a:ext>
            </a:extLst>
          </p:cNvPr>
          <p:cNvSpPr/>
          <p:nvPr/>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4" name="Triangle">
            <a:extLst>
              <a:ext uri="{FF2B5EF4-FFF2-40B4-BE49-F238E27FC236}">
                <a16:creationId xmlns:a16="http://schemas.microsoft.com/office/drawing/2014/main" id="{94D2CDCE-DE5A-459C-926E-3C632ECC7DD6}"/>
              </a:ext>
            </a:extLst>
          </p:cNvPr>
          <p:cNvSpPr/>
          <p:nvPr/>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pic>
        <p:nvPicPr>
          <p:cNvPr id="15" name="Picture 14" descr="Logo, company name&#10;&#10;Description automatically generated">
            <a:extLst>
              <a:ext uri="{FF2B5EF4-FFF2-40B4-BE49-F238E27FC236}">
                <a16:creationId xmlns:a16="http://schemas.microsoft.com/office/drawing/2014/main" id="{EE5DD90D-A358-460E-8209-C13E67514C7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9376464" y="55125"/>
            <a:ext cx="2763520" cy="1447800"/>
          </a:xfrm>
          <a:prstGeom prst="rect">
            <a:avLst/>
          </a:prstGeom>
        </p:spPr>
      </p:pic>
      <p:pic>
        <p:nvPicPr>
          <p:cNvPr id="3" name="Picture 2">
            <a:extLst>
              <a:ext uri="{FF2B5EF4-FFF2-40B4-BE49-F238E27FC236}">
                <a16:creationId xmlns:a16="http://schemas.microsoft.com/office/drawing/2014/main" id="{7432E413-2C77-D76F-1584-164B64A54C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5273" y="228551"/>
            <a:ext cx="2174710" cy="1100947"/>
          </a:xfrm>
          <a:prstGeom prst="rect">
            <a:avLst/>
          </a:prstGeom>
          <a:noFill/>
          <a:ln>
            <a:noFill/>
          </a:ln>
        </p:spPr>
      </p:pic>
    </p:spTree>
    <p:extLst>
      <p:ext uri="{BB962C8B-B14F-4D97-AF65-F5344CB8AC3E}">
        <p14:creationId xmlns:p14="http://schemas.microsoft.com/office/powerpoint/2010/main" val="3531283770"/>
      </p:ext>
    </p:extLst>
  </p:cSld>
  <p:clrMapOvr>
    <a:masterClrMapping/>
  </p:clrMapOvr>
  <mc:AlternateContent xmlns:mc="http://schemas.openxmlformats.org/markup-compatibility/2006" xmlns:p14="http://schemas.microsoft.com/office/powerpoint/2010/main">
    <mc:Choice Requires="p14">
      <p:transition spd="slow" p14:dur="2000" advTm="21140"/>
    </mc:Choice>
    <mc:Fallback xmlns="">
      <p:transition spd="slow" advTm="2114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93183-8442-6F60-FC48-EEF1BCCA144C}"/>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5C65621A-4DEE-3C5F-5D7D-11C742F5D065}"/>
              </a:ext>
            </a:extLst>
          </p:cNvPr>
          <p:cNvSpPr>
            <a:spLocks noGrp="1"/>
          </p:cNvSpPr>
          <p:nvPr>
            <p:ph idx="1"/>
          </p:nvPr>
        </p:nvSpPr>
        <p:spPr/>
        <p:txBody>
          <a:bodyPr/>
          <a:lstStyle/>
          <a:p>
            <a:endParaRPr lang="en-IE" dirty="0"/>
          </a:p>
        </p:txBody>
      </p:sp>
      <p:pic>
        <p:nvPicPr>
          <p:cNvPr id="6" name="Picture 5">
            <a:extLst>
              <a:ext uri="{FF2B5EF4-FFF2-40B4-BE49-F238E27FC236}">
                <a16:creationId xmlns:a16="http://schemas.microsoft.com/office/drawing/2014/main" id="{02227BCC-437E-409C-10DD-DDD6BCDA4EA5}"/>
              </a:ext>
            </a:extLst>
          </p:cNvPr>
          <p:cNvPicPr>
            <a:picLocks noChangeAspect="1"/>
          </p:cNvPicPr>
          <p:nvPr/>
        </p:nvPicPr>
        <p:blipFill>
          <a:blip r:embed="rId2"/>
          <a:stretch>
            <a:fillRect/>
          </a:stretch>
        </p:blipFill>
        <p:spPr>
          <a:xfrm>
            <a:off x="458098" y="42376"/>
            <a:ext cx="11242005" cy="6815623"/>
          </a:xfrm>
          <a:prstGeom prst="rect">
            <a:avLst/>
          </a:prstGeom>
        </p:spPr>
      </p:pic>
    </p:spTree>
    <p:extLst>
      <p:ext uri="{BB962C8B-B14F-4D97-AF65-F5344CB8AC3E}">
        <p14:creationId xmlns:p14="http://schemas.microsoft.com/office/powerpoint/2010/main" val="5349059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70A0-0C0C-63D9-0E8D-54760B3BB4CB}"/>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A0407046-69BE-ED38-DCA3-B88FA8406EE7}"/>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3D24B510-38FA-CA1F-4912-9F4E412947E0}"/>
              </a:ext>
            </a:extLst>
          </p:cNvPr>
          <p:cNvPicPr>
            <a:picLocks noChangeAspect="1"/>
          </p:cNvPicPr>
          <p:nvPr/>
        </p:nvPicPr>
        <p:blipFill>
          <a:blip r:embed="rId2"/>
          <a:stretch>
            <a:fillRect/>
          </a:stretch>
        </p:blipFill>
        <p:spPr>
          <a:xfrm>
            <a:off x="481483" y="0"/>
            <a:ext cx="11229033" cy="6858000"/>
          </a:xfrm>
          <a:prstGeom prst="rect">
            <a:avLst/>
          </a:prstGeom>
        </p:spPr>
      </p:pic>
    </p:spTree>
    <p:extLst>
      <p:ext uri="{BB962C8B-B14F-4D97-AF65-F5344CB8AC3E}">
        <p14:creationId xmlns:p14="http://schemas.microsoft.com/office/powerpoint/2010/main" val="31449525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screenshot of a computer screen&#10;&#10;AI-generated content may be incorrect.">
            <a:extLst>
              <a:ext uri="{FF2B5EF4-FFF2-40B4-BE49-F238E27FC236}">
                <a16:creationId xmlns:a16="http://schemas.microsoft.com/office/drawing/2014/main" id="{3BC1159A-161B-0D37-1DEE-6762155C6DB9}"/>
              </a:ext>
            </a:extLst>
          </p:cNvPr>
          <p:cNvPicPr>
            <a:picLocks noGrp="1" noChangeAspect="1"/>
          </p:cNvPicPr>
          <p:nvPr>
            <p:ph idx="1"/>
          </p:nvPr>
        </p:nvPicPr>
        <p:blipFill>
          <a:blip r:embed="rId3"/>
          <a:srcRect b="5858"/>
          <a:stretch>
            <a:fillRect/>
          </a:stretch>
        </p:blipFill>
        <p:spPr>
          <a:xfrm>
            <a:off x="0" y="-101590"/>
            <a:ext cx="12191979" cy="6857988"/>
          </a:xfrm>
          <a:prstGeom prst="rect">
            <a:avLst/>
          </a:prstGeom>
          <a:effectLst>
            <a:outerShdw blurRad="596900" dist="330200" dir="8820000" sx="87000" sy="87000" algn="ctr" rotWithShape="0">
              <a:srgbClr val="000000">
                <a:alpha val="29000"/>
              </a:srgbClr>
            </a:outerShdw>
          </a:effectLst>
        </p:spPr>
      </p:pic>
      <p:sp>
        <p:nvSpPr>
          <p:cNvPr id="2" name="TextBox 1">
            <a:extLst>
              <a:ext uri="{FF2B5EF4-FFF2-40B4-BE49-F238E27FC236}">
                <a16:creationId xmlns:a16="http://schemas.microsoft.com/office/drawing/2014/main" id="{5BBC04F0-BC1F-A17C-42B4-E8FB6E31DDCB}"/>
              </a:ext>
            </a:extLst>
          </p:cNvPr>
          <p:cNvSpPr txBox="1"/>
          <p:nvPr/>
        </p:nvSpPr>
        <p:spPr>
          <a:xfrm>
            <a:off x="3140364" y="4036291"/>
            <a:ext cx="5089236" cy="369332"/>
          </a:xfrm>
          <a:prstGeom prst="rect">
            <a:avLst/>
          </a:prstGeom>
          <a:noFill/>
        </p:spPr>
        <p:txBody>
          <a:bodyPr wrap="square" rtlCol="0">
            <a:spAutoFit/>
          </a:bodyPr>
          <a:lstStyle/>
          <a:p>
            <a:r>
              <a:rPr lang="en-IE" dirty="0"/>
              <a:t>e.g. bank loan or profit from sale of an asset</a:t>
            </a:r>
          </a:p>
        </p:txBody>
      </p:sp>
      <p:sp>
        <p:nvSpPr>
          <p:cNvPr id="3" name="TextBox 2">
            <a:extLst>
              <a:ext uri="{FF2B5EF4-FFF2-40B4-BE49-F238E27FC236}">
                <a16:creationId xmlns:a16="http://schemas.microsoft.com/office/drawing/2014/main" id="{D46009DB-57EF-DB0D-10FC-581D69E83693}"/>
              </a:ext>
            </a:extLst>
          </p:cNvPr>
          <p:cNvSpPr txBox="1"/>
          <p:nvPr/>
        </p:nvSpPr>
        <p:spPr>
          <a:xfrm>
            <a:off x="5761182" y="4923110"/>
            <a:ext cx="3078018" cy="369332"/>
          </a:xfrm>
          <a:prstGeom prst="rect">
            <a:avLst/>
          </a:prstGeom>
          <a:noFill/>
        </p:spPr>
        <p:txBody>
          <a:bodyPr wrap="square" rtlCol="0">
            <a:spAutoFit/>
          </a:bodyPr>
          <a:lstStyle/>
          <a:p>
            <a:r>
              <a:rPr lang="en-IE" dirty="0">
                <a:solidFill>
                  <a:schemeClr val="accent2"/>
                </a:solidFill>
              </a:rPr>
              <a:t>e.g. Trade capital allowances</a:t>
            </a:r>
          </a:p>
        </p:txBody>
      </p:sp>
      <p:sp>
        <p:nvSpPr>
          <p:cNvPr id="4" name="TextBox 3">
            <a:extLst>
              <a:ext uri="{FF2B5EF4-FFF2-40B4-BE49-F238E27FC236}">
                <a16:creationId xmlns:a16="http://schemas.microsoft.com/office/drawing/2014/main" id="{719A75D8-F3C7-7ECB-B136-7DFF194039A4}"/>
              </a:ext>
            </a:extLst>
          </p:cNvPr>
          <p:cNvSpPr txBox="1"/>
          <p:nvPr/>
        </p:nvSpPr>
        <p:spPr>
          <a:xfrm>
            <a:off x="3140364" y="2124491"/>
            <a:ext cx="3048000" cy="369332"/>
          </a:xfrm>
          <a:prstGeom prst="rect">
            <a:avLst/>
          </a:prstGeom>
          <a:noFill/>
        </p:spPr>
        <p:txBody>
          <a:bodyPr wrap="square" rtlCol="0">
            <a:spAutoFit/>
          </a:bodyPr>
          <a:lstStyle/>
          <a:p>
            <a:r>
              <a:rPr lang="en-IE" dirty="0">
                <a:solidFill>
                  <a:schemeClr val="accent2"/>
                </a:solidFill>
              </a:rPr>
              <a:t>RTB note e.g. cost of assets</a:t>
            </a:r>
          </a:p>
        </p:txBody>
      </p:sp>
      <p:sp>
        <p:nvSpPr>
          <p:cNvPr id="6" name="TextBox 5">
            <a:extLst>
              <a:ext uri="{FF2B5EF4-FFF2-40B4-BE49-F238E27FC236}">
                <a16:creationId xmlns:a16="http://schemas.microsoft.com/office/drawing/2014/main" id="{D39C2C4E-D764-C178-A460-F5B93FFF2ADF}"/>
              </a:ext>
            </a:extLst>
          </p:cNvPr>
          <p:cNvSpPr txBox="1"/>
          <p:nvPr/>
        </p:nvSpPr>
        <p:spPr>
          <a:xfrm>
            <a:off x="6692900" y="482600"/>
            <a:ext cx="4229100" cy="369332"/>
          </a:xfrm>
          <a:prstGeom prst="rect">
            <a:avLst/>
          </a:prstGeom>
          <a:noFill/>
        </p:spPr>
        <p:txBody>
          <a:bodyPr wrap="square" rtlCol="0">
            <a:spAutoFit/>
          </a:bodyPr>
          <a:lstStyle/>
          <a:p>
            <a:r>
              <a:rPr lang="en-IE" dirty="0">
                <a:solidFill>
                  <a:schemeClr val="accent2"/>
                </a:solidFill>
              </a:rPr>
              <a:t>RTB note: Case I/II tax adjusted profit</a:t>
            </a:r>
          </a:p>
        </p:txBody>
      </p:sp>
      <p:sp>
        <p:nvSpPr>
          <p:cNvPr id="7" name="TextBox 6">
            <a:extLst>
              <a:ext uri="{FF2B5EF4-FFF2-40B4-BE49-F238E27FC236}">
                <a16:creationId xmlns:a16="http://schemas.microsoft.com/office/drawing/2014/main" id="{32CCE4EE-6FC4-4014-E8C2-9F89082E1E29}"/>
              </a:ext>
            </a:extLst>
          </p:cNvPr>
          <p:cNvSpPr txBox="1"/>
          <p:nvPr/>
        </p:nvSpPr>
        <p:spPr>
          <a:xfrm>
            <a:off x="4127500" y="3465885"/>
            <a:ext cx="8064479" cy="369332"/>
          </a:xfrm>
          <a:prstGeom prst="rect">
            <a:avLst/>
          </a:prstGeom>
          <a:noFill/>
        </p:spPr>
        <p:txBody>
          <a:bodyPr wrap="square" rtlCol="0">
            <a:spAutoFit/>
          </a:bodyPr>
          <a:lstStyle/>
          <a:p>
            <a:r>
              <a:rPr lang="en-IE" dirty="0">
                <a:solidFill>
                  <a:schemeClr val="accent2"/>
                </a:solidFill>
              </a:rPr>
              <a:t>RTB note: Misleading heading, possibly should say non-trading income</a:t>
            </a:r>
          </a:p>
        </p:txBody>
      </p:sp>
    </p:spTree>
    <p:extLst>
      <p:ext uri="{BB962C8B-B14F-4D97-AF65-F5344CB8AC3E}">
        <p14:creationId xmlns:p14="http://schemas.microsoft.com/office/powerpoint/2010/main" val="33281104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B0F23727-6F9A-A756-52C9-A908C83D18FB}"/>
              </a:ext>
            </a:extLst>
          </p:cNvPr>
          <p:cNvPicPr>
            <a:picLocks noGrp="1" noChangeAspect="1"/>
          </p:cNvPicPr>
          <p:nvPr>
            <p:ph idx="1"/>
          </p:nvPr>
        </p:nvPicPr>
        <p:blipFill>
          <a:blip r:embed="rId2"/>
          <a:srcRect t="2615"/>
          <a:stretch>
            <a:fillRect/>
          </a:stretch>
        </p:blipFill>
        <p:spPr>
          <a:xfrm>
            <a:off x="20" y="1282"/>
            <a:ext cx="12191980" cy="6856718"/>
          </a:xfrm>
          <a:prstGeom prst="rect">
            <a:avLst/>
          </a:prstGeom>
        </p:spPr>
      </p:pic>
    </p:spTree>
    <p:extLst>
      <p:ext uri="{BB962C8B-B14F-4D97-AF65-F5344CB8AC3E}">
        <p14:creationId xmlns:p14="http://schemas.microsoft.com/office/powerpoint/2010/main" val="32987618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 screen&#10;&#10;AI-generated content may be incorrect.">
            <a:extLst>
              <a:ext uri="{FF2B5EF4-FFF2-40B4-BE49-F238E27FC236}">
                <a16:creationId xmlns:a16="http://schemas.microsoft.com/office/drawing/2014/main" id="{8CC1250C-61B8-9936-1819-269D81D88560}"/>
              </a:ext>
            </a:extLst>
          </p:cNvPr>
          <p:cNvPicPr>
            <a:picLocks noGrp="1" noChangeAspect="1"/>
          </p:cNvPicPr>
          <p:nvPr>
            <p:ph idx="1"/>
          </p:nvPr>
        </p:nvPicPr>
        <p:blipFill>
          <a:blip r:embed="rId2"/>
          <a:srcRect t="1923" b="5102"/>
          <a:stretch>
            <a:fillRect/>
          </a:stretch>
        </p:blipFill>
        <p:spPr>
          <a:xfrm>
            <a:off x="20" y="1"/>
            <a:ext cx="12191979" cy="6858000"/>
          </a:xfrm>
          <a:prstGeom prst="rect">
            <a:avLst/>
          </a:prstGeom>
        </p:spPr>
      </p:pic>
    </p:spTree>
    <p:extLst>
      <p:ext uri="{BB962C8B-B14F-4D97-AF65-F5344CB8AC3E}">
        <p14:creationId xmlns:p14="http://schemas.microsoft.com/office/powerpoint/2010/main" val="6390813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5" name="Content Placeholder 4" descr="A screenshot of a computer screen&#10;&#10;AI-generated content may be incorrect.">
            <a:extLst>
              <a:ext uri="{FF2B5EF4-FFF2-40B4-BE49-F238E27FC236}">
                <a16:creationId xmlns:a16="http://schemas.microsoft.com/office/drawing/2014/main" id="{62081CA6-8E44-4E2A-1D0E-9D99863BBE8D}"/>
              </a:ext>
            </a:extLst>
          </p:cNvPr>
          <p:cNvPicPr>
            <a:picLocks noGrp="1" noChangeAspect="1"/>
          </p:cNvPicPr>
          <p:nvPr>
            <p:ph idx="1"/>
          </p:nvPr>
        </p:nvPicPr>
        <p:blipFill>
          <a:blip r:embed="rId2"/>
          <a:srcRect t="4140" b="1340"/>
          <a:stretch>
            <a:fillRect/>
          </a:stretch>
        </p:blipFill>
        <p:spPr>
          <a:xfrm>
            <a:off x="20" y="1282"/>
            <a:ext cx="12191980" cy="6856718"/>
          </a:xfrm>
          <a:prstGeom prst="rect">
            <a:avLst/>
          </a:prstGeom>
        </p:spPr>
      </p:pic>
    </p:spTree>
    <p:extLst>
      <p:ext uri="{BB962C8B-B14F-4D97-AF65-F5344CB8AC3E}">
        <p14:creationId xmlns:p14="http://schemas.microsoft.com/office/powerpoint/2010/main" val="8458462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4A9A7-0493-0D70-832C-3ECAB1D8919D}"/>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7774C290-BF94-1869-A643-8A9EBDB4F497}"/>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03B7A28B-3472-91B1-7AB2-6830EE693EB3}"/>
              </a:ext>
            </a:extLst>
          </p:cNvPr>
          <p:cNvPicPr>
            <a:picLocks noChangeAspect="1"/>
          </p:cNvPicPr>
          <p:nvPr/>
        </p:nvPicPr>
        <p:blipFill>
          <a:blip r:embed="rId2"/>
          <a:stretch>
            <a:fillRect/>
          </a:stretch>
        </p:blipFill>
        <p:spPr>
          <a:xfrm>
            <a:off x="475203" y="0"/>
            <a:ext cx="11241593" cy="6858000"/>
          </a:xfrm>
          <a:prstGeom prst="rect">
            <a:avLst/>
          </a:prstGeom>
        </p:spPr>
      </p:pic>
    </p:spTree>
    <p:extLst>
      <p:ext uri="{BB962C8B-B14F-4D97-AF65-F5344CB8AC3E}">
        <p14:creationId xmlns:p14="http://schemas.microsoft.com/office/powerpoint/2010/main" val="36287526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7409F-B108-2BE8-D94C-22639419092C}"/>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3CD2EBC2-DE6F-15D7-29CA-D1ED9A2CB246}"/>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7C2AED35-8DF6-EDDD-8BF6-15C65B5B0A80}"/>
              </a:ext>
            </a:extLst>
          </p:cNvPr>
          <p:cNvPicPr>
            <a:picLocks noChangeAspect="1"/>
          </p:cNvPicPr>
          <p:nvPr/>
        </p:nvPicPr>
        <p:blipFill>
          <a:blip r:embed="rId2"/>
          <a:stretch>
            <a:fillRect/>
          </a:stretch>
        </p:blipFill>
        <p:spPr>
          <a:xfrm>
            <a:off x="460839" y="1"/>
            <a:ext cx="11270317" cy="6858000"/>
          </a:xfrm>
          <a:prstGeom prst="rect">
            <a:avLst/>
          </a:prstGeom>
        </p:spPr>
      </p:pic>
    </p:spTree>
    <p:extLst>
      <p:ext uri="{BB962C8B-B14F-4D97-AF65-F5344CB8AC3E}">
        <p14:creationId xmlns:p14="http://schemas.microsoft.com/office/powerpoint/2010/main" val="21048444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F1F18-6466-5A69-C928-297430326860}"/>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300C0E8A-A72B-89C2-2A9E-BDEA2D579976}"/>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82854AB6-CA83-A29E-C568-5D7AFE29B892}"/>
              </a:ext>
            </a:extLst>
          </p:cNvPr>
          <p:cNvPicPr>
            <a:picLocks noChangeAspect="1"/>
          </p:cNvPicPr>
          <p:nvPr/>
        </p:nvPicPr>
        <p:blipFill>
          <a:blip r:embed="rId2"/>
          <a:stretch>
            <a:fillRect/>
          </a:stretch>
        </p:blipFill>
        <p:spPr>
          <a:xfrm>
            <a:off x="381001" y="16390"/>
            <a:ext cx="11402681" cy="6841609"/>
          </a:xfrm>
          <a:prstGeom prst="rect">
            <a:avLst/>
          </a:prstGeom>
        </p:spPr>
      </p:pic>
    </p:spTree>
    <p:extLst>
      <p:ext uri="{BB962C8B-B14F-4D97-AF65-F5344CB8AC3E}">
        <p14:creationId xmlns:p14="http://schemas.microsoft.com/office/powerpoint/2010/main" val="23482807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0"/>
            <a:ext cx="2174710" cy="1100947"/>
          </a:xfrm>
          <a:prstGeom prst="rect">
            <a:avLst/>
          </a:prstGeom>
          <a:noFill/>
          <a:ln>
            <a:noFill/>
          </a:ln>
        </p:spPr>
      </p:pic>
      <p:sp>
        <p:nvSpPr>
          <p:cNvPr id="5" name="TextBox 4">
            <a:extLst>
              <a:ext uri="{FF2B5EF4-FFF2-40B4-BE49-F238E27FC236}">
                <a16:creationId xmlns:a16="http://schemas.microsoft.com/office/drawing/2014/main" id="{DBFCD3F8-71B0-5785-08AD-6F4D0AF6FED9}"/>
              </a:ext>
            </a:extLst>
          </p:cNvPr>
          <p:cNvSpPr txBox="1"/>
          <p:nvPr/>
        </p:nvSpPr>
        <p:spPr>
          <a:xfrm>
            <a:off x="497456" y="1276350"/>
            <a:ext cx="11197087" cy="1938992"/>
          </a:xfrm>
          <a:prstGeom prst="rect">
            <a:avLst/>
          </a:prstGeom>
          <a:noFill/>
        </p:spPr>
        <p:txBody>
          <a:bodyPr wrap="square" rtlCol="0">
            <a:spAutoFit/>
          </a:bodyPr>
          <a:lstStyle/>
          <a:p>
            <a:pPr algn="ctr"/>
            <a:r>
              <a:rPr lang="en-IE" sz="4000" b="1" dirty="0">
                <a:solidFill>
                  <a:srgbClr val="009999"/>
                </a:solidFill>
              </a:rPr>
              <a:t>See Workbook 1 for </a:t>
            </a:r>
          </a:p>
          <a:p>
            <a:pPr algn="ctr"/>
            <a:r>
              <a:rPr lang="en-IE" sz="4000" b="1" dirty="0">
                <a:solidFill>
                  <a:srgbClr val="009999"/>
                </a:solidFill>
              </a:rPr>
              <a:t>Quiz number 4 </a:t>
            </a:r>
          </a:p>
          <a:p>
            <a:pPr algn="ctr"/>
            <a:r>
              <a:rPr lang="en-IE" sz="4000" b="1" dirty="0">
                <a:solidFill>
                  <a:srgbClr val="009999"/>
                </a:solidFill>
              </a:rPr>
              <a:t>Addbacks</a:t>
            </a:r>
          </a:p>
        </p:txBody>
      </p:sp>
    </p:spTree>
    <p:extLst>
      <p:ext uri="{BB962C8B-B14F-4D97-AF65-F5344CB8AC3E}">
        <p14:creationId xmlns:p14="http://schemas.microsoft.com/office/powerpoint/2010/main" val="4266050536"/>
      </p:ext>
    </p:extLst>
  </p:cSld>
  <p:clrMapOvr>
    <a:masterClrMapping/>
  </p:clrMapOvr>
  <mc:AlternateContent xmlns:mc="http://schemas.openxmlformats.org/markup-compatibility/2006" xmlns:p14="http://schemas.microsoft.com/office/powerpoint/2010/main">
    <mc:Choice Requires="p14">
      <p:transition spd="slow" p14:dur="2000" advTm="37603"/>
    </mc:Choice>
    <mc:Fallback xmlns="">
      <p:transition spd="slow" advTm="37603"/>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71856-FD0E-C759-3213-BE8D362E9A7A}"/>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848B57F-8996-2F6B-28A7-7C8EE73B3B6F}"/>
              </a:ext>
            </a:extLst>
          </p:cNvPr>
          <p:cNvSpPr>
            <a:spLocks noGrp="1"/>
          </p:cNvSpPr>
          <p:nvPr>
            <p:ph sz="half" idx="1"/>
          </p:nvPr>
        </p:nvSpPr>
        <p:spPr>
          <a:xfrm>
            <a:off x="838200" y="416561"/>
            <a:ext cx="10876722" cy="5591592"/>
          </a:xfrm>
        </p:spPr>
        <p:txBody>
          <a:bodyPr>
            <a:noAutofit/>
          </a:bodyPr>
          <a:lstStyle/>
          <a:p>
            <a:pPr marL="0" indent="0" algn="ctr">
              <a:lnSpc>
                <a:spcPct val="120000"/>
              </a:lnSpc>
              <a:buNone/>
            </a:pPr>
            <a:r>
              <a:rPr lang="en-IE" sz="4400" b="1" dirty="0">
                <a:solidFill>
                  <a:srgbClr val="009999"/>
                </a:solidFill>
              </a:rPr>
              <a:t>Basis of Assessment for Case I/II</a:t>
            </a:r>
          </a:p>
          <a:p>
            <a:pPr marL="0" indent="0" algn="ctr">
              <a:lnSpc>
                <a:spcPct val="120000"/>
              </a:lnSpc>
              <a:buNone/>
            </a:pPr>
            <a:r>
              <a:rPr lang="en-IE" sz="4400" b="1" dirty="0">
                <a:solidFill>
                  <a:srgbClr val="009999"/>
                </a:solidFill>
              </a:rPr>
              <a:t>Commencement, Cessation &amp; Change of Accounting Date</a:t>
            </a:r>
            <a:br>
              <a:rPr lang="en-IE" sz="4400" b="1" dirty="0">
                <a:solidFill>
                  <a:srgbClr val="009999"/>
                </a:solidFill>
              </a:rPr>
            </a:br>
            <a:r>
              <a:rPr lang="en-IE" sz="4400" b="1" dirty="0">
                <a:solidFill>
                  <a:srgbClr val="009999"/>
                </a:solidFill>
              </a:rPr>
              <a:t>of a Trade or Profession</a:t>
            </a:r>
          </a:p>
          <a:p>
            <a:pPr marL="0" indent="0" algn="ctr">
              <a:lnSpc>
                <a:spcPct val="120000"/>
              </a:lnSpc>
              <a:buNone/>
            </a:pPr>
            <a:r>
              <a:rPr lang="en-IE" sz="4400" b="1" dirty="0">
                <a:solidFill>
                  <a:srgbClr val="009999"/>
                </a:solidFill>
              </a:rPr>
              <a:t>(Unit 1.4) </a:t>
            </a:r>
          </a:p>
          <a:p>
            <a:pPr marL="0" indent="0" algn="ctr">
              <a:lnSpc>
                <a:spcPct val="120000"/>
              </a:lnSpc>
              <a:buNone/>
            </a:pPr>
            <a:endParaRPr lang="en-IE" sz="4800" b="1" dirty="0">
              <a:solidFill>
                <a:srgbClr val="006666"/>
              </a:solidFill>
            </a:endParaRPr>
          </a:p>
          <a:p>
            <a:pPr marL="0" indent="0" algn="ctr">
              <a:lnSpc>
                <a:spcPct val="120000"/>
              </a:lnSpc>
              <a:buNone/>
            </a:pPr>
            <a:br>
              <a:rPr lang="en-IE" sz="2000" dirty="0">
                <a:solidFill>
                  <a:srgbClr val="006666"/>
                </a:solidFill>
              </a:rPr>
            </a:br>
            <a:br>
              <a:rPr lang="en-IE" sz="4800" dirty="0">
                <a:solidFill>
                  <a:srgbClr val="006666"/>
                </a:solidFill>
              </a:rPr>
            </a:br>
            <a:endParaRPr lang="en-IE" sz="4800" dirty="0">
              <a:solidFill>
                <a:srgbClr val="006666"/>
              </a:solidFill>
            </a:endParaRPr>
          </a:p>
        </p:txBody>
      </p:sp>
      <p:pic>
        <p:nvPicPr>
          <p:cNvPr id="5" name="Picture 4">
            <a:extLst>
              <a:ext uri="{FF2B5EF4-FFF2-40B4-BE49-F238E27FC236}">
                <a16:creationId xmlns:a16="http://schemas.microsoft.com/office/drawing/2014/main" id="{936F4BA2-0D7B-99D8-A1C6-22608DB26CEE}"/>
              </a:ext>
            </a:extLst>
          </p:cNvPr>
          <p:cNvPicPr>
            <a:picLocks noChangeAspect="1"/>
          </p:cNvPicPr>
          <p:nvPr/>
        </p:nvPicPr>
        <p:blipFill>
          <a:blip r:embed="rId3"/>
          <a:stretch>
            <a:fillRect/>
          </a:stretch>
        </p:blipFill>
        <p:spPr>
          <a:xfrm>
            <a:off x="0" y="6069"/>
            <a:ext cx="1227083" cy="622135"/>
          </a:xfrm>
          <a:prstGeom prst="rect">
            <a:avLst/>
          </a:prstGeom>
        </p:spPr>
      </p:pic>
      <p:pic>
        <p:nvPicPr>
          <p:cNvPr id="6" name="Picture 5">
            <a:extLst>
              <a:ext uri="{FF2B5EF4-FFF2-40B4-BE49-F238E27FC236}">
                <a16:creationId xmlns:a16="http://schemas.microsoft.com/office/drawing/2014/main" id="{70EEF8D1-1A19-3962-5027-CC253C9C184B}"/>
              </a:ext>
            </a:extLst>
          </p:cNvPr>
          <p:cNvPicPr>
            <a:picLocks noChangeAspect="1"/>
          </p:cNvPicPr>
          <p:nvPr/>
        </p:nvPicPr>
        <p:blipFill>
          <a:blip r:embed="rId4"/>
          <a:stretch>
            <a:fillRect/>
          </a:stretch>
        </p:blipFill>
        <p:spPr>
          <a:xfrm>
            <a:off x="613541" y="2320606"/>
            <a:ext cx="2109153" cy="2109153"/>
          </a:xfrm>
          <a:prstGeom prst="rect">
            <a:avLst/>
          </a:prstGeom>
        </p:spPr>
      </p:pic>
      <p:pic>
        <p:nvPicPr>
          <p:cNvPr id="7" name="Picture 6">
            <a:extLst>
              <a:ext uri="{FF2B5EF4-FFF2-40B4-BE49-F238E27FC236}">
                <a16:creationId xmlns:a16="http://schemas.microsoft.com/office/drawing/2014/main" id="{93FC5474-FE24-C07B-8F64-BB793E1E3894}"/>
              </a:ext>
            </a:extLst>
          </p:cNvPr>
          <p:cNvPicPr>
            <a:picLocks noChangeAspect="1"/>
          </p:cNvPicPr>
          <p:nvPr/>
        </p:nvPicPr>
        <p:blipFill>
          <a:blip r:embed="rId5"/>
          <a:stretch>
            <a:fillRect/>
          </a:stretch>
        </p:blipFill>
        <p:spPr>
          <a:xfrm>
            <a:off x="5791200" y="4638593"/>
            <a:ext cx="1217769" cy="1217769"/>
          </a:xfrm>
          <a:prstGeom prst="rect">
            <a:avLst/>
          </a:prstGeom>
        </p:spPr>
      </p:pic>
      <p:pic>
        <p:nvPicPr>
          <p:cNvPr id="8" name="Picture 7">
            <a:extLst>
              <a:ext uri="{FF2B5EF4-FFF2-40B4-BE49-F238E27FC236}">
                <a16:creationId xmlns:a16="http://schemas.microsoft.com/office/drawing/2014/main" id="{75CB0699-738D-BB2F-83CC-01800221479A}"/>
              </a:ext>
            </a:extLst>
          </p:cNvPr>
          <p:cNvPicPr>
            <a:picLocks noChangeAspect="1"/>
          </p:cNvPicPr>
          <p:nvPr/>
        </p:nvPicPr>
        <p:blipFill>
          <a:blip r:embed="rId6"/>
          <a:stretch>
            <a:fillRect/>
          </a:stretch>
        </p:blipFill>
        <p:spPr>
          <a:xfrm>
            <a:off x="10096691" y="2320606"/>
            <a:ext cx="1744321" cy="1744321"/>
          </a:xfrm>
          <a:prstGeom prst="rect">
            <a:avLst/>
          </a:prstGeom>
        </p:spPr>
      </p:pic>
    </p:spTree>
    <p:extLst>
      <p:ext uri="{BB962C8B-B14F-4D97-AF65-F5344CB8AC3E}">
        <p14:creationId xmlns:p14="http://schemas.microsoft.com/office/powerpoint/2010/main" val="41178102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7EAA-416A-4B68-BB96-8B16C750B44E}"/>
              </a:ext>
            </a:extLst>
          </p:cNvPr>
          <p:cNvSpPr>
            <a:spLocks noGrp="1"/>
          </p:cNvSpPr>
          <p:nvPr>
            <p:ph type="title" idx="4294967295"/>
          </p:nvPr>
        </p:nvSpPr>
        <p:spPr>
          <a:xfrm>
            <a:off x="24792" y="1"/>
            <a:ext cx="12167208" cy="1276350"/>
          </a:xfrm>
        </p:spPr>
        <p:txBody>
          <a:bodyPr>
            <a:normAutofit/>
          </a:bodyPr>
          <a:lstStyle/>
          <a:p>
            <a:pPr algn="ctr"/>
            <a:r>
              <a:rPr kumimoji="0" lang="en-IE" sz="3600" b="1" i="0" u="none" strike="noStrike" kern="0" cap="none" spc="0" normalizeH="0" baseline="0" noProof="0" dirty="0">
                <a:ln>
                  <a:noFill/>
                </a:ln>
                <a:solidFill>
                  <a:srgbClr val="009999"/>
                </a:solidFill>
                <a:effectLst/>
                <a:uLnTx/>
                <a:uFillTx/>
                <a:latin typeface="Aptos" panose="020B0004020202020204" pitchFamily="34" charset="0"/>
              </a:rPr>
              <a:t>Learning Objectives</a:t>
            </a:r>
            <a:endParaRPr lang="en-IE" sz="3600"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0"/>
            <a:ext cx="2174710" cy="1100947"/>
          </a:xfrm>
          <a:prstGeom prst="rect">
            <a:avLst/>
          </a:prstGeom>
          <a:noFill/>
          <a:ln>
            <a:noFill/>
          </a:ln>
        </p:spPr>
      </p:pic>
      <p:sp>
        <p:nvSpPr>
          <p:cNvPr id="7" name="TextBox 6">
            <a:extLst>
              <a:ext uri="{FF2B5EF4-FFF2-40B4-BE49-F238E27FC236}">
                <a16:creationId xmlns:a16="http://schemas.microsoft.com/office/drawing/2014/main" id="{3D6907CC-A9C6-CDC3-E293-8362C38511F7}"/>
              </a:ext>
            </a:extLst>
          </p:cNvPr>
          <p:cNvSpPr txBox="1"/>
          <p:nvPr/>
        </p:nvSpPr>
        <p:spPr>
          <a:xfrm>
            <a:off x="426595" y="1276351"/>
            <a:ext cx="11338809" cy="4918591"/>
          </a:xfrm>
          <a:prstGeom prst="rect">
            <a:avLst/>
          </a:prstGeom>
          <a:noFill/>
        </p:spPr>
        <p:txBody>
          <a:bodyPr wrap="square" rtlCol="0">
            <a:spAutoFit/>
          </a:bodyPr>
          <a:lstStyle/>
          <a:p>
            <a:pPr marR="0" lvl="0" algn="l" defTabSz="914400" rtl="0" eaLnBrk="0" fontAlgn="base" latinLnBrk="0" hangingPunct="0">
              <a:lnSpc>
                <a:spcPct val="150000"/>
              </a:lnSpc>
              <a:spcBef>
                <a:spcPct val="20000"/>
              </a:spcBef>
              <a:spcAft>
                <a:spcPct val="0"/>
              </a:spcAft>
              <a:buClr>
                <a:srgbClr val="003366"/>
              </a:buClr>
              <a:buSzPct val="75000"/>
              <a:tabLst/>
              <a:defRPr/>
            </a:pPr>
            <a:r>
              <a:rPr lang="en-IE" sz="2600" kern="0" dirty="0">
                <a:solidFill>
                  <a:srgbClr val="003366"/>
                </a:solidFill>
                <a:latin typeface="Arial"/>
              </a:rPr>
              <a:t>Basis of Assessment rules for the taxation of profits arising for sole traders including:</a:t>
            </a:r>
          </a:p>
          <a:p>
            <a:pPr lvl="2" eaLnBrk="0" fontAlgn="base" hangingPunct="0">
              <a:lnSpc>
                <a:spcPct val="150000"/>
              </a:lnSpc>
              <a:spcBef>
                <a:spcPct val="20000"/>
              </a:spcBef>
              <a:spcAft>
                <a:spcPct val="0"/>
              </a:spcAft>
              <a:buClr>
                <a:srgbClr val="003366"/>
              </a:buClr>
              <a:buSzPct val="75000"/>
              <a:defRPr/>
            </a:pPr>
            <a:endParaRPr lang="en-IE" sz="1500" kern="0" dirty="0">
              <a:solidFill>
                <a:srgbClr val="003366"/>
              </a:solidFill>
              <a:latin typeface="Arial"/>
            </a:endParaRPr>
          </a:p>
          <a:p>
            <a:pPr marL="1371600" lvl="2" indent="-457200" eaLnBrk="0" fontAlgn="base" hangingPunct="0">
              <a:lnSpc>
                <a:spcPct val="150000"/>
              </a:lnSpc>
              <a:spcBef>
                <a:spcPct val="20000"/>
              </a:spcBef>
              <a:spcAft>
                <a:spcPct val="0"/>
              </a:spcAft>
              <a:buClr>
                <a:srgbClr val="003366"/>
              </a:buClr>
              <a:buSzPct val="75000"/>
              <a:buFont typeface="+mj-lt"/>
              <a:buAutoNum type="arabicPeriod"/>
              <a:defRPr/>
            </a:pPr>
            <a:r>
              <a:rPr lang="en-IE" sz="2600" kern="0" dirty="0">
                <a:solidFill>
                  <a:srgbClr val="003366"/>
                </a:solidFill>
                <a:latin typeface="Arial"/>
              </a:rPr>
              <a:t>Normal Basis of Assessment - S65 (2) (a) TCA 1997</a:t>
            </a:r>
          </a:p>
          <a:p>
            <a:pPr marL="1371600" lvl="2" indent="-457200" eaLnBrk="0" fontAlgn="base" hangingPunct="0">
              <a:lnSpc>
                <a:spcPct val="150000"/>
              </a:lnSpc>
              <a:spcBef>
                <a:spcPct val="20000"/>
              </a:spcBef>
              <a:spcAft>
                <a:spcPct val="0"/>
              </a:spcAft>
              <a:buClr>
                <a:srgbClr val="003366"/>
              </a:buClr>
              <a:buSzPct val="75000"/>
              <a:buFont typeface="+mj-lt"/>
              <a:buAutoNum type="arabicPeriod"/>
              <a:defRPr/>
            </a:pPr>
            <a:r>
              <a:rPr lang="en-IE" sz="2600" kern="0" dirty="0">
                <a:solidFill>
                  <a:srgbClr val="003366"/>
                </a:solidFill>
                <a:latin typeface="Arial"/>
              </a:rPr>
              <a:t>Commencement of a trade – S66 TCA 1997</a:t>
            </a:r>
          </a:p>
          <a:p>
            <a:pPr marL="1371600" lvl="2" indent="-457200" eaLnBrk="0" fontAlgn="base" hangingPunct="0">
              <a:lnSpc>
                <a:spcPct val="150000"/>
              </a:lnSpc>
              <a:spcBef>
                <a:spcPct val="20000"/>
              </a:spcBef>
              <a:spcAft>
                <a:spcPct val="0"/>
              </a:spcAft>
              <a:buClr>
                <a:srgbClr val="003366"/>
              </a:buClr>
              <a:buSzPct val="75000"/>
              <a:buFont typeface="+mj-lt"/>
              <a:buAutoNum type="arabicPeriod"/>
              <a:defRPr/>
            </a:pPr>
            <a:r>
              <a:rPr lang="en-IE" sz="2600" kern="0" dirty="0">
                <a:solidFill>
                  <a:srgbClr val="003366"/>
                </a:solidFill>
                <a:latin typeface="Arial"/>
              </a:rPr>
              <a:t>Cessation of a trade - S67 TCA 1997</a:t>
            </a:r>
          </a:p>
          <a:p>
            <a:pPr marL="1371600" lvl="2" indent="-457200" eaLnBrk="0" fontAlgn="base" hangingPunct="0">
              <a:lnSpc>
                <a:spcPct val="150000"/>
              </a:lnSpc>
              <a:spcBef>
                <a:spcPct val="20000"/>
              </a:spcBef>
              <a:spcAft>
                <a:spcPct val="0"/>
              </a:spcAft>
              <a:buClr>
                <a:srgbClr val="003366"/>
              </a:buClr>
              <a:buSzPct val="75000"/>
              <a:buFont typeface="+mj-lt"/>
              <a:buAutoNum type="arabicPeriod"/>
              <a:defRPr/>
            </a:pPr>
            <a:r>
              <a:rPr lang="en-IE" sz="2600" kern="0" dirty="0">
                <a:solidFill>
                  <a:srgbClr val="003366"/>
                </a:solidFill>
                <a:latin typeface="Arial"/>
              </a:rPr>
              <a:t>Change of accounting date S65 (2) (b) &amp; S65 (3) TCA 1997</a:t>
            </a:r>
            <a:endParaRPr lang="en-IE" sz="2200" kern="0" dirty="0">
              <a:solidFill>
                <a:srgbClr val="003366"/>
              </a:solidFill>
              <a:latin typeface="Arial"/>
            </a:endParaRPr>
          </a:p>
          <a:p>
            <a:pPr marL="342900" marR="0" lvl="0" indent="-342900" algn="l" defTabSz="914400" rtl="0" eaLnBrk="0" fontAlgn="base" latinLnBrk="0" hangingPunct="0">
              <a:lnSpc>
                <a:spcPct val="150000"/>
              </a:lnSpc>
              <a:spcBef>
                <a:spcPct val="20000"/>
              </a:spcBef>
              <a:spcAft>
                <a:spcPct val="0"/>
              </a:spcAft>
              <a:buClr>
                <a:srgbClr val="003366"/>
              </a:buClr>
              <a:buSzPct val="75000"/>
              <a:buFont typeface="Arial" panose="020B0604020202020204" pitchFamily="34" charset="0"/>
              <a:buChar char="•"/>
              <a:tabLst/>
              <a:defRPr/>
            </a:pPr>
            <a:endParaRPr lang="en-IE" sz="2200" kern="0" dirty="0">
              <a:solidFill>
                <a:srgbClr val="003366"/>
              </a:solidFill>
              <a:latin typeface="Arial"/>
            </a:endParaRPr>
          </a:p>
        </p:txBody>
      </p:sp>
    </p:spTree>
    <p:extLst>
      <p:ext uri="{BB962C8B-B14F-4D97-AF65-F5344CB8AC3E}">
        <p14:creationId xmlns:p14="http://schemas.microsoft.com/office/powerpoint/2010/main" val="2561089245"/>
      </p:ext>
    </p:extLst>
  </p:cSld>
  <p:clrMapOvr>
    <a:masterClrMapping/>
  </p:clrMapOvr>
  <mc:AlternateContent xmlns:mc="http://schemas.openxmlformats.org/markup-compatibility/2006" xmlns:p14="http://schemas.microsoft.com/office/powerpoint/2010/main">
    <mc:Choice Requires="p14">
      <p:transition spd="slow" p14:dur="2000" advTm="37603"/>
    </mc:Choice>
    <mc:Fallback xmlns="">
      <p:transition spd="slow" advTm="376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0E47F-5EF5-8F93-4C43-0B3B8B572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C661F-301D-CE55-8556-8CA8CDFD336A}"/>
              </a:ext>
            </a:extLst>
          </p:cNvPr>
          <p:cNvSpPr>
            <a:spLocks noGrp="1"/>
          </p:cNvSpPr>
          <p:nvPr>
            <p:ph type="title" idx="4294967295"/>
          </p:nvPr>
        </p:nvSpPr>
        <p:spPr>
          <a:xfrm>
            <a:off x="2199502" y="329783"/>
            <a:ext cx="7184341" cy="946567"/>
          </a:xfrm>
        </p:spPr>
        <p:txBody>
          <a:bodyPr>
            <a:normAutofit fontScale="90000"/>
          </a:bodyPr>
          <a:lstStyle/>
          <a:p>
            <a:pPr algn="ctr"/>
            <a:r>
              <a:rPr kumimoji="0" lang="en-IE" sz="3600" b="1" i="0" u="none" strike="noStrike" kern="0" cap="none" spc="0" normalizeH="0" baseline="0" noProof="0" dirty="0">
                <a:ln>
                  <a:noFill/>
                </a:ln>
                <a:solidFill>
                  <a:srgbClr val="009999"/>
                </a:solidFill>
                <a:effectLst/>
                <a:uLnTx/>
                <a:uFillTx/>
                <a:latin typeface="Aptos" panose="020B0004020202020204" pitchFamily="34" charset="0"/>
              </a:rPr>
              <a:t>What Profits or Gains are taxable in a year of Assessment (Case I/II)</a:t>
            </a:r>
            <a:endParaRPr lang="en-IE" sz="3600"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693616D-D4AE-DA6A-8A77-656180EBAA3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0"/>
            <a:ext cx="2174710" cy="1100947"/>
          </a:xfrm>
          <a:prstGeom prst="rect">
            <a:avLst/>
          </a:prstGeom>
          <a:noFill/>
          <a:ln>
            <a:noFill/>
          </a:ln>
        </p:spPr>
      </p:pic>
      <p:graphicFrame>
        <p:nvGraphicFramePr>
          <p:cNvPr id="6" name="Content Placeholder 2">
            <a:extLst>
              <a:ext uri="{FF2B5EF4-FFF2-40B4-BE49-F238E27FC236}">
                <a16:creationId xmlns:a16="http://schemas.microsoft.com/office/drawing/2014/main" id="{D72B8CF0-3973-FD80-5B61-BBBA69E3EEE5}"/>
              </a:ext>
            </a:extLst>
          </p:cNvPr>
          <p:cNvGraphicFramePr>
            <a:graphicFrameLocks/>
          </p:cNvGraphicFramePr>
          <p:nvPr/>
        </p:nvGraphicFramePr>
        <p:xfrm>
          <a:off x="329871" y="1860331"/>
          <a:ext cx="11557049" cy="446345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5E74AE8A-A447-810B-CB43-A7AA70BEDDC3}"/>
              </a:ext>
            </a:extLst>
          </p:cNvPr>
          <p:cNvSpPr txBox="1"/>
          <p:nvPr/>
        </p:nvSpPr>
        <p:spPr>
          <a:xfrm>
            <a:off x="728869" y="1657134"/>
            <a:ext cx="10734261" cy="3602461"/>
          </a:xfrm>
          <a:prstGeom prst="rect">
            <a:avLst/>
          </a:prstGeom>
          <a:noFill/>
        </p:spPr>
        <p:txBody>
          <a:bodyPr wrap="square" rtlCol="0">
            <a:spAutoFit/>
          </a:bodyPr>
          <a:lstStyle/>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sz="2400" b="0" i="0" u="none" strike="noStrike" kern="0" cap="none" spc="0" normalizeH="0" baseline="0" noProof="0" dirty="0">
                <a:ln>
                  <a:noFill/>
                </a:ln>
                <a:solidFill>
                  <a:srgbClr val="003366"/>
                </a:solidFill>
                <a:effectLst/>
                <a:uLnTx/>
                <a:uFillTx/>
                <a:latin typeface="Arial"/>
                <a:ea typeface="+mn-ea"/>
                <a:cs typeface="+mn-cs"/>
              </a:rPr>
              <a:t>The </a:t>
            </a:r>
            <a:r>
              <a:rPr kumimoji="0" lang="en-IE" sz="2400" b="1" i="0" u="none" strike="noStrike" kern="0" cap="none" spc="0" normalizeH="0" baseline="0" noProof="0" dirty="0">
                <a:ln>
                  <a:noFill/>
                </a:ln>
                <a:solidFill>
                  <a:srgbClr val="003366"/>
                </a:solidFill>
                <a:effectLst/>
                <a:uLnTx/>
                <a:uFillTx/>
                <a:latin typeface="Arial"/>
                <a:ea typeface="+mn-ea"/>
                <a:cs typeface="+mn-cs"/>
              </a:rPr>
              <a:t>‘full amount of profits or gains’ </a:t>
            </a:r>
            <a:r>
              <a:rPr kumimoji="0" lang="en-IE" sz="2400" b="0" i="0" u="none" strike="noStrike" kern="0" cap="none" spc="0" normalizeH="0" baseline="0" noProof="0" dirty="0">
                <a:ln>
                  <a:noFill/>
                </a:ln>
                <a:solidFill>
                  <a:srgbClr val="003366"/>
                </a:solidFill>
                <a:effectLst/>
                <a:uLnTx/>
                <a:uFillTx/>
                <a:latin typeface="Arial"/>
                <a:ea typeface="+mn-ea"/>
                <a:cs typeface="+mn-cs"/>
              </a:rPr>
              <a:t>is taxed in each year of assessment.</a:t>
            </a:r>
            <a:endParaRPr kumimoji="0" lang="en-IE" sz="1000" b="0" i="0" u="none" strike="noStrike" kern="0" cap="none" spc="0" normalizeH="0" baseline="0" noProof="0" dirty="0">
              <a:ln>
                <a:noFill/>
              </a:ln>
              <a:solidFill>
                <a:srgbClr val="003366"/>
              </a:solidFill>
              <a:effectLst/>
              <a:uLnTx/>
              <a:uFillTx/>
              <a:latin typeface="Arial"/>
              <a:ea typeface="+mn-ea"/>
              <a:cs typeface="+mn-cs"/>
            </a:endParaRP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endParaRPr kumimoji="0" lang="en-IE" sz="1000" b="0" i="0" u="none" strike="noStrike" kern="0" cap="none" spc="0" normalizeH="0" baseline="0" noProof="0" dirty="0">
              <a:ln>
                <a:noFill/>
              </a:ln>
              <a:solidFill>
                <a:srgbClr val="003366"/>
              </a:solidFill>
              <a:effectLst/>
              <a:uLnTx/>
              <a:uFillTx/>
              <a:latin typeface="Arial"/>
              <a:ea typeface="+mn-ea"/>
              <a:cs typeface="+mn-cs"/>
            </a:endParaRP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sz="2400" b="0" i="0" u="none" strike="noStrike" kern="0" cap="none" spc="0" normalizeH="0" baseline="0" noProof="0" dirty="0">
                <a:ln>
                  <a:noFill/>
                </a:ln>
                <a:solidFill>
                  <a:srgbClr val="003366"/>
                </a:solidFill>
                <a:effectLst/>
                <a:uLnTx/>
                <a:uFillTx/>
                <a:latin typeface="Arial"/>
                <a:ea typeface="+mn-ea"/>
                <a:cs typeface="+mn-cs"/>
              </a:rPr>
              <a:t>Legislation does not define the phrase ‘full amount of profits or gains’</a:t>
            </a: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endParaRPr kumimoji="0" lang="en-IE" sz="2400" b="0" i="0" u="none" strike="noStrike" kern="0" cap="none" spc="0" normalizeH="0" baseline="0" noProof="0" dirty="0">
              <a:ln>
                <a:noFill/>
              </a:ln>
              <a:solidFill>
                <a:srgbClr val="003366"/>
              </a:solidFill>
              <a:effectLst/>
              <a:uLnTx/>
              <a:uFillTx/>
              <a:latin typeface="Arial"/>
              <a:ea typeface="+mn-ea"/>
              <a:cs typeface="+mn-cs"/>
            </a:endParaRP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sz="2400" b="0" i="0" u="none" strike="noStrike" kern="0" cap="none" spc="0" normalizeH="0" baseline="0" noProof="0" dirty="0">
                <a:ln>
                  <a:noFill/>
                </a:ln>
                <a:solidFill>
                  <a:srgbClr val="003366"/>
                </a:solidFill>
                <a:effectLst/>
                <a:uLnTx/>
                <a:uFillTx/>
                <a:latin typeface="Arial"/>
                <a:ea typeface="+mn-ea"/>
                <a:cs typeface="+mn-cs"/>
              </a:rPr>
              <a:t>The difference between the </a:t>
            </a:r>
            <a:r>
              <a:rPr kumimoji="0" lang="en-IE" sz="2400" b="1" i="0" u="none" strike="noStrike" kern="0" cap="none" spc="0" normalizeH="0" baseline="0" noProof="0" dirty="0">
                <a:ln>
                  <a:noFill/>
                </a:ln>
                <a:solidFill>
                  <a:srgbClr val="003366"/>
                </a:solidFill>
                <a:effectLst/>
                <a:uLnTx/>
                <a:uFillTx/>
                <a:latin typeface="Arial"/>
                <a:ea typeface="+mn-ea"/>
                <a:cs typeface="+mn-cs"/>
              </a:rPr>
              <a:t>income and the allowable expenditure </a:t>
            </a:r>
            <a:r>
              <a:rPr kumimoji="0" lang="en-IE" sz="2400" b="0" i="0" u="none" strike="noStrike" kern="0" cap="none" spc="0" normalizeH="0" baseline="0" noProof="0" dirty="0">
                <a:ln>
                  <a:noFill/>
                </a:ln>
                <a:solidFill>
                  <a:srgbClr val="003366"/>
                </a:solidFill>
                <a:effectLst/>
                <a:uLnTx/>
                <a:uFillTx/>
                <a:latin typeface="Arial"/>
                <a:ea typeface="+mn-ea"/>
                <a:cs typeface="+mn-cs"/>
              </a:rPr>
              <a:t>of the business will produce either a profit or a loss and this amount will determine the income tax liability for the year of assessment</a:t>
            </a: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endParaRPr kumimoji="0" lang="en-IE" sz="1000" b="0" i="0" u="none" strike="noStrike" kern="0" cap="none" spc="0" normalizeH="0" baseline="0" noProof="0" dirty="0">
              <a:ln>
                <a:noFill/>
              </a:ln>
              <a:solidFill>
                <a:srgbClr val="003366"/>
              </a:solidFill>
              <a:effectLst/>
              <a:uLnTx/>
              <a:uFillTx/>
              <a:latin typeface="Arial"/>
              <a:ea typeface="+mn-ea"/>
              <a:cs typeface="+mn-cs"/>
            </a:endParaRP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endParaRPr kumimoji="0" lang="en-IE" sz="1000" b="0" i="0" u="none" strike="noStrike" kern="0" cap="none" spc="0" normalizeH="0" baseline="0" noProof="0" dirty="0">
              <a:ln>
                <a:noFill/>
              </a:ln>
              <a:solidFill>
                <a:srgbClr val="003366"/>
              </a:solidFill>
              <a:effectLst/>
              <a:uLnTx/>
              <a:uFillTx/>
              <a:latin typeface="Arial"/>
              <a:ea typeface="+mn-ea"/>
              <a:cs typeface="+mn-cs"/>
            </a:endParaRPr>
          </a:p>
        </p:txBody>
      </p:sp>
    </p:spTree>
    <p:extLst>
      <p:ext uri="{BB962C8B-B14F-4D97-AF65-F5344CB8AC3E}">
        <p14:creationId xmlns:p14="http://schemas.microsoft.com/office/powerpoint/2010/main" val="2156083259"/>
      </p:ext>
    </p:extLst>
  </p:cSld>
  <p:clrMapOvr>
    <a:masterClrMapping/>
  </p:clrMapOvr>
  <mc:AlternateContent xmlns:mc="http://schemas.openxmlformats.org/markup-compatibility/2006" xmlns:p14="http://schemas.microsoft.com/office/powerpoint/2010/main">
    <mc:Choice Requires="p14">
      <p:transition spd="slow" p14:dur="2000" advTm="37603"/>
    </mc:Choice>
    <mc:Fallback xmlns="">
      <p:transition spd="slow" advTm="376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1"/>
            <a:ext cx="10126717" cy="1080906"/>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Normal Basis of Assessment </a:t>
            </a:r>
          </a:p>
        </p:txBody>
      </p:sp>
      <p:sp>
        <p:nvSpPr>
          <p:cNvPr id="4" name="Content Placeholder 3">
            <a:extLst>
              <a:ext uri="{FF2B5EF4-FFF2-40B4-BE49-F238E27FC236}">
                <a16:creationId xmlns:a16="http://schemas.microsoft.com/office/drawing/2014/main" id="{94B044B9-FAB2-9BF1-5224-B2CB0DFCB3D6}"/>
              </a:ext>
            </a:extLst>
          </p:cNvPr>
          <p:cNvSpPr>
            <a:spLocks noGrp="1"/>
          </p:cNvSpPr>
          <p:nvPr>
            <p:ph sz="half" idx="1"/>
          </p:nvPr>
        </p:nvSpPr>
        <p:spPr>
          <a:xfrm>
            <a:off x="381000" y="1080906"/>
            <a:ext cx="11369040" cy="5640569"/>
          </a:xfrm>
        </p:spPr>
        <p:txBody>
          <a:bodyPr>
            <a:normAutofit fontScale="92500"/>
          </a:bodyPr>
          <a:lstStyle/>
          <a:p>
            <a:pPr>
              <a:lnSpc>
                <a:spcPct val="120000"/>
              </a:lnSpc>
            </a:pPr>
            <a:r>
              <a:rPr lang="en-IE" dirty="0">
                <a:solidFill>
                  <a:schemeClr val="tx2">
                    <a:lumMod val="90000"/>
                    <a:lumOff val="10000"/>
                  </a:schemeClr>
                </a:solidFill>
              </a:rPr>
              <a:t>Sole traders in business for a number of years normally prepare a </a:t>
            </a:r>
            <a:r>
              <a:rPr lang="en-IE" b="1" dirty="0">
                <a:solidFill>
                  <a:schemeClr val="tx2">
                    <a:lumMod val="90000"/>
                    <a:lumOff val="10000"/>
                  </a:schemeClr>
                </a:solidFill>
              </a:rPr>
              <a:t>12-month set of accounts </a:t>
            </a:r>
            <a:r>
              <a:rPr lang="en-IE" dirty="0">
                <a:solidFill>
                  <a:schemeClr val="tx2">
                    <a:lumMod val="90000"/>
                    <a:lumOff val="10000"/>
                  </a:schemeClr>
                </a:solidFill>
              </a:rPr>
              <a:t>when computing the profit (</a:t>
            </a:r>
            <a:r>
              <a:rPr lang="en-IE" i="1" dirty="0">
                <a:solidFill>
                  <a:schemeClr val="tx2">
                    <a:lumMod val="90000"/>
                    <a:lumOff val="10000"/>
                  </a:schemeClr>
                </a:solidFill>
              </a:rPr>
              <a:t>or loss</a:t>
            </a:r>
            <a:r>
              <a:rPr lang="en-IE" dirty="0">
                <a:solidFill>
                  <a:schemeClr val="tx2">
                    <a:lumMod val="90000"/>
                    <a:lumOff val="10000"/>
                  </a:schemeClr>
                </a:solidFill>
              </a:rPr>
              <a:t>) applicable for a tax year. </a:t>
            </a:r>
          </a:p>
          <a:p>
            <a:pPr>
              <a:lnSpc>
                <a:spcPct val="120000"/>
              </a:lnSpc>
            </a:pPr>
            <a:r>
              <a:rPr lang="en-IE" dirty="0">
                <a:solidFill>
                  <a:schemeClr val="tx2">
                    <a:lumMod val="90000"/>
                    <a:lumOff val="10000"/>
                  </a:schemeClr>
                </a:solidFill>
              </a:rPr>
              <a:t>That set of accounts can </a:t>
            </a:r>
            <a:r>
              <a:rPr lang="en-IE" b="1" dirty="0">
                <a:solidFill>
                  <a:schemeClr val="tx2">
                    <a:lumMod val="90000"/>
                    <a:lumOff val="10000"/>
                  </a:schemeClr>
                </a:solidFill>
              </a:rPr>
              <a:t>end</a:t>
            </a:r>
            <a:r>
              <a:rPr lang="en-IE" dirty="0">
                <a:solidFill>
                  <a:schemeClr val="tx2">
                    <a:lumMod val="90000"/>
                    <a:lumOff val="10000"/>
                  </a:schemeClr>
                </a:solidFill>
              </a:rPr>
              <a:t> on any date within the tax year. (NOTE: </a:t>
            </a:r>
            <a:r>
              <a:rPr lang="en-IE" i="1" dirty="0">
                <a:solidFill>
                  <a:schemeClr val="tx2">
                    <a:lumMod val="90000"/>
                    <a:lumOff val="10000"/>
                  </a:schemeClr>
                </a:solidFill>
              </a:rPr>
              <a:t>All other income e.g. Rents, dividends etc. are taxed on a calendar year basis</a:t>
            </a:r>
          </a:p>
          <a:p>
            <a:pPr>
              <a:lnSpc>
                <a:spcPct val="120000"/>
              </a:lnSpc>
            </a:pPr>
            <a:endParaRPr lang="en-IE" sz="1000" i="1" dirty="0">
              <a:solidFill>
                <a:schemeClr val="tx2">
                  <a:lumMod val="90000"/>
                  <a:lumOff val="10000"/>
                </a:schemeClr>
              </a:solidFill>
            </a:endParaRPr>
          </a:p>
          <a:p>
            <a:pPr>
              <a:lnSpc>
                <a:spcPct val="120000"/>
              </a:lnSpc>
            </a:pPr>
            <a:r>
              <a:rPr lang="en-IE" dirty="0">
                <a:solidFill>
                  <a:schemeClr val="tx2">
                    <a:lumMod val="90000"/>
                    <a:lumOff val="10000"/>
                  </a:schemeClr>
                </a:solidFill>
              </a:rPr>
              <a:t>This 12-month period is referred to as the </a:t>
            </a:r>
            <a:r>
              <a:rPr lang="en-IE" b="1" dirty="0">
                <a:solidFill>
                  <a:schemeClr val="tx2">
                    <a:lumMod val="90000"/>
                    <a:lumOff val="10000"/>
                  </a:schemeClr>
                </a:solidFill>
              </a:rPr>
              <a:t>‘basis period’</a:t>
            </a:r>
          </a:p>
          <a:p>
            <a:pPr>
              <a:lnSpc>
                <a:spcPct val="120000"/>
              </a:lnSpc>
            </a:pPr>
            <a:endParaRPr lang="en-IE" sz="1000" b="1" dirty="0"/>
          </a:p>
          <a:p>
            <a:pPr marL="0" indent="0">
              <a:lnSpc>
                <a:spcPct val="120000"/>
              </a:lnSpc>
              <a:buNone/>
            </a:pPr>
            <a:r>
              <a:rPr lang="en-IE" dirty="0">
                <a:solidFill>
                  <a:srgbClr val="006666"/>
                </a:solidFill>
              </a:rPr>
              <a:t>Note: The tax year and the tax return (</a:t>
            </a:r>
            <a:r>
              <a:rPr lang="en-IE" i="1" dirty="0">
                <a:solidFill>
                  <a:srgbClr val="006666"/>
                </a:solidFill>
              </a:rPr>
              <a:t>F11 self-employed  or F12 PAYE employee </a:t>
            </a:r>
            <a:r>
              <a:rPr lang="en-IE" dirty="0">
                <a:solidFill>
                  <a:srgbClr val="006666"/>
                </a:solidFill>
              </a:rPr>
              <a:t>) always relate to the period </a:t>
            </a:r>
            <a:r>
              <a:rPr lang="en-IE" b="1" dirty="0">
                <a:solidFill>
                  <a:srgbClr val="006666"/>
                </a:solidFill>
              </a:rPr>
              <a:t>1 Jan to 31 Dec </a:t>
            </a:r>
            <a:r>
              <a:rPr lang="en-IE" dirty="0">
                <a:solidFill>
                  <a:srgbClr val="006666"/>
                </a:solidFill>
              </a:rPr>
              <a:t>however, the 12-month </a:t>
            </a:r>
            <a:r>
              <a:rPr lang="en-IE" b="1" dirty="0">
                <a:solidFill>
                  <a:srgbClr val="006666"/>
                </a:solidFill>
              </a:rPr>
              <a:t>basis period </a:t>
            </a:r>
            <a:r>
              <a:rPr lang="en-IE" dirty="0">
                <a:solidFill>
                  <a:srgbClr val="006666"/>
                </a:solidFill>
              </a:rPr>
              <a:t>generally aligns with the 12-month </a:t>
            </a:r>
            <a:r>
              <a:rPr lang="en-IE" b="1" dirty="0">
                <a:solidFill>
                  <a:srgbClr val="006666"/>
                </a:solidFill>
              </a:rPr>
              <a:t>accounting period </a:t>
            </a:r>
            <a:r>
              <a:rPr lang="en-IE" dirty="0">
                <a:solidFill>
                  <a:srgbClr val="006666"/>
                </a:solidFill>
              </a:rPr>
              <a:t>used by the business, </a:t>
            </a:r>
            <a:r>
              <a:rPr lang="en-IE" i="1" dirty="0">
                <a:solidFill>
                  <a:srgbClr val="006666"/>
                </a:solidFill>
              </a:rPr>
              <a:t>which may not be a calendar year</a:t>
            </a:r>
            <a:endParaRPr lang="en-IE" b="1" i="1" dirty="0">
              <a:solidFill>
                <a:srgbClr val="006666"/>
              </a:solidFill>
            </a:endParaRPr>
          </a:p>
          <a:p>
            <a:pPr marL="0" indent="0">
              <a:lnSpc>
                <a:spcPct val="120000"/>
              </a:lnSpc>
              <a:buNone/>
            </a:pPr>
            <a:endParaRPr lang="en-IE" b="1" dirty="0"/>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34807209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CBA-5F78-91B0-A033-5E534269E090}"/>
              </a:ext>
            </a:extLst>
          </p:cNvPr>
          <p:cNvSpPr>
            <a:spLocks noGrp="1"/>
          </p:cNvSpPr>
          <p:nvPr>
            <p:ph type="title"/>
          </p:nvPr>
        </p:nvSpPr>
        <p:spPr>
          <a:xfrm>
            <a:off x="838200" y="0"/>
            <a:ext cx="11008360" cy="904239"/>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Normal Basis of Assessment of Profit - Question </a:t>
            </a:r>
          </a:p>
        </p:txBody>
      </p:sp>
      <p:pic>
        <p:nvPicPr>
          <p:cNvPr id="5" name="Picture 4">
            <a:extLst>
              <a:ext uri="{FF2B5EF4-FFF2-40B4-BE49-F238E27FC236}">
                <a16:creationId xmlns:a16="http://schemas.microsoft.com/office/drawing/2014/main" id="{EB05AD1B-6E7D-6BE8-E390-BDD61C836493}"/>
              </a:ext>
            </a:extLst>
          </p:cNvPr>
          <p:cNvPicPr>
            <a:picLocks noChangeAspect="1"/>
          </p:cNvPicPr>
          <p:nvPr/>
        </p:nvPicPr>
        <p:blipFill>
          <a:blip r:embed="rId3"/>
          <a:stretch>
            <a:fillRect/>
          </a:stretch>
        </p:blipFill>
        <p:spPr>
          <a:xfrm>
            <a:off x="0" y="6069"/>
            <a:ext cx="1227083" cy="622135"/>
          </a:xfrm>
          <a:prstGeom prst="rect">
            <a:avLst/>
          </a:prstGeom>
        </p:spPr>
      </p:pic>
      <p:sp>
        <p:nvSpPr>
          <p:cNvPr id="3" name="Slide Number Placeholder 2">
            <a:extLst>
              <a:ext uri="{FF2B5EF4-FFF2-40B4-BE49-F238E27FC236}">
                <a16:creationId xmlns:a16="http://schemas.microsoft.com/office/drawing/2014/main" id="{C20A7893-9E89-0BBB-A6A4-FABF3A29EB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27F5ECB8-82D0-6770-C67C-816242C62633}"/>
              </a:ext>
            </a:extLst>
          </p:cNvPr>
          <p:cNvGraphicFramePr>
            <a:graphicFrameLocks noGrp="1"/>
          </p:cNvGraphicFramePr>
          <p:nvPr/>
        </p:nvGraphicFramePr>
        <p:xfrm>
          <a:off x="193040" y="1042034"/>
          <a:ext cx="11653520" cy="5541646"/>
        </p:xfrm>
        <a:graphic>
          <a:graphicData uri="http://schemas.openxmlformats.org/drawingml/2006/table">
            <a:tbl>
              <a:tblPr firstRow="1" bandRow="1"/>
              <a:tblGrid>
                <a:gridCol w="6227234">
                  <a:extLst>
                    <a:ext uri="{9D8B030D-6E8A-4147-A177-3AD203B41FA5}">
                      <a16:colId xmlns:a16="http://schemas.microsoft.com/office/drawing/2014/main" val="2260838622"/>
                    </a:ext>
                  </a:extLst>
                </a:gridCol>
                <a:gridCol w="2976978">
                  <a:extLst>
                    <a:ext uri="{9D8B030D-6E8A-4147-A177-3AD203B41FA5}">
                      <a16:colId xmlns:a16="http://schemas.microsoft.com/office/drawing/2014/main" val="504296656"/>
                    </a:ext>
                  </a:extLst>
                </a:gridCol>
                <a:gridCol w="2449308">
                  <a:extLst>
                    <a:ext uri="{9D8B030D-6E8A-4147-A177-3AD203B41FA5}">
                      <a16:colId xmlns:a16="http://schemas.microsoft.com/office/drawing/2014/main" val="3919907886"/>
                    </a:ext>
                  </a:extLst>
                </a:gridCol>
              </a:tblGrid>
              <a:tr h="1035952">
                <a:tc>
                  <a:txBody>
                    <a:bodyPr/>
                    <a:lstStyle/>
                    <a:p>
                      <a:pPr>
                        <a:lnSpc>
                          <a:spcPct val="107000"/>
                        </a:lnSpc>
                        <a:spcAft>
                          <a:spcPts val="800"/>
                        </a:spcAft>
                        <a:buNone/>
                      </a:pP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Accounts (for 12-month period)</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9CC99"/>
                    </a:solidFill>
                  </a:tcPr>
                </a:tc>
                <a:tc>
                  <a:txBody>
                    <a:bodyPr/>
                    <a:lstStyle/>
                    <a:p>
                      <a:pPr algn="ctr">
                        <a:lnSpc>
                          <a:spcPct val="107000"/>
                        </a:lnSpc>
                        <a:spcAft>
                          <a:spcPts val="800"/>
                        </a:spcAft>
                        <a:buNone/>
                      </a:pPr>
                      <a:r>
                        <a:rPr lang="en-GB"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Tax Adjusted Profit for 12 months</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9CC99"/>
                    </a:solidFill>
                  </a:tcPr>
                </a:tc>
                <a:tc>
                  <a:txBody>
                    <a:bodyPr/>
                    <a:lstStyle/>
                    <a:p>
                      <a:pPr algn="ctr">
                        <a:lnSpc>
                          <a:spcPct val="107000"/>
                        </a:lnSpc>
                        <a:spcAft>
                          <a:spcPts val="800"/>
                        </a:spcAft>
                        <a:buNone/>
                      </a:pP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Tax Year Assessable</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9CC99"/>
                    </a:solidFill>
                  </a:tcPr>
                </a:tc>
                <a:extLst>
                  <a:ext uri="{0D108BD9-81ED-4DB2-BD59-A6C34878D82A}">
                    <a16:rowId xmlns:a16="http://schemas.microsoft.com/office/drawing/2014/main" val="3787733173"/>
                  </a:ext>
                </a:extLst>
              </a:tr>
              <a:tr h="2005534">
                <a:tc>
                  <a:txBody>
                    <a:bodyPr/>
                    <a:lstStyle/>
                    <a:p>
                      <a:pPr>
                        <a:lnSpc>
                          <a:spcPct val="107000"/>
                        </a:lnSpc>
                        <a:spcAft>
                          <a:spcPts val="800"/>
                        </a:spcAft>
                        <a:buNone/>
                      </a:pPr>
                      <a:r>
                        <a:rPr lang="en-GB"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Rob</a:t>
                      </a:r>
                      <a:r>
                        <a:rPr lang="en-GB"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E"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Year ended 31 December </a:t>
                      </a:r>
                      <a:r>
                        <a:rPr lang="en-IE" sz="2600" u="sng"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2026</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E"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(Basis period - 01/01/2026 to </a:t>
                      </a: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31/12/2026) (</a:t>
                      </a:r>
                      <a:r>
                        <a:rPr lang="en-IE" sz="2600" b="1" i="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12 Months</a:t>
                      </a: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tc>
                  <a:txBody>
                    <a:bodyPr/>
                    <a:lstStyle/>
                    <a:p>
                      <a:pPr algn="ctr">
                        <a:lnSpc>
                          <a:spcPct val="107000"/>
                        </a:lnSpc>
                        <a:spcAft>
                          <a:spcPts val="800"/>
                        </a:spcAft>
                        <a:buNone/>
                      </a:pPr>
                      <a:r>
                        <a:rPr lang="en-GB" sz="2600" kern="120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€35,268</a:t>
                      </a:r>
                      <a:endParaRPr lang="en-IE" sz="2600" kern="10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tc>
                  <a:txBody>
                    <a:bodyPr/>
                    <a:lstStyle/>
                    <a:p>
                      <a:pPr algn="ctr">
                        <a:lnSpc>
                          <a:spcPct val="107000"/>
                        </a:lnSpc>
                        <a:spcAft>
                          <a:spcPts val="800"/>
                        </a:spcAft>
                        <a:buNone/>
                      </a:pPr>
                      <a:r>
                        <a:rPr lang="en-IE" sz="2600" b="1" kern="1200" dirty="0">
                          <a:solidFill>
                            <a:srgbClr val="002A56"/>
                          </a:solidFill>
                          <a:effectLst/>
                          <a:latin typeface="Aptos" panose="020B0004020202020204" pitchFamily="34" charset="0"/>
                          <a:ea typeface="Times New Roman" panose="02020603050405020304" pitchFamily="18" charset="0"/>
                          <a:cs typeface="Times New Roman" panose="02020603050405020304" pitchFamily="18" charset="0"/>
                        </a:rPr>
                        <a:t>?</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extLst>
                  <a:ext uri="{0D108BD9-81ED-4DB2-BD59-A6C34878D82A}">
                    <a16:rowId xmlns:a16="http://schemas.microsoft.com/office/drawing/2014/main" val="2195504515"/>
                  </a:ext>
                </a:extLst>
              </a:tr>
              <a:tr h="494626">
                <a:tc>
                  <a:txBody>
                    <a:bodyPr/>
                    <a:lstStyle/>
                    <a:p>
                      <a:pPr>
                        <a:lnSpc>
                          <a:spcPct val="107000"/>
                        </a:lnSpc>
                        <a:buNone/>
                      </a:pPr>
                      <a:endParaRPr lang="en-IE" sz="2600" kern="100" dirty="0">
                        <a:effectLst/>
                        <a:latin typeface="Aptos" panose="020B0004020202020204" pitchFamily="34"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F"/>
                    </a:solidFill>
                  </a:tcPr>
                </a:tc>
                <a:tc>
                  <a:txBody>
                    <a:bodyPr/>
                    <a:lstStyle/>
                    <a:p>
                      <a:pPr>
                        <a:lnSpc>
                          <a:spcPct val="107000"/>
                        </a:lnSpc>
                        <a:buNone/>
                      </a:pPr>
                      <a:endParaRPr lang="en-IE" sz="2600" kern="100">
                        <a:effectLst/>
                        <a:latin typeface="Aptos" panose="020B0004020202020204" pitchFamily="34"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F"/>
                    </a:solidFill>
                  </a:tcPr>
                </a:tc>
                <a:tc>
                  <a:txBody>
                    <a:bodyPr/>
                    <a:lstStyle/>
                    <a:p>
                      <a:pPr>
                        <a:lnSpc>
                          <a:spcPct val="107000"/>
                        </a:lnSpc>
                        <a:buNone/>
                      </a:pPr>
                      <a:endParaRPr lang="en-IE" sz="2600" kern="100">
                        <a:effectLst/>
                        <a:latin typeface="Aptos" panose="020B0004020202020204" pitchFamily="34"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F"/>
                    </a:solidFill>
                  </a:tcPr>
                </a:tc>
                <a:extLst>
                  <a:ext uri="{0D108BD9-81ED-4DB2-BD59-A6C34878D82A}">
                    <a16:rowId xmlns:a16="http://schemas.microsoft.com/office/drawing/2014/main" val="3493559246"/>
                  </a:ext>
                </a:extLst>
              </a:tr>
              <a:tr h="2005534">
                <a:tc>
                  <a:txBody>
                    <a:bodyPr/>
                    <a:lstStyle/>
                    <a:p>
                      <a:pPr>
                        <a:lnSpc>
                          <a:spcPct val="107000"/>
                        </a:lnSpc>
                        <a:spcAft>
                          <a:spcPts val="800"/>
                        </a:spcAft>
                        <a:buNone/>
                      </a:pP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Sarah:</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E"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Year ended 30 June </a:t>
                      </a:r>
                      <a:r>
                        <a:rPr lang="en-IE" sz="2600" u="sng"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2026</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E"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(Basis period - 01/07/2025 to </a:t>
                      </a: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30/06/2026) (</a:t>
                      </a:r>
                      <a:r>
                        <a:rPr lang="en-IE" sz="2600" b="1" i="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12 Months</a:t>
                      </a: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tc>
                  <a:txBody>
                    <a:bodyPr/>
                    <a:lstStyle/>
                    <a:p>
                      <a:pPr algn="ctr">
                        <a:lnSpc>
                          <a:spcPct val="107000"/>
                        </a:lnSpc>
                        <a:spcAft>
                          <a:spcPts val="800"/>
                        </a:spcAft>
                        <a:buNone/>
                      </a:pPr>
                      <a:r>
                        <a:rPr lang="en-GB"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€46,749</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tc>
                  <a:txBody>
                    <a:bodyPr/>
                    <a:lstStyle/>
                    <a:p>
                      <a:pPr algn="ctr">
                        <a:lnSpc>
                          <a:spcPct val="107000"/>
                        </a:lnSpc>
                        <a:spcAft>
                          <a:spcPts val="800"/>
                        </a:spcAft>
                        <a:buNone/>
                      </a:pPr>
                      <a:r>
                        <a:rPr lang="en-IE" sz="2600" b="1" kern="1200" dirty="0">
                          <a:solidFill>
                            <a:srgbClr val="002A56"/>
                          </a:solidFill>
                          <a:effectLst/>
                          <a:latin typeface="Aptos" panose="020B0004020202020204" pitchFamily="34" charset="0"/>
                          <a:ea typeface="Times New Roman" panose="02020603050405020304" pitchFamily="18" charset="0"/>
                          <a:cs typeface="Times New Roman" panose="02020603050405020304" pitchFamily="18" charset="0"/>
                        </a:rPr>
                        <a:t>?</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extLst>
                  <a:ext uri="{0D108BD9-81ED-4DB2-BD59-A6C34878D82A}">
                    <a16:rowId xmlns:a16="http://schemas.microsoft.com/office/drawing/2014/main" val="3734309119"/>
                  </a:ext>
                </a:extLst>
              </a:tr>
            </a:tbl>
          </a:graphicData>
        </a:graphic>
      </p:graphicFrame>
    </p:spTree>
    <p:extLst>
      <p:ext uri="{BB962C8B-B14F-4D97-AF65-F5344CB8AC3E}">
        <p14:creationId xmlns:p14="http://schemas.microsoft.com/office/powerpoint/2010/main" val="42494539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7BF28-9CC4-BDAD-A602-E9AA2E07E0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494EC-5470-A196-79F7-592A1C800232}"/>
              </a:ext>
            </a:extLst>
          </p:cNvPr>
          <p:cNvSpPr>
            <a:spLocks noGrp="1"/>
          </p:cNvSpPr>
          <p:nvPr>
            <p:ph type="title"/>
          </p:nvPr>
        </p:nvSpPr>
        <p:spPr>
          <a:xfrm>
            <a:off x="838200" y="1"/>
            <a:ext cx="10825480" cy="1042034"/>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Normal Basis of Assessment of Profit - Solution </a:t>
            </a:r>
          </a:p>
        </p:txBody>
      </p:sp>
      <p:pic>
        <p:nvPicPr>
          <p:cNvPr id="5" name="Picture 4">
            <a:extLst>
              <a:ext uri="{FF2B5EF4-FFF2-40B4-BE49-F238E27FC236}">
                <a16:creationId xmlns:a16="http://schemas.microsoft.com/office/drawing/2014/main" id="{AADEFB5F-0284-ABB8-11F3-1247BBDCDE7F}"/>
              </a:ext>
            </a:extLst>
          </p:cNvPr>
          <p:cNvPicPr>
            <a:picLocks noChangeAspect="1"/>
          </p:cNvPicPr>
          <p:nvPr/>
        </p:nvPicPr>
        <p:blipFill>
          <a:blip r:embed="rId3"/>
          <a:stretch>
            <a:fillRect/>
          </a:stretch>
        </p:blipFill>
        <p:spPr>
          <a:xfrm>
            <a:off x="0" y="6069"/>
            <a:ext cx="1227083" cy="622135"/>
          </a:xfrm>
          <a:prstGeom prst="rect">
            <a:avLst/>
          </a:prstGeom>
        </p:spPr>
      </p:pic>
      <p:sp>
        <p:nvSpPr>
          <p:cNvPr id="3" name="Slide Number Placeholder 2">
            <a:extLst>
              <a:ext uri="{FF2B5EF4-FFF2-40B4-BE49-F238E27FC236}">
                <a16:creationId xmlns:a16="http://schemas.microsoft.com/office/drawing/2014/main" id="{AD1F6ED8-E43B-8BA5-7262-91FDFAADAB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0E7A7-4D47-4F00-93E7-25A8F7113972}" type="slidenum">
              <a:rPr kumimoji="0" lang="en-I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I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E615045E-6E0C-5DE4-E89E-9BC1270794A5}"/>
              </a:ext>
            </a:extLst>
          </p:cNvPr>
          <p:cNvGraphicFramePr>
            <a:graphicFrameLocks noGrp="1"/>
          </p:cNvGraphicFramePr>
          <p:nvPr/>
        </p:nvGraphicFramePr>
        <p:xfrm>
          <a:off x="193040" y="1042034"/>
          <a:ext cx="11628059" cy="5541646"/>
        </p:xfrm>
        <a:graphic>
          <a:graphicData uri="http://schemas.openxmlformats.org/drawingml/2006/table">
            <a:tbl>
              <a:tblPr firstRow="1" bandRow="1"/>
              <a:tblGrid>
                <a:gridCol w="6213629">
                  <a:extLst>
                    <a:ext uri="{9D8B030D-6E8A-4147-A177-3AD203B41FA5}">
                      <a16:colId xmlns:a16="http://schemas.microsoft.com/office/drawing/2014/main" val="2260838622"/>
                    </a:ext>
                  </a:extLst>
                </a:gridCol>
                <a:gridCol w="3112022">
                  <a:extLst>
                    <a:ext uri="{9D8B030D-6E8A-4147-A177-3AD203B41FA5}">
                      <a16:colId xmlns:a16="http://schemas.microsoft.com/office/drawing/2014/main" val="504296656"/>
                    </a:ext>
                  </a:extLst>
                </a:gridCol>
                <a:gridCol w="2302408">
                  <a:extLst>
                    <a:ext uri="{9D8B030D-6E8A-4147-A177-3AD203B41FA5}">
                      <a16:colId xmlns:a16="http://schemas.microsoft.com/office/drawing/2014/main" val="3919907886"/>
                    </a:ext>
                  </a:extLst>
                </a:gridCol>
              </a:tblGrid>
              <a:tr h="1035952">
                <a:tc>
                  <a:txBody>
                    <a:bodyPr/>
                    <a:lstStyle/>
                    <a:p>
                      <a:pPr>
                        <a:lnSpc>
                          <a:spcPct val="107000"/>
                        </a:lnSpc>
                        <a:spcAft>
                          <a:spcPts val="800"/>
                        </a:spcAft>
                        <a:buNone/>
                      </a:pP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Accounts (for 12-month period)</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9CC99"/>
                    </a:solidFill>
                  </a:tcPr>
                </a:tc>
                <a:tc>
                  <a:txBody>
                    <a:bodyPr/>
                    <a:lstStyle/>
                    <a:p>
                      <a:pPr algn="ctr">
                        <a:lnSpc>
                          <a:spcPct val="107000"/>
                        </a:lnSpc>
                        <a:spcAft>
                          <a:spcPts val="800"/>
                        </a:spcAft>
                        <a:buNone/>
                      </a:pPr>
                      <a:r>
                        <a:rPr lang="en-GB"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Tax Adjusted Profit for 12 months</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9CC99"/>
                    </a:solidFill>
                  </a:tcPr>
                </a:tc>
                <a:tc>
                  <a:txBody>
                    <a:bodyPr/>
                    <a:lstStyle/>
                    <a:p>
                      <a:pPr algn="ctr">
                        <a:lnSpc>
                          <a:spcPct val="107000"/>
                        </a:lnSpc>
                        <a:spcAft>
                          <a:spcPts val="800"/>
                        </a:spcAft>
                        <a:buNone/>
                      </a:pPr>
                      <a:r>
                        <a:rPr lang="en-IE" sz="2600" b="1" kern="120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Year Assessable</a:t>
                      </a:r>
                      <a:endParaRPr lang="en-IE" sz="2600" kern="10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9CC99"/>
                    </a:solidFill>
                  </a:tcPr>
                </a:tc>
                <a:extLst>
                  <a:ext uri="{0D108BD9-81ED-4DB2-BD59-A6C34878D82A}">
                    <a16:rowId xmlns:a16="http://schemas.microsoft.com/office/drawing/2014/main" val="3787733173"/>
                  </a:ext>
                </a:extLst>
              </a:tr>
              <a:tr h="2005534">
                <a:tc>
                  <a:txBody>
                    <a:bodyPr/>
                    <a:lstStyle/>
                    <a:p>
                      <a:pPr>
                        <a:lnSpc>
                          <a:spcPct val="107000"/>
                        </a:lnSpc>
                        <a:spcAft>
                          <a:spcPts val="800"/>
                        </a:spcAft>
                        <a:buNone/>
                      </a:pPr>
                      <a:r>
                        <a:rPr lang="en-GB"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Rob</a:t>
                      </a:r>
                      <a:r>
                        <a:rPr lang="en-GB"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E"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Year ended 31 December </a:t>
                      </a:r>
                      <a:r>
                        <a:rPr lang="en-IE" sz="2600" u="sng"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2026</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E"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(Basis period - 01/01/2026 to </a:t>
                      </a: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31/12/2026) (</a:t>
                      </a:r>
                      <a:r>
                        <a:rPr lang="en-IE" sz="2600" b="1" i="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12 Months</a:t>
                      </a: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tc>
                  <a:txBody>
                    <a:bodyPr/>
                    <a:lstStyle/>
                    <a:p>
                      <a:pPr algn="ctr">
                        <a:lnSpc>
                          <a:spcPct val="107000"/>
                        </a:lnSpc>
                        <a:spcAft>
                          <a:spcPts val="800"/>
                        </a:spcAft>
                        <a:buNone/>
                      </a:pPr>
                      <a:r>
                        <a:rPr lang="en-GB" sz="2600" kern="120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€35,268</a:t>
                      </a:r>
                      <a:endParaRPr lang="en-IE" sz="2600" kern="10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tc>
                  <a:txBody>
                    <a:bodyPr/>
                    <a:lstStyle/>
                    <a:p>
                      <a:pPr algn="ctr">
                        <a:lnSpc>
                          <a:spcPct val="107000"/>
                        </a:lnSpc>
                        <a:spcAft>
                          <a:spcPts val="800"/>
                        </a:spcAft>
                        <a:buNone/>
                      </a:pPr>
                      <a:r>
                        <a:rPr lang="en-IE" sz="2600" b="1" kern="1200" dirty="0">
                          <a:solidFill>
                            <a:srgbClr val="002A56"/>
                          </a:solidFill>
                          <a:effectLst/>
                          <a:latin typeface="Aptos" panose="020B0004020202020204" pitchFamily="34" charset="0"/>
                          <a:ea typeface="Times New Roman" panose="02020603050405020304" pitchFamily="18" charset="0"/>
                          <a:cs typeface="Times New Roman" panose="02020603050405020304" pitchFamily="18" charset="0"/>
                        </a:rPr>
                        <a:t>2026</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extLst>
                  <a:ext uri="{0D108BD9-81ED-4DB2-BD59-A6C34878D82A}">
                    <a16:rowId xmlns:a16="http://schemas.microsoft.com/office/drawing/2014/main" val="2195504515"/>
                  </a:ext>
                </a:extLst>
              </a:tr>
              <a:tr h="494626">
                <a:tc>
                  <a:txBody>
                    <a:bodyPr/>
                    <a:lstStyle/>
                    <a:p>
                      <a:pPr>
                        <a:lnSpc>
                          <a:spcPct val="107000"/>
                        </a:lnSpc>
                        <a:buNone/>
                      </a:pPr>
                      <a:endParaRPr lang="en-IE" sz="2600" kern="100" dirty="0">
                        <a:effectLst/>
                        <a:latin typeface="Aptos" panose="020B0004020202020204" pitchFamily="34"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F"/>
                    </a:solidFill>
                  </a:tcPr>
                </a:tc>
                <a:tc>
                  <a:txBody>
                    <a:bodyPr/>
                    <a:lstStyle/>
                    <a:p>
                      <a:pPr>
                        <a:lnSpc>
                          <a:spcPct val="107000"/>
                        </a:lnSpc>
                        <a:buNone/>
                      </a:pPr>
                      <a:endParaRPr lang="en-IE" sz="2600" kern="100">
                        <a:effectLst/>
                        <a:latin typeface="Aptos" panose="020B0004020202020204" pitchFamily="34"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F"/>
                    </a:solidFill>
                  </a:tcPr>
                </a:tc>
                <a:tc>
                  <a:txBody>
                    <a:bodyPr/>
                    <a:lstStyle/>
                    <a:p>
                      <a:pPr>
                        <a:lnSpc>
                          <a:spcPct val="107000"/>
                        </a:lnSpc>
                        <a:buNone/>
                      </a:pPr>
                      <a:endParaRPr lang="en-IE" sz="2600" kern="100">
                        <a:effectLst/>
                        <a:latin typeface="Aptos" panose="020B0004020202020204" pitchFamily="34"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F"/>
                    </a:solidFill>
                  </a:tcPr>
                </a:tc>
                <a:extLst>
                  <a:ext uri="{0D108BD9-81ED-4DB2-BD59-A6C34878D82A}">
                    <a16:rowId xmlns:a16="http://schemas.microsoft.com/office/drawing/2014/main" val="3493559246"/>
                  </a:ext>
                </a:extLst>
              </a:tr>
              <a:tr h="2005534">
                <a:tc>
                  <a:txBody>
                    <a:bodyPr/>
                    <a:lstStyle/>
                    <a:p>
                      <a:pPr>
                        <a:lnSpc>
                          <a:spcPct val="107000"/>
                        </a:lnSpc>
                        <a:spcAft>
                          <a:spcPts val="800"/>
                        </a:spcAft>
                        <a:buNone/>
                      </a:pP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Sarah:</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E"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Year ended 30 June </a:t>
                      </a:r>
                      <a:r>
                        <a:rPr lang="en-IE" sz="2600" u="sng"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2026</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E"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(Basis period - 01/07/2025 to </a:t>
                      </a: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30/06/2026) (</a:t>
                      </a:r>
                      <a:r>
                        <a:rPr lang="en-IE" sz="2600" b="1" i="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12 Months</a:t>
                      </a:r>
                      <a:r>
                        <a:rPr lang="en-IE" sz="2600" b="1"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tc>
                  <a:txBody>
                    <a:bodyPr/>
                    <a:lstStyle/>
                    <a:p>
                      <a:pPr algn="ctr">
                        <a:lnSpc>
                          <a:spcPct val="107000"/>
                        </a:lnSpc>
                        <a:spcAft>
                          <a:spcPts val="800"/>
                        </a:spcAft>
                        <a:buNone/>
                      </a:pPr>
                      <a:r>
                        <a:rPr lang="en-GB" sz="2600" kern="1200" dirty="0">
                          <a:solidFill>
                            <a:srgbClr val="003366"/>
                          </a:solidFill>
                          <a:effectLst/>
                          <a:latin typeface="Aptos" panose="020B0004020202020204" pitchFamily="34" charset="0"/>
                          <a:ea typeface="Times New Roman" panose="02020603050405020304" pitchFamily="18" charset="0"/>
                          <a:cs typeface="Times New Roman" panose="02020603050405020304" pitchFamily="18" charset="0"/>
                        </a:rPr>
                        <a:t>€46,749</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tc>
                  <a:txBody>
                    <a:bodyPr/>
                    <a:lstStyle/>
                    <a:p>
                      <a:pPr algn="ctr">
                        <a:lnSpc>
                          <a:spcPct val="107000"/>
                        </a:lnSpc>
                        <a:spcAft>
                          <a:spcPts val="800"/>
                        </a:spcAft>
                        <a:buNone/>
                      </a:pPr>
                      <a:r>
                        <a:rPr lang="en-IE" sz="2600" b="1" kern="1200" dirty="0">
                          <a:solidFill>
                            <a:srgbClr val="002A56"/>
                          </a:solidFill>
                          <a:effectLst/>
                          <a:latin typeface="Aptos" panose="020B0004020202020204" pitchFamily="34" charset="0"/>
                          <a:ea typeface="Times New Roman" panose="02020603050405020304" pitchFamily="18" charset="0"/>
                          <a:cs typeface="Times New Roman" panose="02020603050405020304" pitchFamily="18" charset="0"/>
                        </a:rPr>
                        <a:t>2026</a:t>
                      </a:r>
                      <a:endParaRPr lang="en-IE" sz="2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3478" marR="73478" marT="36739" marB="3673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DE"/>
                    </a:solidFill>
                  </a:tcPr>
                </a:tc>
                <a:extLst>
                  <a:ext uri="{0D108BD9-81ED-4DB2-BD59-A6C34878D82A}">
                    <a16:rowId xmlns:a16="http://schemas.microsoft.com/office/drawing/2014/main" val="3734309119"/>
                  </a:ext>
                </a:extLst>
              </a:tr>
            </a:tbl>
          </a:graphicData>
        </a:graphic>
      </p:graphicFrame>
    </p:spTree>
    <p:extLst>
      <p:ext uri="{BB962C8B-B14F-4D97-AF65-F5344CB8AC3E}">
        <p14:creationId xmlns:p14="http://schemas.microsoft.com/office/powerpoint/2010/main" val="41030660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CA91D-848D-8966-CF4C-CAAE48978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26385-FC7C-6D73-EA42-FD8E5C0DAD96}"/>
              </a:ext>
            </a:extLst>
          </p:cNvPr>
          <p:cNvSpPr>
            <a:spLocks noGrp="1"/>
          </p:cNvSpPr>
          <p:nvPr>
            <p:ph type="title"/>
          </p:nvPr>
        </p:nvSpPr>
        <p:spPr>
          <a:xfrm>
            <a:off x="838200" y="1"/>
            <a:ext cx="10487140" cy="1189822"/>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Commencing to Trade - 1st Year of Trading</a:t>
            </a:r>
          </a:p>
        </p:txBody>
      </p:sp>
      <p:sp>
        <p:nvSpPr>
          <p:cNvPr id="4" name="Content Placeholder 3">
            <a:extLst>
              <a:ext uri="{FF2B5EF4-FFF2-40B4-BE49-F238E27FC236}">
                <a16:creationId xmlns:a16="http://schemas.microsoft.com/office/drawing/2014/main" id="{2F2302E3-69C5-F8CD-CDE6-B78517443395}"/>
              </a:ext>
            </a:extLst>
          </p:cNvPr>
          <p:cNvSpPr>
            <a:spLocks noGrp="1"/>
          </p:cNvSpPr>
          <p:nvPr>
            <p:ph sz="half" idx="1"/>
          </p:nvPr>
        </p:nvSpPr>
        <p:spPr>
          <a:xfrm>
            <a:off x="638978" y="1362765"/>
            <a:ext cx="9234365" cy="4696187"/>
          </a:xfrm>
        </p:spPr>
        <p:txBody>
          <a:bodyPr>
            <a:normAutofit lnSpcReduction="10000"/>
          </a:bodyPr>
          <a:lstStyle/>
          <a:p>
            <a:pPr marL="0" indent="0">
              <a:lnSpc>
                <a:spcPct val="120000"/>
              </a:lnSpc>
              <a:buNone/>
            </a:pPr>
            <a:r>
              <a:rPr lang="en-IE" b="1" dirty="0">
                <a:solidFill>
                  <a:schemeClr val="tx2">
                    <a:lumMod val="90000"/>
                    <a:lumOff val="10000"/>
                  </a:schemeClr>
                </a:solidFill>
              </a:rPr>
              <a:t>Year 1</a:t>
            </a:r>
            <a:r>
              <a:rPr lang="en-IE" dirty="0">
                <a:solidFill>
                  <a:schemeClr val="tx2">
                    <a:lumMod val="90000"/>
                    <a:lumOff val="10000"/>
                  </a:schemeClr>
                </a:solidFill>
              </a:rPr>
              <a:t>: The business </a:t>
            </a:r>
            <a:r>
              <a:rPr lang="en-IE" b="1" dirty="0">
                <a:solidFill>
                  <a:schemeClr val="tx2">
                    <a:lumMod val="90000"/>
                    <a:lumOff val="10000"/>
                  </a:schemeClr>
                </a:solidFill>
              </a:rPr>
              <a:t>commences</a:t>
            </a:r>
            <a:r>
              <a:rPr lang="en-IE" dirty="0">
                <a:solidFill>
                  <a:schemeClr val="tx2">
                    <a:lumMod val="90000"/>
                    <a:lumOff val="10000"/>
                  </a:schemeClr>
                </a:solidFill>
              </a:rPr>
              <a:t> trading</a:t>
            </a:r>
          </a:p>
          <a:p>
            <a:pPr marL="0" indent="0">
              <a:lnSpc>
                <a:spcPct val="120000"/>
              </a:lnSpc>
              <a:buNone/>
            </a:pPr>
            <a:endParaRPr lang="en-IE" sz="1100" dirty="0">
              <a:solidFill>
                <a:schemeClr val="tx2">
                  <a:lumMod val="90000"/>
                  <a:lumOff val="10000"/>
                </a:schemeClr>
              </a:solidFill>
            </a:endParaRPr>
          </a:p>
          <a:p>
            <a:pPr>
              <a:lnSpc>
                <a:spcPct val="120000"/>
              </a:lnSpc>
            </a:pPr>
            <a:r>
              <a:rPr lang="en-IE" dirty="0">
                <a:solidFill>
                  <a:schemeClr val="tx2">
                    <a:lumMod val="90000"/>
                    <a:lumOff val="10000"/>
                  </a:schemeClr>
                </a:solidFill>
              </a:rPr>
              <a:t>The tax assessment for the first year of trading is based on </a:t>
            </a:r>
            <a:r>
              <a:rPr lang="en-IE" b="1" dirty="0">
                <a:solidFill>
                  <a:schemeClr val="tx2">
                    <a:lumMod val="90000"/>
                    <a:lumOff val="10000"/>
                  </a:schemeClr>
                </a:solidFill>
              </a:rPr>
              <a:t>profits arising </a:t>
            </a:r>
            <a:r>
              <a:rPr lang="en-IE" dirty="0">
                <a:solidFill>
                  <a:schemeClr val="tx2">
                    <a:lumMod val="90000"/>
                    <a:lumOff val="10000"/>
                  </a:schemeClr>
                </a:solidFill>
              </a:rPr>
              <a:t>from the </a:t>
            </a:r>
            <a:r>
              <a:rPr lang="en-IE" b="1" dirty="0">
                <a:solidFill>
                  <a:schemeClr val="tx2">
                    <a:lumMod val="90000"/>
                    <a:lumOff val="10000"/>
                  </a:schemeClr>
                </a:solidFill>
              </a:rPr>
              <a:t>date of commencement of the business to 31 December </a:t>
            </a:r>
            <a:r>
              <a:rPr lang="en-IE" b="1" u="sng" dirty="0">
                <a:solidFill>
                  <a:schemeClr val="tx2">
                    <a:lumMod val="90000"/>
                    <a:lumOff val="10000"/>
                  </a:schemeClr>
                </a:solidFill>
              </a:rPr>
              <a:t>of that year</a:t>
            </a:r>
          </a:p>
          <a:p>
            <a:pPr>
              <a:lnSpc>
                <a:spcPct val="120000"/>
              </a:lnSpc>
            </a:pPr>
            <a:endParaRPr lang="en-IE" sz="1000" b="1" dirty="0">
              <a:solidFill>
                <a:schemeClr val="tx2">
                  <a:lumMod val="90000"/>
                  <a:lumOff val="10000"/>
                </a:schemeClr>
              </a:solidFill>
            </a:endParaRPr>
          </a:p>
          <a:p>
            <a:pPr>
              <a:lnSpc>
                <a:spcPct val="120000"/>
              </a:lnSpc>
            </a:pPr>
            <a:r>
              <a:rPr lang="en-IE" dirty="0">
                <a:solidFill>
                  <a:schemeClr val="tx2">
                    <a:lumMod val="90000"/>
                    <a:lumOff val="10000"/>
                  </a:schemeClr>
                </a:solidFill>
              </a:rPr>
              <a:t>This period, referred to as the </a:t>
            </a:r>
            <a:r>
              <a:rPr lang="en-IE" b="1" dirty="0">
                <a:solidFill>
                  <a:schemeClr val="tx2">
                    <a:lumMod val="90000"/>
                    <a:lumOff val="10000"/>
                  </a:schemeClr>
                </a:solidFill>
              </a:rPr>
              <a:t>basis period, </a:t>
            </a:r>
            <a:r>
              <a:rPr lang="en-IE" dirty="0">
                <a:solidFill>
                  <a:schemeClr val="tx2">
                    <a:lumMod val="90000"/>
                    <a:lumOff val="10000"/>
                  </a:schemeClr>
                </a:solidFill>
              </a:rPr>
              <a:t>is </a:t>
            </a:r>
            <a:r>
              <a:rPr lang="en-IE" b="1" dirty="0">
                <a:solidFill>
                  <a:schemeClr val="tx2">
                    <a:lumMod val="90000"/>
                    <a:lumOff val="10000"/>
                  </a:schemeClr>
                </a:solidFill>
              </a:rPr>
              <a:t>imposed</a:t>
            </a:r>
            <a:r>
              <a:rPr lang="en-IE" dirty="0">
                <a:solidFill>
                  <a:schemeClr val="tx2">
                    <a:lumMod val="90000"/>
                    <a:lumOff val="10000"/>
                  </a:schemeClr>
                </a:solidFill>
              </a:rPr>
              <a:t> </a:t>
            </a:r>
            <a:r>
              <a:rPr lang="en-IE" b="1" dirty="0">
                <a:solidFill>
                  <a:schemeClr val="tx2">
                    <a:lumMod val="90000"/>
                    <a:lumOff val="10000"/>
                  </a:schemeClr>
                </a:solidFill>
              </a:rPr>
              <a:t>by legislation </a:t>
            </a:r>
            <a:r>
              <a:rPr lang="en-IE" dirty="0">
                <a:solidFill>
                  <a:schemeClr val="tx2">
                    <a:lumMod val="90000"/>
                    <a:lumOff val="10000"/>
                  </a:schemeClr>
                </a:solidFill>
              </a:rPr>
              <a:t>in the first year of trading, the profit (</a:t>
            </a:r>
            <a:r>
              <a:rPr lang="en-IE" i="1" dirty="0">
                <a:solidFill>
                  <a:schemeClr val="tx2">
                    <a:lumMod val="90000"/>
                    <a:lumOff val="10000"/>
                  </a:schemeClr>
                </a:solidFill>
              </a:rPr>
              <a:t>or loss</a:t>
            </a:r>
            <a:r>
              <a:rPr lang="en-IE" dirty="0">
                <a:solidFill>
                  <a:schemeClr val="tx2">
                    <a:lumMod val="90000"/>
                    <a:lumOff val="10000"/>
                  </a:schemeClr>
                </a:solidFill>
              </a:rPr>
              <a:t>) will relate to the ‘actual’ or ‘calendar’ </a:t>
            </a:r>
            <a:r>
              <a:rPr lang="en-IE" b="1" dirty="0">
                <a:solidFill>
                  <a:schemeClr val="tx2">
                    <a:lumMod val="90000"/>
                    <a:lumOff val="10000"/>
                  </a:schemeClr>
                </a:solidFill>
              </a:rPr>
              <a:t>months of trading </a:t>
            </a:r>
            <a:r>
              <a:rPr lang="en-IE" dirty="0">
                <a:solidFill>
                  <a:schemeClr val="tx2">
                    <a:lumMod val="90000"/>
                    <a:lumOff val="10000"/>
                  </a:schemeClr>
                </a:solidFill>
              </a:rPr>
              <a:t>up to 31 December.</a:t>
            </a:r>
            <a:endParaRPr lang="en-IE" b="1" dirty="0">
              <a:solidFill>
                <a:schemeClr val="tx2">
                  <a:lumMod val="90000"/>
                  <a:lumOff val="10000"/>
                </a:schemeClr>
              </a:solidFill>
            </a:endParaRPr>
          </a:p>
        </p:txBody>
      </p:sp>
      <p:pic>
        <p:nvPicPr>
          <p:cNvPr id="5" name="Picture 4">
            <a:extLst>
              <a:ext uri="{FF2B5EF4-FFF2-40B4-BE49-F238E27FC236}">
                <a16:creationId xmlns:a16="http://schemas.microsoft.com/office/drawing/2014/main" id="{FA3EBDAF-F774-3B46-F237-B67A835C1A4E}"/>
              </a:ext>
            </a:extLst>
          </p:cNvPr>
          <p:cNvPicPr>
            <a:picLocks noChangeAspect="1"/>
          </p:cNvPicPr>
          <p:nvPr/>
        </p:nvPicPr>
        <p:blipFill>
          <a:blip r:embed="rId3"/>
          <a:stretch>
            <a:fillRect/>
          </a:stretch>
        </p:blipFill>
        <p:spPr>
          <a:xfrm>
            <a:off x="0" y="6069"/>
            <a:ext cx="1227083" cy="622135"/>
          </a:xfrm>
          <a:prstGeom prst="rect">
            <a:avLst/>
          </a:prstGeom>
        </p:spPr>
      </p:pic>
      <p:pic>
        <p:nvPicPr>
          <p:cNvPr id="6" name="Picture 5">
            <a:extLst>
              <a:ext uri="{FF2B5EF4-FFF2-40B4-BE49-F238E27FC236}">
                <a16:creationId xmlns:a16="http://schemas.microsoft.com/office/drawing/2014/main" id="{48C21595-DFEB-BB95-B7E5-C190D38A1070}"/>
              </a:ext>
            </a:extLst>
          </p:cNvPr>
          <p:cNvPicPr>
            <a:picLocks noChangeAspect="1"/>
          </p:cNvPicPr>
          <p:nvPr/>
        </p:nvPicPr>
        <p:blipFill>
          <a:blip r:embed="rId4"/>
          <a:stretch>
            <a:fillRect/>
          </a:stretch>
        </p:blipFill>
        <p:spPr>
          <a:xfrm>
            <a:off x="10016630" y="2355705"/>
            <a:ext cx="1896574" cy="1901513"/>
          </a:xfrm>
          <a:prstGeom prst="rect">
            <a:avLst/>
          </a:prstGeom>
        </p:spPr>
      </p:pic>
    </p:spTree>
    <p:extLst>
      <p:ext uri="{BB962C8B-B14F-4D97-AF65-F5344CB8AC3E}">
        <p14:creationId xmlns:p14="http://schemas.microsoft.com/office/powerpoint/2010/main" val="23984844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6474B-46A1-04C2-164C-19035DD4F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33443-9E93-C26E-9376-200E2557CDE2}"/>
              </a:ext>
            </a:extLst>
          </p:cNvPr>
          <p:cNvSpPr>
            <a:spLocks noGrp="1"/>
          </p:cNvSpPr>
          <p:nvPr>
            <p:ph type="title"/>
          </p:nvPr>
        </p:nvSpPr>
        <p:spPr>
          <a:xfrm>
            <a:off x="756920" y="10054"/>
            <a:ext cx="10678160" cy="1077067"/>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Scenario 1- One 12-month set of Accounts </a:t>
            </a:r>
          </a:p>
        </p:txBody>
      </p:sp>
      <p:sp>
        <p:nvSpPr>
          <p:cNvPr id="4" name="Content Placeholder 3">
            <a:extLst>
              <a:ext uri="{FF2B5EF4-FFF2-40B4-BE49-F238E27FC236}">
                <a16:creationId xmlns:a16="http://schemas.microsoft.com/office/drawing/2014/main" id="{29FA0341-D9A2-3090-E227-41E2CA02C5AF}"/>
              </a:ext>
            </a:extLst>
          </p:cNvPr>
          <p:cNvSpPr>
            <a:spLocks noGrp="1"/>
          </p:cNvSpPr>
          <p:nvPr>
            <p:ph sz="half" idx="1"/>
          </p:nvPr>
        </p:nvSpPr>
        <p:spPr>
          <a:xfrm>
            <a:off x="670560" y="1087121"/>
            <a:ext cx="9322526" cy="4921032"/>
          </a:xfrm>
        </p:spPr>
        <p:txBody>
          <a:bodyPr>
            <a:normAutofit fontScale="92500" lnSpcReduction="10000"/>
          </a:bodyPr>
          <a:lstStyle/>
          <a:p>
            <a:pPr marL="0" indent="0">
              <a:lnSpc>
                <a:spcPct val="130000"/>
              </a:lnSpc>
              <a:buNone/>
            </a:pPr>
            <a:r>
              <a:rPr lang="en-IE" dirty="0">
                <a:solidFill>
                  <a:schemeClr val="tx2">
                    <a:lumMod val="90000"/>
                    <a:lumOff val="10000"/>
                  </a:schemeClr>
                </a:solidFill>
              </a:rPr>
              <a:t>On 1 Oct 2024, Jack commenced trading as a lumberjack his </a:t>
            </a:r>
            <a:r>
              <a:rPr lang="en-IE" b="1" dirty="0">
                <a:solidFill>
                  <a:schemeClr val="tx2">
                    <a:lumMod val="90000"/>
                    <a:lumOff val="10000"/>
                  </a:schemeClr>
                </a:solidFill>
              </a:rPr>
              <a:t>first 12-month </a:t>
            </a:r>
            <a:r>
              <a:rPr lang="en-IE" dirty="0">
                <a:solidFill>
                  <a:schemeClr val="tx2">
                    <a:lumMod val="90000"/>
                    <a:lumOff val="10000"/>
                  </a:schemeClr>
                </a:solidFill>
              </a:rPr>
              <a:t>set of accounts for the period </a:t>
            </a:r>
            <a:r>
              <a:rPr lang="en-IE" b="1" dirty="0">
                <a:solidFill>
                  <a:schemeClr val="tx2">
                    <a:lumMod val="90000"/>
                    <a:lumOff val="10000"/>
                  </a:schemeClr>
                </a:solidFill>
              </a:rPr>
              <a:t>1 Oct 2024 to 30 Sept 2025 </a:t>
            </a:r>
            <a:r>
              <a:rPr lang="en-IE" dirty="0">
                <a:solidFill>
                  <a:schemeClr val="tx2">
                    <a:lumMod val="90000"/>
                    <a:lumOff val="10000"/>
                  </a:schemeClr>
                </a:solidFill>
              </a:rPr>
              <a:t>is a €26,000 profit</a:t>
            </a:r>
          </a:p>
          <a:p>
            <a:pPr>
              <a:lnSpc>
                <a:spcPct val="130000"/>
              </a:lnSpc>
            </a:pPr>
            <a:endParaRPr lang="en-IE" sz="1000" dirty="0">
              <a:solidFill>
                <a:schemeClr val="tx2">
                  <a:lumMod val="90000"/>
                  <a:lumOff val="10000"/>
                </a:schemeClr>
              </a:solidFill>
            </a:endParaRPr>
          </a:p>
          <a:p>
            <a:pPr>
              <a:lnSpc>
                <a:spcPct val="130000"/>
              </a:lnSpc>
            </a:pPr>
            <a:r>
              <a:rPr lang="en-IE" dirty="0">
                <a:solidFill>
                  <a:schemeClr val="tx2">
                    <a:lumMod val="90000"/>
                    <a:lumOff val="10000"/>
                  </a:schemeClr>
                </a:solidFill>
              </a:rPr>
              <a:t>The €26,000 profit does not relate to the calendar year 2024 or 2025, it spans two tax years but relates to a </a:t>
            </a:r>
            <a:r>
              <a:rPr lang="en-IE" b="1" dirty="0">
                <a:solidFill>
                  <a:schemeClr val="tx2">
                    <a:lumMod val="90000"/>
                    <a:lumOff val="10000"/>
                  </a:schemeClr>
                </a:solidFill>
              </a:rPr>
              <a:t>12-month period starting in Oct 2024 and ending in Sept 2025</a:t>
            </a:r>
          </a:p>
          <a:p>
            <a:pPr>
              <a:lnSpc>
                <a:spcPct val="130000"/>
              </a:lnSpc>
            </a:pPr>
            <a:r>
              <a:rPr lang="en-IE" dirty="0">
                <a:solidFill>
                  <a:schemeClr val="tx2">
                    <a:lumMod val="90000"/>
                    <a:lumOff val="10000"/>
                  </a:schemeClr>
                </a:solidFill>
              </a:rPr>
              <a:t>Jack’s </a:t>
            </a:r>
            <a:r>
              <a:rPr lang="en-IE" b="1" dirty="0">
                <a:solidFill>
                  <a:schemeClr val="tx2">
                    <a:lumMod val="90000"/>
                    <a:lumOff val="10000"/>
                  </a:schemeClr>
                </a:solidFill>
              </a:rPr>
              <a:t>second</a:t>
            </a:r>
            <a:r>
              <a:rPr lang="en-IE" dirty="0">
                <a:solidFill>
                  <a:schemeClr val="tx2">
                    <a:lumMod val="90000"/>
                    <a:lumOff val="10000"/>
                  </a:schemeClr>
                </a:solidFill>
              </a:rPr>
              <a:t> 12-month set of accounts shows a </a:t>
            </a:r>
            <a:r>
              <a:rPr lang="en-IE" b="1" dirty="0">
                <a:solidFill>
                  <a:schemeClr val="tx2">
                    <a:lumMod val="90000"/>
                    <a:lumOff val="10000"/>
                  </a:schemeClr>
                </a:solidFill>
              </a:rPr>
              <a:t>smaller profit of €16,000 from 1 Oct 2025 to 30 Sept 2026 </a:t>
            </a:r>
            <a:r>
              <a:rPr lang="en-IE" i="1" dirty="0">
                <a:solidFill>
                  <a:schemeClr val="tx2">
                    <a:lumMod val="90000"/>
                    <a:lumOff val="10000"/>
                  </a:schemeClr>
                </a:solidFill>
              </a:rPr>
              <a:t>(Note: this profit is charged to tax in 2026 i.e. Jack’s third year in business)</a:t>
            </a:r>
          </a:p>
          <a:p>
            <a:pPr marL="0" indent="0">
              <a:lnSpc>
                <a:spcPct val="120000"/>
              </a:lnSpc>
              <a:buNone/>
            </a:pPr>
            <a:endParaRPr lang="en-IE" dirty="0">
              <a:solidFill>
                <a:srgbClr val="006666"/>
              </a:solidFill>
            </a:endParaRPr>
          </a:p>
        </p:txBody>
      </p:sp>
      <p:pic>
        <p:nvPicPr>
          <p:cNvPr id="5" name="Picture 4">
            <a:extLst>
              <a:ext uri="{FF2B5EF4-FFF2-40B4-BE49-F238E27FC236}">
                <a16:creationId xmlns:a16="http://schemas.microsoft.com/office/drawing/2014/main" id="{97B6B72D-1F55-9254-5B97-D38DBD0DD4CA}"/>
              </a:ext>
            </a:extLst>
          </p:cNvPr>
          <p:cNvPicPr>
            <a:picLocks noChangeAspect="1"/>
          </p:cNvPicPr>
          <p:nvPr/>
        </p:nvPicPr>
        <p:blipFill>
          <a:blip r:embed="rId3"/>
          <a:stretch>
            <a:fillRect/>
          </a:stretch>
        </p:blipFill>
        <p:spPr>
          <a:xfrm>
            <a:off x="0" y="6069"/>
            <a:ext cx="1227083" cy="622135"/>
          </a:xfrm>
          <a:prstGeom prst="rect">
            <a:avLst/>
          </a:prstGeom>
        </p:spPr>
      </p:pic>
      <p:pic>
        <p:nvPicPr>
          <p:cNvPr id="6" name="Picture 5">
            <a:extLst>
              <a:ext uri="{FF2B5EF4-FFF2-40B4-BE49-F238E27FC236}">
                <a16:creationId xmlns:a16="http://schemas.microsoft.com/office/drawing/2014/main" id="{3A698455-DAE2-A123-AB94-5B13C23376D1}"/>
              </a:ext>
            </a:extLst>
          </p:cNvPr>
          <p:cNvPicPr>
            <a:picLocks noChangeAspect="1"/>
          </p:cNvPicPr>
          <p:nvPr/>
        </p:nvPicPr>
        <p:blipFill>
          <a:blip r:embed="rId4"/>
          <a:stretch>
            <a:fillRect/>
          </a:stretch>
        </p:blipFill>
        <p:spPr>
          <a:xfrm>
            <a:off x="9851571" y="2116591"/>
            <a:ext cx="1845809" cy="1845809"/>
          </a:xfrm>
          <a:prstGeom prst="rect">
            <a:avLst/>
          </a:prstGeom>
        </p:spPr>
      </p:pic>
    </p:spTree>
    <p:extLst>
      <p:ext uri="{BB962C8B-B14F-4D97-AF65-F5344CB8AC3E}">
        <p14:creationId xmlns:p14="http://schemas.microsoft.com/office/powerpoint/2010/main" val="138707319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8D7E2-8D04-86F7-F756-B39F56D45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B1B98-F05E-D88C-3499-8D3B1B5BCE43}"/>
              </a:ext>
            </a:extLst>
          </p:cNvPr>
          <p:cNvSpPr>
            <a:spLocks noGrp="1"/>
          </p:cNvSpPr>
          <p:nvPr>
            <p:ph type="title"/>
          </p:nvPr>
        </p:nvSpPr>
        <p:spPr>
          <a:xfrm>
            <a:off x="838200" y="1"/>
            <a:ext cx="10421039" cy="1066799"/>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Example cont’d: Assessable Profit in Year 1</a:t>
            </a:r>
          </a:p>
        </p:txBody>
      </p:sp>
      <p:sp>
        <p:nvSpPr>
          <p:cNvPr id="4" name="Content Placeholder 3">
            <a:extLst>
              <a:ext uri="{FF2B5EF4-FFF2-40B4-BE49-F238E27FC236}">
                <a16:creationId xmlns:a16="http://schemas.microsoft.com/office/drawing/2014/main" id="{0E34CD9F-A1A0-940D-D6B8-4D2DF5539A4F}"/>
              </a:ext>
            </a:extLst>
          </p:cNvPr>
          <p:cNvSpPr>
            <a:spLocks noGrp="1"/>
          </p:cNvSpPr>
          <p:nvPr>
            <p:ph sz="half" idx="1"/>
          </p:nvPr>
        </p:nvSpPr>
        <p:spPr>
          <a:xfrm>
            <a:off x="508000" y="1066800"/>
            <a:ext cx="11206922" cy="5557519"/>
          </a:xfrm>
        </p:spPr>
        <p:txBody>
          <a:bodyPr>
            <a:noAutofit/>
          </a:bodyPr>
          <a:lstStyle/>
          <a:p>
            <a:pPr marL="0" indent="0">
              <a:lnSpc>
                <a:spcPct val="130000"/>
              </a:lnSpc>
              <a:buNone/>
            </a:pPr>
            <a:r>
              <a:rPr lang="en-IE" sz="2500" b="1" dirty="0">
                <a:solidFill>
                  <a:schemeClr val="tx2">
                    <a:lumMod val="90000"/>
                    <a:lumOff val="10000"/>
                  </a:schemeClr>
                </a:solidFill>
              </a:rPr>
              <a:t>Year 1 - 2024:</a:t>
            </a:r>
          </a:p>
          <a:p>
            <a:pPr marL="0" indent="0">
              <a:lnSpc>
                <a:spcPct val="130000"/>
              </a:lnSpc>
              <a:buNone/>
            </a:pPr>
            <a:r>
              <a:rPr lang="en-IE" sz="2500" dirty="0">
                <a:solidFill>
                  <a:schemeClr val="tx2">
                    <a:lumMod val="90000"/>
                    <a:lumOff val="10000"/>
                  </a:schemeClr>
                </a:solidFill>
              </a:rPr>
              <a:t>Jack’s ‘Basis period’ in his first year starts on the date his business commenced to trade and ends on 31Dec in the </a:t>
            </a:r>
            <a:r>
              <a:rPr lang="en-IE" sz="2500" b="1" dirty="0">
                <a:solidFill>
                  <a:schemeClr val="tx2">
                    <a:lumMod val="90000"/>
                    <a:lumOff val="10000"/>
                  </a:schemeClr>
                </a:solidFill>
              </a:rPr>
              <a:t>same tax year</a:t>
            </a:r>
            <a:r>
              <a:rPr lang="en-IE" sz="2500" dirty="0">
                <a:solidFill>
                  <a:schemeClr val="tx2">
                    <a:lumMod val="90000"/>
                    <a:lumOff val="10000"/>
                  </a:schemeClr>
                </a:solidFill>
              </a:rPr>
              <a:t>, e.g. </a:t>
            </a:r>
            <a:r>
              <a:rPr lang="en-IE" sz="2500" b="1" dirty="0">
                <a:solidFill>
                  <a:schemeClr val="tx2">
                    <a:lumMod val="90000"/>
                    <a:lumOff val="10000"/>
                  </a:schemeClr>
                </a:solidFill>
              </a:rPr>
              <a:t>1 Oct 2024 to 31 Dec 2024 </a:t>
            </a:r>
            <a:r>
              <a:rPr lang="en-IE" sz="2500" dirty="0">
                <a:solidFill>
                  <a:schemeClr val="tx2">
                    <a:lumMod val="90000"/>
                    <a:lumOff val="10000"/>
                  </a:schemeClr>
                </a:solidFill>
              </a:rPr>
              <a:t>hence Jack’s 12-month profit of €26,000 must be </a:t>
            </a:r>
            <a:r>
              <a:rPr lang="en-IE" sz="2500" b="1" dirty="0">
                <a:solidFill>
                  <a:schemeClr val="tx2">
                    <a:lumMod val="90000"/>
                    <a:lumOff val="10000"/>
                  </a:schemeClr>
                </a:solidFill>
              </a:rPr>
              <a:t>apportioned</a:t>
            </a:r>
            <a:r>
              <a:rPr lang="en-IE" sz="2500" dirty="0">
                <a:solidFill>
                  <a:schemeClr val="tx2">
                    <a:lumMod val="90000"/>
                    <a:lumOff val="10000"/>
                  </a:schemeClr>
                </a:solidFill>
              </a:rPr>
              <a:t> so that he can return </a:t>
            </a:r>
            <a:r>
              <a:rPr lang="en-IE" sz="2500" b="1" dirty="0">
                <a:solidFill>
                  <a:schemeClr val="tx2">
                    <a:lumMod val="90000"/>
                    <a:lumOff val="10000"/>
                  </a:schemeClr>
                </a:solidFill>
              </a:rPr>
              <a:t>3 month’s profit </a:t>
            </a:r>
            <a:r>
              <a:rPr lang="en-IE" sz="2500" dirty="0">
                <a:solidFill>
                  <a:schemeClr val="tx2">
                    <a:lumMod val="90000"/>
                    <a:lumOff val="10000"/>
                  </a:schemeClr>
                </a:solidFill>
              </a:rPr>
              <a:t>on his Form 11 for </a:t>
            </a:r>
            <a:r>
              <a:rPr lang="en-IE" sz="2500" b="1" dirty="0">
                <a:solidFill>
                  <a:schemeClr val="tx2">
                    <a:lumMod val="90000"/>
                    <a:lumOff val="10000"/>
                  </a:schemeClr>
                </a:solidFill>
              </a:rPr>
              <a:t>2024</a:t>
            </a:r>
          </a:p>
          <a:p>
            <a:pPr marL="0" indent="0">
              <a:lnSpc>
                <a:spcPct val="130000"/>
              </a:lnSpc>
              <a:buNone/>
            </a:pPr>
            <a:endParaRPr lang="en-IE" sz="2500" dirty="0">
              <a:solidFill>
                <a:schemeClr val="tx2">
                  <a:lumMod val="90000"/>
                  <a:lumOff val="10000"/>
                </a:schemeClr>
              </a:solidFill>
            </a:endParaRPr>
          </a:p>
          <a:p>
            <a:pPr marL="0" indent="0">
              <a:lnSpc>
                <a:spcPct val="130000"/>
              </a:lnSpc>
              <a:buNone/>
            </a:pPr>
            <a:r>
              <a:rPr lang="en-IE" sz="2500" dirty="0">
                <a:solidFill>
                  <a:schemeClr val="tx2">
                    <a:lumMod val="90000"/>
                    <a:lumOff val="10000"/>
                  </a:schemeClr>
                </a:solidFill>
              </a:rPr>
              <a:t>  </a:t>
            </a:r>
            <a:r>
              <a:rPr lang="en-IE" sz="2500" b="1" dirty="0">
                <a:solidFill>
                  <a:schemeClr val="tx2">
                    <a:lumMod val="90000"/>
                    <a:lumOff val="10000"/>
                  </a:schemeClr>
                </a:solidFill>
              </a:rPr>
              <a:t>€26,000 x 3/12 = €6,500 taxable profit 2024 </a:t>
            </a:r>
            <a:r>
              <a:rPr lang="en-IE" sz="2500" i="1" dirty="0">
                <a:solidFill>
                  <a:schemeClr val="tx2">
                    <a:lumMod val="90000"/>
                    <a:lumOff val="10000"/>
                  </a:schemeClr>
                </a:solidFill>
              </a:rPr>
              <a:t>(Oct, Nov &amp; Dec)</a:t>
            </a:r>
          </a:p>
          <a:p>
            <a:pPr marL="0" indent="0">
              <a:lnSpc>
                <a:spcPct val="130000"/>
              </a:lnSpc>
              <a:buNone/>
            </a:pPr>
            <a:r>
              <a:rPr lang="en-IE" sz="2500" i="1" dirty="0">
                <a:solidFill>
                  <a:srgbClr val="006666"/>
                </a:solidFill>
              </a:rPr>
              <a:t>Note: The same €26,000 will also be used when Jack is returning his 12-month profit on his 2025 Form 11 but </a:t>
            </a:r>
            <a:r>
              <a:rPr lang="en-IE" sz="2500" b="1" i="1" dirty="0">
                <a:solidFill>
                  <a:srgbClr val="006666"/>
                </a:solidFill>
              </a:rPr>
              <a:t>he may be able to claim relief in year 3 referred to as ‘second year excess’</a:t>
            </a:r>
          </a:p>
          <a:p>
            <a:pPr marL="0" indent="0">
              <a:lnSpc>
                <a:spcPct val="130000"/>
              </a:lnSpc>
              <a:buNone/>
            </a:pPr>
            <a:endParaRPr lang="en-IE" sz="1000" b="1" dirty="0"/>
          </a:p>
        </p:txBody>
      </p:sp>
      <p:pic>
        <p:nvPicPr>
          <p:cNvPr id="5" name="Picture 4">
            <a:extLst>
              <a:ext uri="{FF2B5EF4-FFF2-40B4-BE49-F238E27FC236}">
                <a16:creationId xmlns:a16="http://schemas.microsoft.com/office/drawing/2014/main" id="{8525CBF5-7AD0-6E61-292F-D8A2996A53B7}"/>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17021850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02095-4F74-440A-C450-0F2D89104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A735F-4C27-70B8-BB9F-80BC23B6C686}"/>
              </a:ext>
            </a:extLst>
          </p:cNvPr>
          <p:cNvSpPr>
            <a:spLocks noGrp="1"/>
          </p:cNvSpPr>
          <p:nvPr>
            <p:ph type="title"/>
          </p:nvPr>
        </p:nvSpPr>
        <p:spPr>
          <a:xfrm>
            <a:off x="838200" y="0"/>
            <a:ext cx="10126717" cy="1024569"/>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Example cont’d: 2nd Year of Trading</a:t>
            </a:r>
          </a:p>
        </p:txBody>
      </p:sp>
      <p:sp>
        <p:nvSpPr>
          <p:cNvPr id="4" name="Content Placeholder 3">
            <a:extLst>
              <a:ext uri="{FF2B5EF4-FFF2-40B4-BE49-F238E27FC236}">
                <a16:creationId xmlns:a16="http://schemas.microsoft.com/office/drawing/2014/main" id="{37D3ED9C-B276-4DC1-5AED-07211517F80D}"/>
              </a:ext>
            </a:extLst>
          </p:cNvPr>
          <p:cNvSpPr>
            <a:spLocks noGrp="1"/>
          </p:cNvSpPr>
          <p:nvPr>
            <p:ph sz="half" idx="1"/>
          </p:nvPr>
        </p:nvSpPr>
        <p:spPr>
          <a:xfrm>
            <a:off x="886460" y="1230685"/>
            <a:ext cx="10419080" cy="4696187"/>
          </a:xfrm>
        </p:spPr>
        <p:txBody>
          <a:bodyPr>
            <a:normAutofit fontScale="92500" lnSpcReduction="20000"/>
          </a:bodyPr>
          <a:lstStyle/>
          <a:p>
            <a:pPr marL="0" indent="0">
              <a:lnSpc>
                <a:spcPct val="120000"/>
              </a:lnSpc>
              <a:buNone/>
            </a:pPr>
            <a:r>
              <a:rPr lang="en-IE" b="1" dirty="0">
                <a:solidFill>
                  <a:schemeClr val="tx2">
                    <a:lumMod val="90000"/>
                    <a:lumOff val="10000"/>
                  </a:schemeClr>
                </a:solidFill>
              </a:rPr>
              <a:t>Year 2 - 2025:</a:t>
            </a:r>
            <a:endParaRPr lang="en-IE" dirty="0">
              <a:solidFill>
                <a:schemeClr val="tx2">
                  <a:lumMod val="90000"/>
                  <a:lumOff val="10000"/>
                </a:schemeClr>
              </a:solidFill>
            </a:endParaRPr>
          </a:p>
          <a:p>
            <a:pPr marL="0" indent="0">
              <a:lnSpc>
                <a:spcPct val="120000"/>
              </a:lnSpc>
              <a:buNone/>
            </a:pPr>
            <a:r>
              <a:rPr lang="en-IE" dirty="0">
                <a:solidFill>
                  <a:schemeClr val="tx2">
                    <a:lumMod val="90000"/>
                    <a:lumOff val="10000"/>
                  </a:schemeClr>
                </a:solidFill>
              </a:rPr>
              <a:t>Jack’s first ‘set of accounts’ was prepared for a period of </a:t>
            </a:r>
            <a:r>
              <a:rPr lang="en-IE" b="1" dirty="0">
                <a:solidFill>
                  <a:schemeClr val="tx2">
                    <a:lumMod val="90000"/>
                    <a:lumOff val="10000"/>
                  </a:schemeClr>
                </a:solidFill>
              </a:rPr>
              <a:t>12-months from the commencement of the trade to 30 Sept 2025</a:t>
            </a:r>
            <a:endParaRPr lang="en-IE" dirty="0">
              <a:solidFill>
                <a:schemeClr val="tx2">
                  <a:lumMod val="90000"/>
                  <a:lumOff val="10000"/>
                </a:schemeClr>
              </a:solidFill>
            </a:endParaRPr>
          </a:p>
          <a:p>
            <a:pPr marL="0" indent="0">
              <a:lnSpc>
                <a:spcPct val="120000"/>
              </a:lnSpc>
              <a:buNone/>
            </a:pPr>
            <a:endParaRPr lang="en-IE" sz="1000" dirty="0">
              <a:solidFill>
                <a:schemeClr val="tx2">
                  <a:lumMod val="90000"/>
                  <a:lumOff val="10000"/>
                </a:schemeClr>
              </a:solidFill>
            </a:endParaRPr>
          </a:p>
          <a:p>
            <a:pPr marL="0" indent="0">
              <a:lnSpc>
                <a:spcPct val="120000"/>
              </a:lnSpc>
              <a:buNone/>
            </a:pPr>
            <a:r>
              <a:rPr lang="en-IE" dirty="0">
                <a:solidFill>
                  <a:schemeClr val="tx2">
                    <a:lumMod val="90000"/>
                    <a:lumOff val="10000"/>
                  </a:schemeClr>
                </a:solidFill>
              </a:rPr>
              <a:t>Jack’s tax assessment for 2025 (</a:t>
            </a:r>
            <a:r>
              <a:rPr lang="en-IE" b="1" dirty="0">
                <a:solidFill>
                  <a:schemeClr val="tx2">
                    <a:lumMod val="90000"/>
                    <a:lumOff val="10000"/>
                  </a:schemeClr>
                </a:solidFill>
              </a:rPr>
              <a:t>TAX</a:t>
            </a:r>
            <a:r>
              <a:rPr lang="en-IE" dirty="0">
                <a:solidFill>
                  <a:schemeClr val="tx2">
                    <a:lumMod val="90000"/>
                    <a:lumOff val="10000"/>
                  </a:schemeClr>
                </a:solidFill>
              </a:rPr>
              <a:t> </a:t>
            </a:r>
            <a:r>
              <a:rPr lang="en-IE" b="1" dirty="0">
                <a:solidFill>
                  <a:schemeClr val="tx2">
                    <a:lumMod val="90000"/>
                    <a:lumOff val="10000"/>
                  </a:schemeClr>
                </a:solidFill>
              </a:rPr>
              <a:t>YEAR 2)</a:t>
            </a:r>
            <a:r>
              <a:rPr lang="en-IE" dirty="0">
                <a:solidFill>
                  <a:schemeClr val="tx2">
                    <a:lumMod val="90000"/>
                    <a:lumOff val="10000"/>
                  </a:schemeClr>
                </a:solidFill>
              </a:rPr>
              <a:t> is based on </a:t>
            </a:r>
            <a:r>
              <a:rPr lang="en-IE" b="1" dirty="0">
                <a:solidFill>
                  <a:schemeClr val="tx2">
                    <a:lumMod val="90000"/>
                    <a:lumOff val="10000"/>
                  </a:schemeClr>
                </a:solidFill>
              </a:rPr>
              <a:t>the full €26,000 </a:t>
            </a:r>
            <a:r>
              <a:rPr lang="en-IE" dirty="0">
                <a:solidFill>
                  <a:schemeClr val="tx2">
                    <a:lumMod val="90000"/>
                    <a:lumOff val="10000"/>
                  </a:schemeClr>
                </a:solidFill>
              </a:rPr>
              <a:t>profits reported in </a:t>
            </a:r>
            <a:r>
              <a:rPr lang="en-IE" b="1" dirty="0">
                <a:solidFill>
                  <a:schemeClr val="tx2">
                    <a:lumMod val="90000"/>
                    <a:lumOff val="10000"/>
                  </a:schemeClr>
                </a:solidFill>
              </a:rPr>
              <a:t>that first 12-month set of accounts ending on 30 Sept 2026</a:t>
            </a:r>
          </a:p>
          <a:p>
            <a:pPr marL="0" indent="0">
              <a:lnSpc>
                <a:spcPct val="120000"/>
              </a:lnSpc>
              <a:buNone/>
            </a:pPr>
            <a:endParaRPr lang="en-IE" b="1" dirty="0"/>
          </a:p>
          <a:p>
            <a:pPr marL="0" indent="0">
              <a:lnSpc>
                <a:spcPct val="120000"/>
              </a:lnSpc>
              <a:buNone/>
            </a:pPr>
            <a:r>
              <a:rPr lang="en-IE" dirty="0">
                <a:solidFill>
                  <a:srgbClr val="006666"/>
                </a:solidFill>
              </a:rPr>
              <a:t>Note: Legislation </a:t>
            </a:r>
            <a:r>
              <a:rPr lang="en-IE" b="1" dirty="0">
                <a:solidFill>
                  <a:srgbClr val="006666"/>
                </a:solidFill>
              </a:rPr>
              <a:t>does not require Jack to submit accounts on a calendar year basis</a:t>
            </a:r>
            <a:endParaRPr lang="en-IE" dirty="0">
              <a:solidFill>
                <a:srgbClr val="006666"/>
              </a:solidFill>
            </a:endParaRPr>
          </a:p>
        </p:txBody>
      </p:sp>
      <p:pic>
        <p:nvPicPr>
          <p:cNvPr id="5" name="Picture 4">
            <a:extLst>
              <a:ext uri="{FF2B5EF4-FFF2-40B4-BE49-F238E27FC236}">
                <a16:creationId xmlns:a16="http://schemas.microsoft.com/office/drawing/2014/main" id="{872D5F35-B79A-E507-2750-1B69841674F9}"/>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7434120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64CA-363F-CAFC-BFB2-8E582D951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1C9C3-CABD-FB44-7AE8-855454AA7728}"/>
              </a:ext>
            </a:extLst>
          </p:cNvPr>
          <p:cNvSpPr>
            <a:spLocks noGrp="1"/>
          </p:cNvSpPr>
          <p:nvPr>
            <p:ph type="title"/>
          </p:nvPr>
        </p:nvSpPr>
        <p:spPr>
          <a:xfrm>
            <a:off x="838200" y="0"/>
            <a:ext cx="10126717" cy="1101687"/>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Example cont’d</a:t>
            </a:r>
          </a:p>
        </p:txBody>
      </p:sp>
      <p:sp>
        <p:nvSpPr>
          <p:cNvPr id="4" name="Content Placeholder 3">
            <a:extLst>
              <a:ext uri="{FF2B5EF4-FFF2-40B4-BE49-F238E27FC236}">
                <a16:creationId xmlns:a16="http://schemas.microsoft.com/office/drawing/2014/main" id="{F049EA60-7A41-6A6F-C7E3-750044995917}"/>
              </a:ext>
            </a:extLst>
          </p:cNvPr>
          <p:cNvSpPr>
            <a:spLocks noGrp="1"/>
          </p:cNvSpPr>
          <p:nvPr>
            <p:ph sz="half" idx="1"/>
          </p:nvPr>
        </p:nvSpPr>
        <p:spPr>
          <a:xfrm>
            <a:off x="1074420" y="889000"/>
            <a:ext cx="10043160" cy="5422899"/>
          </a:xfrm>
        </p:spPr>
        <p:txBody>
          <a:bodyPr>
            <a:normAutofit fontScale="85000" lnSpcReduction="10000"/>
          </a:bodyPr>
          <a:lstStyle/>
          <a:p>
            <a:pPr marL="0" indent="0">
              <a:lnSpc>
                <a:spcPct val="130000"/>
              </a:lnSpc>
              <a:buNone/>
            </a:pPr>
            <a:r>
              <a:rPr lang="en-IE" b="1" dirty="0">
                <a:solidFill>
                  <a:schemeClr val="tx2">
                    <a:lumMod val="90000"/>
                    <a:lumOff val="10000"/>
                  </a:schemeClr>
                </a:solidFill>
              </a:rPr>
              <a:t>Year 2: 2025 Computation:</a:t>
            </a:r>
          </a:p>
          <a:p>
            <a:pPr marL="0" indent="0">
              <a:lnSpc>
                <a:spcPct val="130000"/>
              </a:lnSpc>
              <a:buNone/>
            </a:pPr>
            <a:endParaRPr lang="en-IE" sz="1000" dirty="0">
              <a:solidFill>
                <a:schemeClr val="tx2">
                  <a:lumMod val="90000"/>
                  <a:lumOff val="10000"/>
                </a:schemeClr>
              </a:solidFill>
            </a:endParaRPr>
          </a:p>
          <a:p>
            <a:pPr marL="0" indent="0">
              <a:lnSpc>
                <a:spcPct val="130000"/>
              </a:lnSpc>
              <a:buNone/>
            </a:pPr>
            <a:r>
              <a:rPr lang="en-IE" dirty="0">
                <a:solidFill>
                  <a:schemeClr val="tx2">
                    <a:lumMod val="90000"/>
                    <a:lumOff val="10000"/>
                  </a:schemeClr>
                </a:solidFill>
              </a:rPr>
              <a:t>Jack’s profit  for the </a:t>
            </a:r>
            <a:r>
              <a:rPr lang="en-IE" b="1" dirty="0">
                <a:solidFill>
                  <a:schemeClr val="tx2">
                    <a:lumMod val="90000"/>
                    <a:lumOff val="10000"/>
                  </a:schemeClr>
                </a:solidFill>
              </a:rPr>
              <a:t>12-month period ending on 30 Sept 2025 </a:t>
            </a:r>
            <a:r>
              <a:rPr lang="en-IE" dirty="0">
                <a:solidFill>
                  <a:schemeClr val="tx2">
                    <a:lumMod val="90000"/>
                    <a:lumOff val="10000"/>
                  </a:schemeClr>
                </a:solidFill>
              </a:rPr>
              <a:t>is €26,000 as per the accounts submitted, the assessable profit for 2025 is as follows:</a:t>
            </a:r>
          </a:p>
          <a:p>
            <a:pPr marL="0" indent="0">
              <a:lnSpc>
                <a:spcPct val="130000"/>
              </a:lnSpc>
              <a:buNone/>
            </a:pPr>
            <a:endParaRPr lang="en-IE" sz="1000" dirty="0">
              <a:solidFill>
                <a:schemeClr val="tx2">
                  <a:lumMod val="90000"/>
                  <a:lumOff val="10000"/>
                </a:schemeClr>
              </a:solidFill>
            </a:endParaRPr>
          </a:p>
          <a:p>
            <a:pPr marL="0" indent="0">
              <a:lnSpc>
                <a:spcPct val="130000"/>
              </a:lnSpc>
              <a:buNone/>
            </a:pPr>
            <a:r>
              <a:rPr lang="en-IE" dirty="0">
                <a:solidFill>
                  <a:schemeClr val="tx2">
                    <a:lumMod val="90000"/>
                    <a:lumOff val="10000"/>
                  </a:schemeClr>
                </a:solidFill>
              </a:rPr>
              <a:t>€26,000 x </a:t>
            </a:r>
            <a:r>
              <a:rPr lang="en-IE" u="sng" dirty="0">
                <a:solidFill>
                  <a:schemeClr val="tx2">
                    <a:lumMod val="90000"/>
                    <a:lumOff val="10000"/>
                  </a:schemeClr>
                </a:solidFill>
              </a:rPr>
              <a:t>12mths </a:t>
            </a:r>
            <a:r>
              <a:rPr lang="en-IE" dirty="0">
                <a:solidFill>
                  <a:schemeClr val="tx2">
                    <a:lumMod val="90000"/>
                    <a:lumOff val="10000"/>
                  </a:schemeClr>
                </a:solidFill>
              </a:rPr>
              <a:t>= </a:t>
            </a:r>
            <a:r>
              <a:rPr lang="en-IE" b="1" dirty="0">
                <a:solidFill>
                  <a:schemeClr val="tx2">
                    <a:lumMod val="90000"/>
                    <a:lumOff val="10000"/>
                  </a:schemeClr>
                </a:solidFill>
              </a:rPr>
              <a:t>€26,000 is the assessable profit for 2025</a:t>
            </a:r>
          </a:p>
          <a:p>
            <a:pPr marL="0" indent="0">
              <a:lnSpc>
                <a:spcPct val="130000"/>
              </a:lnSpc>
              <a:buNone/>
            </a:pPr>
            <a:r>
              <a:rPr lang="en-IE" dirty="0">
                <a:solidFill>
                  <a:schemeClr val="tx2">
                    <a:lumMod val="90000"/>
                    <a:lumOff val="10000"/>
                  </a:schemeClr>
                </a:solidFill>
              </a:rPr>
              <a:t>	        12mths</a:t>
            </a:r>
          </a:p>
          <a:p>
            <a:pPr marL="0" indent="0">
              <a:lnSpc>
                <a:spcPct val="130000"/>
              </a:lnSpc>
              <a:buNone/>
            </a:pPr>
            <a:endParaRPr lang="en-IE" dirty="0">
              <a:solidFill>
                <a:schemeClr val="tx2">
                  <a:lumMod val="90000"/>
                  <a:lumOff val="10000"/>
                </a:schemeClr>
              </a:solidFill>
            </a:endParaRPr>
          </a:p>
          <a:p>
            <a:pPr marL="0" indent="0">
              <a:lnSpc>
                <a:spcPct val="130000"/>
              </a:lnSpc>
              <a:buNone/>
            </a:pPr>
            <a:r>
              <a:rPr lang="en-IE" sz="2600" b="1" dirty="0">
                <a:solidFill>
                  <a:schemeClr val="tx2">
                    <a:lumMod val="90000"/>
                    <a:lumOff val="10000"/>
                  </a:schemeClr>
                </a:solidFill>
                <a:latin typeface="Aptos" panose="020B0004020202020204" pitchFamily="34" charset="0"/>
              </a:rPr>
              <a:t>The full €26,000 is assessed in 2025 </a:t>
            </a:r>
            <a:r>
              <a:rPr lang="en-IE" sz="2600" dirty="0">
                <a:solidFill>
                  <a:schemeClr val="tx2">
                    <a:lumMod val="90000"/>
                    <a:lumOff val="10000"/>
                  </a:schemeClr>
                </a:solidFill>
                <a:latin typeface="Aptos" panose="020B0004020202020204" pitchFamily="34" charset="0"/>
              </a:rPr>
              <a:t>despite the fact that the accounts period ends on the 30</a:t>
            </a:r>
            <a:r>
              <a:rPr lang="en-IE" sz="2600" baseline="30000" dirty="0">
                <a:solidFill>
                  <a:schemeClr val="tx2">
                    <a:lumMod val="90000"/>
                    <a:lumOff val="10000"/>
                  </a:schemeClr>
                </a:solidFill>
                <a:latin typeface="Aptos" panose="020B0004020202020204" pitchFamily="34" charset="0"/>
              </a:rPr>
              <a:t>th</a:t>
            </a:r>
            <a:r>
              <a:rPr lang="en-IE" sz="2600" dirty="0">
                <a:solidFill>
                  <a:schemeClr val="tx2">
                    <a:lumMod val="90000"/>
                    <a:lumOff val="10000"/>
                  </a:schemeClr>
                </a:solidFill>
                <a:latin typeface="Aptos" panose="020B0004020202020204" pitchFamily="34" charset="0"/>
              </a:rPr>
              <a:t> Sept 2025 (</a:t>
            </a:r>
            <a:r>
              <a:rPr lang="en-IE" sz="2600" i="1" dirty="0">
                <a:solidFill>
                  <a:schemeClr val="tx2">
                    <a:lumMod val="90000"/>
                    <a:lumOff val="10000"/>
                  </a:schemeClr>
                </a:solidFill>
                <a:latin typeface="Aptos" panose="020B0004020202020204" pitchFamily="34" charset="0"/>
              </a:rPr>
              <a:t>Note:</a:t>
            </a:r>
            <a:r>
              <a:rPr lang="en-IE" sz="2600" dirty="0">
                <a:solidFill>
                  <a:schemeClr val="tx2">
                    <a:lumMod val="90000"/>
                    <a:lumOff val="10000"/>
                  </a:schemeClr>
                </a:solidFill>
                <a:latin typeface="Aptos" panose="020B0004020202020204" pitchFamily="34" charset="0"/>
              </a:rPr>
              <a:t> </a:t>
            </a:r>
            <a:r>
              <a:rPr lang="en-IE" sz="2600" i="1" dirty="0">
                <a:solidFill>
                  <a:schemeClr val="tx2">
                    <a:lumMod val="90000"/>
                    <a:lumOff val="10000"/>
                  </a:schemeClr>
                </a:solidFill>
                <a:latin typeface="Aptos" panose="020B0004020202020204" pitchFamily="34" charset="0"/>
              </a:rPr>
              <a:t>any profit arising in the remaining months in 2025 will be taxed in the year 2026) </a:t>
            </a:r>
          </a:p>
        </p:txBody>
      </p:sp>
      <p:pic>
        <p:nvPicPr>
          <p:cNvPr id="5" name="Picture 4">
            <a:extLst>
              <a:ext uri="{FF2B5EF4-FFF2-40B4-BE49-F238E27FC236}">
                <a16:creationId xmlns:a16="http://schemas.microsoft.com/office/drawing/2014/main" id="{D38CA7E1-FE0E-DD97-41D5-33EE274352FD}"/>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17539932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5508-FA9A-4A17-6B16-46AA242C3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3BA42-FC97-2BB9-5A82-C237C8B85241}"/>
              </a:ext>
            </a:extLst>
          </p:cNvPr>
          <p:cNvSpPr>
            <a:spLocks noGrp="1"/>
          </p:cNvSpPr>
          <p:nvPr>
            <p:ph type="title"/>
          </p:nvPr>
        </p:nvSpPr>
        <p:spPr>
          <a:xfrm>
            <a:off x="838200" y="0"/>
            <a:ext cx="10126717" cy="1049867"/>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Example cont’d</a:t>
            </a:r>
          </a:p>
        </p:txBody>
      </p:sp>
      <p:sp>
        <p:nvSpPr>
          <p:cNvPr id="4" name="Content Placeholder 3">
            <a:extLst>
              <a:ext uri="{FF2B5EF4-FFF2-40B4-BE49-F238E27FC236}">
                <a16:creationId xmlns:a16="http://schemas.microsoft.com/office/drawing/2014/main" id="{94575FEC-1EE9-1778-C9F0-4333A6A57979}"/>
              </a:ext>
            </a:extLst>
          </p:cNvPr>
          <p:cNvSpPr>
            <a:spLocks noGrp="1"/>
          </p:cNvSpPr>
          <p:nvPr>
            <p:ph sz="half" idx="1"/>
          </p:nvPr>
        </p:nvSpPr>
        <p:spPr>
          <a:xfrm>
            <a:off x="1350998" y="1191396"/>
            <a:ext cx="10231139" cy="4696187"/>
          </a:xfrm>
        </p:spPr>
        <p:txBody>
          <a:bodyPr>
            <a:normAutofit fontScale="92500" lnSpcReduction="10000"/>
          </a:bodyPr>
          <a:lstStyle/>
          <a:p>
            <a:pPr marL="0" indent="0">
              <a:lnSpc>
                <a:spcPct val="120000"/>
              </a:lnSpc>
              <a:buNone/>
            </a:pPr>
            <a:r>
              <a:rPr lang="en-IE" b="1" dirty="0">
                <a:solidFill>
                  <a:schemeClr val="tx2">
                    <a:lumMod val="90000"/>
                    <a:lumOff val="10000"/>
                  </a:schemeClr>
                </a:solidFill>
              </a:rPr>
              <a:t>Year 3: 2026 is the ‘second year excess’ available in year 3?</a:t>
            </a:r>
          </a:p>
          <a:p>
            <a:pPr marL="0" indent="0">
              <a:lnSpc>
                <a:spcPct val="120000"/>
              </a:lnSpc>
              <a:buNone/>
            </a:pPr>
            <a:endParaRPr lang="en-IE" sz="1000" dirty="0"/>
          </a:p>
          <a:p>
            <a:pPr marL="0" indent="0">
              <a:lnSpc>
                <a:spcPct val="120000"/>
              </a:lnSpc>
              <a:buNone/>
            </a:pPr>
            <a:r>
              <a:rPr lang="en-IE" dirty="0">
                <a:solidFill>
                  <a:srgbClr val="006666"/>
                </a:solidFill>
              </a:rPr>
              <a:t>If Jack had been assessed on a </a:t>
            </a:r>
            <a:r>
              <a:rPr lang="en-IE" b="1" dirty="0">
                <a:solidFill>
                  <a:srgbClr val="006666"/>
                </a:solidFill>
              </a:rPr>
              <a:t>calendar year basis </a:t>
            </a:r>
            <a:r>
              <a:rPr lang="en-IE" dirty="0">
                <a:solidFill>
                  <a:srgbClr val="006666"/>
                </a:solidFill>
              </a:rPr>
              <a:t>in </a:t>
            </a:r>
            <a:r>
              <a:rPr lang="en-IE" b="1" dirty="0">
                <a:solidFill>
                  <a:srgbClr val="006666"/>
                </a:solidFill>
              </a:rPr>
              <a:t>2025</a:t>
            </a:r>
            <a:r>
              <a:rPr lang="en-IE" dirty="0">
                <a:solidFill>
                  <a:srgbClr val="006666"/>
                </a:solidFill>
              </a:rPr>
              <a:t> his assessable profit </a:t>
            </a:r>
            <a:r>
              <a:rPr lang="en-IE" b="1" dirty="0">
                <a:solidFill>
                  <a:srgbClr val="006666"/>
                </a:solidFill>
              </a:rPr>
              <a:t>may have been lower</a:t>
            </a:r>
            <a:r>
              <a:rPr lang="en-IE" dirty="0">
                <a:solidFill>
                  <a:srgbClr val="006666"/>
                </a:solidFill>
              </a:rPr>
              <a:t>, if his accounts for Year 3 show a lower profit than in year 2 Jack should review Year 2 on a calendar year basis before he completes his tax return for Year 3</a:t>
            </a:r>
          </a:p>
          <a:p>
            <a:pPr marL="0" indent="0">
              <a:lnSpc>
                <a:spcPct val="120000"/>
              </a:lnSpc>
              <a:buNone/>
            </a:pPr>
            <a:endParaRPr lang="en-IE" dirty="0"/>
          </a:p>
          <a:p>
            <a:pPr marL="0" indent="0">
              <a:lnSpc>
                <a:spcPct val="120000"/>
              </a:lnSpc>
              <a:buNone/>
            </a:pPr>
            <a:r>
              <a:rPr lang="en-IE" dirty="0">
                <a:solidFill>
                  <a:schemeClr val="tx2">
                    <a:lumMod val="90000"/>
                    <a:lumOff val="10000"/>
                  </a:schemeClr>
                </a:solidFill>
              </a:rPr>
              <a:t>Jack’s profit for the </a:t>
            </a:r>
            <a:r>
              <a:rPr lang="en-IE" b="1" dirty="0">
                <a:solidFill>
                  <a:schemeClr val="tx2">
                    <a:lumMod val="90000"/>
                    <a:lumOff val="10000"/>
                  </a:schemeClr>
                </a:solidFill>
              </a:rPr>
              <a:t>12-months ending on 30 Sept 2026 </a:t>
            </a:r>
            <a:r>
              <a:rPr lang="en-IE" dirty="0">
                <a:solidFill>
                  <a:schemeClr val="tx2">
                    <a:lumMod val="90000"/>
                    <a:lumOff val="10000"/>
                  </a:schemeClr>
                </a:solidFill>
              </a:rPr>
              <a:t>has </a:t>
            </a:r>
            <a:r>
              <a:rPr lang="en-IE" b="1" dirty="0">
                <a:solidFill>
                  <a:schemeClr val="tx2">
                    <a:lumMod val="90000"/>
                    <a:lumOff val="10000"/>
                  </a:schemeClr>
                </a:solidFill>
              </a:rPr>
              <a:t>reduced</a:t>
            </a:r>
            <a:r>
              <a:rPr lang="en-IE" dirty="0">
                <a:solidFill>
                  <a:schemeClr val="tx2">
                    <a:lumMod val="90000"/>
                    <a:lumOff val="10000"/>
                  </a:schemeClr>
                </a:solidFill>
              </a:rPr>
              <a:t> to €16,000 as per the accounts submitted, the assessable profit is reduced by the second year excess as follows:</a:t>
            </a:r>
          </a:p>
          <a:p>
            <a:pPr marL="0" indent="0">
              <a:lnSpc>
                <a:spcPct val="120000"/>
              </a:lnSpc>
              <a:buNone/>
            </a:pPr>
            <a:endParaRPr lang="en-IE" sz="1000" dirty="0"/>
          </a:p>
          <a:p>
            <a:pPr marL="0" indent="0">
              <a:lnSpc>
                <a:spcPct val="50000"/>
              </a:lnSpc>
              <a:buNone/>
            </a:pPr>
            <a:endParaRPr lang="en-IE" dirty="0"/>
          </a:p>
          <a:p>
            <a:pPr marL="0" indent="0">
              <a:lnSpc>
                <a:spcPct val="120000"/>
              </a:lnSpc>
              <a:buNone/>
            </a:pPr>
            <a:endParaRPr lang="en-IE" sz="26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5538A26A-A65E-0B13-C3BC-0D3D201E4F02}"/>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13487798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F53D3-2ACE-D98C-D754-3906D1E19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176B94-7D5D-452B-E00C-E5D03FD920CB}"/>
              </a:ext>
            </a:extLst>
          </p:cNvPr>
          <p:cNvSpPr>
            <a:spLocks noGrp="1"/>
          </p:cNvSpPr>
          <p:nvPr>
            <p:ph type="title"/>
          </p:nvPr>
        </p:nvSpPr>
        <p:spPr>
          <a:xfrm>
            <a:off x="838200" y="1"/>
            <a:ext cx="10126717" cy="1080906"/>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Example cont’d</a:t>
            </a:r>
          </a:p>
        </p:txBody>
      </p:sp>
      <p:sp>
        <p:nvSpPr>
          <p:cNvPr id="4" name="Content Placeholder 3">
            <a:extLst>
              <a:ext uri="{FF2B5EF4-FFF2-40B4-BE49-F238E27FC236}">
                <a16:creationId xmlns:a16="http://schemas.microsoft.com/office/drawing/2014/main" id="{CA1AB3C5-9439-B84F-05B6-950ABC6385D7}"/>
              </a:ext>
            </a:extLst>
          </p:cNvPr>
          <p:cNvSpPr>
            <a:spLocks noGrp="1"/>
          </p:cNvSpPr>
          <p:nvPr>
            <p:ph sz="half" idx="1"/>
          </p:nvPr>
        </p:nvSpPr>
        <p:spPr>
          <a:xfrm>
            <a:off x="921757" y="1080906"/>
            <a:ext cx="10043160" cy="5380854"/>
          </a:xfrm>
        </p:spPr>
        <p:txBody>
          <a:bodyPr>
            <a:normAutofit/>
          </a:bodyPr>
          <a:lstStyle/>
          <a:p>
            <a:pPr marL="0" indent="0">
              <a:lnSpc>
                <a:spcPct val="120000"/>
              </a:lnSpc>
              <a:buNone/>
            </a:pPr>
            <a:r>
              <a:rPr lang="en-IE" b="1" dirty="0">
                <a:solidFill>
                  <a:schemeClr val="tx2">
                    <a:lumMod val="90000"/>
                    <a:lumOff val="10000"/>
                  </a:schemeClr>
                </a:solidFill>
              </a:rPr>
              <a:t>Year 2: 2025 Original Assessment was 			€26,000</a:t>
            </a:r>
            <a:endParaRPr lang="en-IE" sz="1000" dirty="0">
              <a:solidFill>
                <a:schemeClr val="tx2">
                  <a:lumMod val="90000"/>
                  <a:lumOff val="10000"/>
                </a:schemeClr>
              </a:solidFill>
            </a:endParaRPr>
          </a:p>
          <a:p>
            <a:pPr marL="0" indent="0">
              <a:lnSpc>
                <a:spcPct val="120000"/>
              </a:lnSpc>
              <a:buNone/>
            </a:pPr>
            <a:r>
              <a:rPr lang="en-IE" dirty="0">
                <a:solidFill>
                  <a:schemeClr val="tx2">
                    <a:lumMod val="90000"/>
                    <a:lumOff val="10000"/>
                  </a:schemeClr>
                </a:solidFill>
              </a:rPr>
              <a:t>‘Calendar Year’ review of 2025</a:t>
            </a:r>
          </a:p>
          <a:p>
            <a:pPr marL="0" indent="0">
              <a:lnSpc>
                <a:spcPct val="50000"/>
              </a:lnSpc>
              <a:buNone/>
            </a:pPr>
            <a:endParaRPr lang="en-IE" dirty="0">
              <a:solidFill>
                <a:schemeClr val="tx2">
                  <a:lumMod val="90000"/>
                  <a:lumOff val="10000"/>
                </a:schemeClr>
              </a:solidFill>
            </a:endParaRPr>
          </a:p>
          <a:p>
            <a:pPr marL="0" indent="0">
              <a:lnSpc>
                <a:spcPct val="50000"/>
              </a:lnSpc>
              <a:buNone/>
            </a:pPr>
            <a:r>
              <a:rPr lang="en-IE" sz="2600" dirty="0">
                <a:solidFill>
                  <a:schemeClr val="tx2">
                    <a:lumMod val="90000"/>
                    <a:lumOff val="10000"/>
                  </a:schemeClr>
                </a:solidFill>
                <a:latin typeface="Aptos" panose="020B0004020202020204" pitchFamily="34" charset="0"/>
              </a:rPr>
              <a:t>€26,000 x </a:t>
            </a:r>
            <a:r>
              <a:rPr lang="en-IE" sz="2600" u="sng" dirty="0">
                <a:solidFill>
                  <a:schemeClr val="tx2">
                    <a:lumMod val="90000"/>
                    <a:lumOff val="10000"/>
                  </a:schemeClr>
                </a:solidFill>
                <a:latin typeface="Aptos" panose="020B0004020202020204" pitchFamily="34" charset="0"/>
              </a:rPr>
              <a:t>9mths</a:t>
            </a:r>
            <a:r>
              <a:rPr lang="en-IE" sz="2600" dirty="0">
                <a:solidFill>
                  <a:schemeClr val="tx2">
                    <a:lumMod val="90000"/>
                    <a:lumOff val="10000"/>
                  </a:schemeClr>
                </a:solidFill>
                <a:latin typeface="Aptos" panose="020B0004020202020204" pitchFamily="34" charset="0"/>
              </a:rPr>
              <a:t> = 		€19,500 </a:t>
            </a:r>
            <a:r>
              <a:rPr lang="en-IE" sz="2600" i="1" dirty="0">
                <a:solidFill>
                  <a:schemeClr val="tx2">
                    <a:lumMod val="90000"/>
                    <a:lumOff val="10000"/>
                  </a:schemeClr>
                </a:solidFill>
                <a:latin typeface="Aptos" panose="020B0004020202020204" pitchFamily="34" charset="0"/>
              </a:rPr>
              <a:t>Jan 2025 to Sept 2025</a:t>
            </a:r>
            <a:endParaRPr lang="en-IE" sz="2600" i="1" u="sng" dirty="0">
              <a:solidFill>
                <a:schemeClr val="tx2">
                  <a:lumMod val="90000"/>
                  <a:lumOff val="10000"/>
                </a:schemeClr>
              </a:solidFill>
              <a:latin typeface="Aptos" panose="020B0004020202020204" pitchFamily="34" charset="0"/>
            </a:endParaRPr>
          </a:p>
          <a:p>
            <a:pPr marL="0" indent="0">
              <a:lnSpc>
                <a:spcPct val="50000"/>
              </a:lnSpc>
              <a:buNone/>
            </a:pPr>
            <a:r>
              <a:rPr lang="en-IE" dirty="0">
                <a:solidFill>
                  <a:schemeClr val="tx2">
                    <a:lumMod val="90000"/>
                    <a:lumOff val="10000"/>
                  </a:schemeClr>
                </a:solidFill>
              </a:rPr>
              <a:t>	      12mths</a:t>
            </a:r>
          </a:p>
          <a:p>
            <a:pPr marL="0" indent="0">
              <a:lnSpc>
                <a:spcPct val="50000"/>
              </a:lnSpc>
              <a:buNone/>
            </a:pPr>
            <a:endParaRPr lang="en-IE" sz="2600" dirty="0">
              <a:solidFill>
                <a:schemeClr val="tx2">
                  <a:lumMod val="90000"/>
                  <a:lumOff val="10000"/>
                </a:schemeClr>
              </a:solidFill>
            </a:endParaRPr>
          </a:p>
          <a:p>
            <a:pPr marL="0" indent="0">
              <a:lnSpc>
                <a:spcPct val="50000"/>
              </a:lnSpc>
              <a:buNone/>
            </a:pPr>
            <a:r>
              <a:rPr lang="en-IE" dirty="0">
                <a:solidFill>
                  <a:schemeClr val="tx2">
                    <a:lumMod val="90000"/>
                    <a:lumOff val="10000"/>
                  </a:schemeClr>
                </a:solidFill>
              </a:rPr>
              <a:t>€16,000 x </a:t>
            </a:r>
            <a:r>
              <a:rPr lang="en-IE" u="sng" dirty="0">
                <a:solidFill>
                  <a:schemeClr val="tx2">
                    <a:lumMod val="90000"/>
                    <a:lumOff val="10000"/>
                  </a:schemeClr>
                </a:solidFill>
              </a:rPr>
              <a:t>3mths </a:t>
            </a:r>
            <a:r>
              <a:rPr lang="en-IE" dirty="0">
                <a:solidFill>
                  <a:schemeClr val="tx2">
                    <a:lumMod val="90000"/>
                    <a:lumOff val="10000"/>
                  </a:schemeClr>
                </a:solidFill>
              </a:rPr>
              <a:t> =	</a:t>
            </a:r>
            <a:r>
              <a:rPr lang="en-IE" u="sng" dirty="0">
                <a:solidFill>
                  <a:schemeClr val="tx2">
                    <a:lumMod val="90000"/>
                    <a:lumOff val="10000"/>
                  </a:schemeClr>
                </a:solidFill>
              </a:rPr>
              <a:t>€  4,000 </a:t>
            </a:r>
            <a:r>
              <a:rPr lang="en-IE" i="1" dirty="0">
                <a:solidFill>
                  <a:schemeClr val="tx2">
                    <a:lumMod val="90000"/>
                    <a:lumOff val="10000"/>
                  </a:schemeClr>
                </a:solidFill>
              </a:rPr>
              <a:t>Oct, Nov &amp; Dec 2025</a:t>
            </a:r>
          </a:p>
          <a:p>
            <a:pPr marL="0" indent="0">
              <a:lnSpc>
                <a:spcPct val="50000"/>
              </a:lnSpc>
              <a:buNone/>
            </a:pPr>
            <a:r>
              <a:rPr lang="en-IE" sz="2600" dirty="0">
                <a:solidFill>
                  <a:schemeClr val="tx2">
                    <a:lumMod val="90000"/>
                    <a:lumOff val="10000"/>
                  </a:schemeClr>
                </a:solidFill>
              </a:rPr>
              <a:t>	       12mths		€23,500				(</a:t>
            </a:r>
            <a:r>
              <a:rPr lang="en-IE" sz="2600" u="sng" dirty="0">
                <a:solidFill>
                  <a:schemeClr val="tx2">
                    <a:lumMod val="90000"/>
                    <a:lumOff val="10000"/>
                  </a:schemeClr>
                </a:solidFill>
              </a:rPr>
              <a:t>€23,500)</a:t>
            </a:r>
          </a:p>
          <a:p>
            <a:pPr marL="0" indent="0">
              <a:lnSpc>
                <a:spcPct val="50000"/>
              </a:lnSpc>
              <a:buNone/>
            </a:pPr>
            <a:endParaRPr lang="en-IE" u="sng" dirty="0">
              <a:solidFill>
                <a:schemeClr val="tx2">
                  <a:lumMod val="90000"/>
                  <a:lumOff val="10000"/>
                </a:schemeClr>
              </a:solidFill>
            </a:endParaRPr>
          </a:p>
          <a:p>
            <a:pPr marL="0" indent="0">
              <a:lnSpc>
                <a:spcPct val="50000"/>
              </a:lnSpc>
              <a:buNone/>
            </a:pPr>
            <a:r>
              <a:rPr lang="en-IE" sz="2600" b="1" dirty="0">
                <a:solidFill>
                  <a:schemeClr val="tx2">
                    <a:lumMod val="90000"/>
                    <a:lumOff val="10000"/>
                  </a:schemeClr>
                </a:solidFill>
              </a:rPr>
              <a:t>Second Year Excess						€   2,500</a:t>
            </a:r>
          </a:p>
          <a:p>
            <a:pPr marL="0" indent="0">
              <a:lnSpc>
                <a:spcPct val="50000"/>
              </a:lnSpc>
              <a:buNone/>
            </a:pPr>
            <a:endParaRPr lang="en-IE" b="1" dirty="0">
              <a:solidFill>
                <a:schemeClr val="tx2">
                  <a:lumMod val="90000"/>
                  <a:lumOff val="10000"/>
                </a:schemeClr>
              </a:solidFill>
            </a:endParaRPr>
          </a:p>
          <a:p>
            <a:pPr marL="0" indent="0">
              <a:lnSpc>
                <a:spcPct val="120000"/>
              </a:lnSpc>
              <a:buNone/>
            </a:pPr>
            <a:r>
              <a:rPr lang="en-IE" sz="2600" dirty="0">
                <a:solidFill>
                  <a:schemeClr val="tx2">
                    <a:lumMod val="90000"/>
                    <a:lumOff val="10000"/>
                  </a:schemeClr>
                </a:solidFill>
              </a:rPr>
              <a:t>Jack’s assessable profit of </a:t>
            </a:r>
            <a:r>
              <a:rPr lang="en-IE" sz="2600" b="1" dirty="0">
                <a:solidFill>
                  <a:schemeClr val="tx2">
                    <a:lumMod val="90000"/>
                    <a:lumOff val="10000"/>
                  </a:schemeClr>
                </a:solidFill>
              </a:rPr>
              <a:t>€16,000 </a:t>
            </a:r>
            <a:r>
              <a:rPr lang="en-IE" sz="2600" dirty="0">
                <a:solidFill>
                  <a:schemeClr val="tx2">
                    <a:lumMod val="90000"/>
                    <a:lumOff val="10000"/>
                  </a:schemeClr>
                </a:solidFill>
              </a:rPr>
              <a:t>for </a:t>
            </a:r>
            <a:r>
              <a:rPr lang="en-IE" sz="2600" b="1" dirty="0">
                <a:solidFill>
                  <a:schemeClr val="tx2">
                    <a:lumMod val="90000"/>
                    <a:lumOff val="10000"/>
                  </a:schemeClr>
                </a:solidFill>
              </a:rPr>
              <a:t>Year 3</a:t>
            </a:r>
            <a:r>
              <a:rPr lang="en-IE" sz="2600" dirty="0">
                <a:solidFill>
                  <a:schemeClr val="tx2">
                    <a:lumMod val="90000"/>
                    <a:lumOff val="10000"/>
                  </a:schemeClr>
                </a:solidFill>
              </a:rPr>
              <a:t> (2026) can be </a:t>
            </a:r>
            <a:r>
              <a:rPr lang="en-IE" sz="2600" b="1" dirty="0">
                <a:solidFill>
                  <a:schemeClr val="tx2">
                    <a:lumMod val="90000"/>
                    <a:lumOff val="10000"/>
                  </a:schemeClr>
                </a:solidFill>
              </a:rPr>
              <a:t>reduced to €13,500 </a:t>
            </a:r>
            <a:r>
              <a:rPr lang="en-IE" sz="2600" dirty="0">
                <a:solidFill>
                  <a:schemeClr val="tx2">
                    <a:lumMod val="90000"/>
                    <a:lumOff val="10000"/>
                  </a:schemeClr>
                </a:solidFill>
              </a:rPr>
              <a:t>by offsetting the second year excess of </a:t>
            </a:r>
            <a:r>
              <a:rPr lang="en-IE" sz="2600" b="1" dirty="0">
                <a:solidFill>
                  <a:schemeClr val="tx2">
                    <a:lumMod val="90000"/>
                    <a:lumOff val="10000"/>
                  </a:schemeClr>
                </a:solidFill>
              </a:rPr>
              <a:t>€2,500</a:t>
            </a:r>
          </a:p>
        </p:txBody>
      </p:sp>
      <p:pic>
        <p:nvPicPr>
          <p:cNvPr id="5" name="Picture 4">
            <a:extLst>
              <a:ext uri="{FF2B5EF4-FFF2-40B4-BE49-F238E27FC236}">
                <a16:creationId xmlns:a16="http://schemas.microsoft.com/office/drawing/2014/main" id="{55855D31-C82B-3F5E-A680-622382F8FE24}"/>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11406891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7EAA-416A-4B68-BB96-8B16C750B44E}"/>
              </a:ext>
            </a:extLst>
          </p:cNvPr>
          <p:cNvSpPr>
            <a:spLocks noGrp="1"/>
          </p:cNvSpPr>
          <p:nvPr>
            <p:ph type="title" idx="4294967295"/>
          </p:nvPr>
        </p:nvSpPr>
        <p:spPr>
          <a:xfrm>
            <a:off x="1168400" y="1"/>
            <a:ext cx="10998808" cy="1888434"/>
          </a:xfrm>
        </p:spPr>
        <p:txBody>
          <a:bodyPr>
            <a:normAutofit fontScale="90000"/>
          </a:bodyPr>
          <a:lstStyle/>
          <a:p>
            <a:pPr>
              <a:lnSpc>
                <a:spcPct val="120000"/>
              </a:lnSpc>
            </a:pPr>
            <a:br>
              <a:rPr kumimoji="0" lang="en-IE" altLang="en-US" sz="3600" b="1" i="0" u="none" strike="noStrike" kern="0" cap="none" spc="0" normalizeH="0" baseline="0" noProof="0" dirty="0">
                <a:ln>
                  <a:noFill/>
                </a:ln>
                <a:solidFill>
                  <a:srgbClr val="009999"/>
                </a:solidFill>
                <a:effectLst/>
                <a:uLnTx/>
                <a:uFillTx/>
                <a:latin typeface="Aptos" panose="020B0004020202020204" pitchFamily="34" charset="0"/>
              </a:rPr>
            </a:br>
            <a:r>
              <a:rPr kumimoji="0" lang="en-IE" altLang="en-US" sz="3600" b="1" i="0" u="none" strike="noStrike" kern="0" cap="none" spc="0" normalizeH="0" baseline="0" noProof="0" dirty="0">
                <a:ln>
                  <a:noFill/>
                </a:ln>
                <a:solidFill>
                  <a:srgbClr val="009999"/>
                </a:solidFill>
                <a:effectLst/>
                <a:uLnTx/>
                <a:uFillTx/>
                <a:latin typeface="Aptos" panose="020B0004020202020204" pitchFamily="34" charset="0"/>
              </a:rPr>
              <a:t>Insufficient Profits to Absorb 2</a:t>
            </a:r>
            <a:r>
              <a:rPr kumimoji="0" lang="en-IE" altLang="en-US" sz="3600" b="1" i="0" u="none" strike="noStrike" kern="0" cap="none" spc="0" normalizeH="0" baseline="30000" noProof="0" dirty="0">
                <a:ln>
                  <a:noFill/>
                </a:ln>
                <a:solidFill>
                  <a:srgbClr val="009999"/>
                </a:solidFill>
                <a:effectLst/>
                <a:uLnTx/>
                <a:uFillTx/>
                <a:latin typeface="Aptos" panose="020B0004020202020204" pitchFamily="34" charset="0"/>
              </a:rPr>
              <a:t>nd</a:t>
            </a:r>
            <a:r>
              <a:rPr kumimoji="0" lang="en-IE" altLang="en-US" sz="3600" b="1" i="0" u="none" strike="noStrike" kern="0" cap="none" spc="0" normalizeH="0" baseline="0" noProof="0" dirty="0">
                <a:ln>
                  <a:noFill/>
                </a:ln>
                <a:solidFill>
                  <a:srgbClr val="009999"/>
                </a:solidFill>
                <a:effectLst/>
                <a:uLnTx/>
                <a:uFillTx/>
                <a:latin typeface="Aptos" panose="020B0004020202020204" pitchFamily="34" charset="0"/>
              </a:rPr>
              <a:t> Year Excess</a:t>
            </a:r>
            <a:br>
              <a:rPr kumimoji="0" lang="en-IE" altLang="en-US" sz="3600" b="1" i="0" u="none" strike="noStrike" kern="0" cap="none" spc="0" normalizeH="0" baseline="0" noProof="0" dirty="0">
                <a:ln>
                  <a:noFill/>
                </a:ln>
                <a:solidFill>
                  <a:srgbClr val="009999"/>
                </a:solidFill>
                <a:effectLst/>
                <a:uLnTx/>
                <a:uFillTx/>
                <a:latin typeface="Aptos" panose="020B0004020202020204" pitchFamily="34" charset="0"/>
              </a:rPr>
            </a:br>
            <a:endParaRPr lang="en-IE" sz="3600"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1"/>
            <a:ext cx="1284423" cy="650239"/>
          </a:xfrm>
          <a:prstGeom prst="rect">
            <a:avLst/>
          </a:prstGeom>
          <a:noFill/>
          <a:ln>
            <a:noFill/>
          </a:ln>
        </p:spPr>
      </p:pic>
      <p:sp>
        <p:nvSpPr>
          <p:cNvPr id="7" name="TextBox 6">
            <a:extLst>
              <a:ext uri="{FF2B5EF4-FFF2-40B4-BE49-F238E27FC236}">
                <a16:creationId xmlns:a16="http://schemas.microsoft.com/office/drawing/2014/main" id="{03C80362-7F2C-B3CE-0828-2256FD59D931}"/>
              </a:ext>
            </a:extLst>
          </p:cNvPr>
          <p:cNvSpPr txBox="1"/>
          <p:nvPr/>
        </p:nvSpPr>
        <p:spPr>
          <a:xfrm>
            <a:off x="1258413" y="2258295"/>
            <a:ext cx="9213346" cy="3449406"/>
          </a:xfrm>
          <a:prstGeom prst="rect">
            <a:avLst/>
          </a:prstGeom>
          <a:noFill/>
        </p:spPr>
        <p:txBody>
          <a:bodyPr wrap="square">
            <a:spAutoFit/>
          </a:bodyPr>
          <a:lstStyle/>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If the profit for Year 3 is </a:t>
            </a:r>
            <a:r>
              <a:rPr kumimoji="0" lang="en-IE" altLang="en-US" sz="2400" b="1" i="0" u="none" strike="noStrike" kern="0" cap="none" spc="0" normalizeH="0" baseline="0" noProof="0" dirty="0">
                <a:ln>
                  <a:noFill/>
                </a:ln>
                <a:solidFill>
                  <a:srgbClr val="4472C4">
                    <a:lumMod val="50000"/>
                  </a:srgbClr>
                </a:solidFill>
                <a:effectLst/>
                <a:uLnTx/>
                <a:uFillTx/>
                <a:latin typeface="Arial"/>
                <a:ea typeface="+mn-ea"/>
                <a:cs typeface="+mn-cs"/>
              </a:rPr>
              <a:t>less</a:t>
            </a: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 than the 2</a:t>
            </a:r>
            <a:r>
              <a:rPr kumimoji="0" lang="en-IE" altLang="en-US" sz="2400" b="0" i="0" u="none" strike="noStrike" kern="0" cap="none" spc="0" normalizeH="0" baseline="30000" noProof="0" dirty="0">
                <a:ln>
                  <a:noFill/>
                </a:ln>
                <a:solidFill>
                  <a:srgbClr val="4472C4">
                    <a:lumMod val="50000"/>
                  </a:srgbClr>
                </a:solidFill>
                <a:effectLst/>
                <a:uLnTx/>
                <a:uFillTx/>
                <a:latin typeface="Arial"/>
                <a:ea typeface="+mn-ea"/>
                <a:cs typeface="+mn-cs"/>
              </a:rPr>
              <a:t>nd</a:t>
            </a: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 Year excess OR</a:t>
            </a: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If the taxpayer has a trade </a:t>
            </a:r>
            <a:r>
              <a:rPr kumimoji="0" lang="en-IE" altLang="en-US" sz="2400" b="1" i="0" u="none" strike="noStrike" kern="0" cap="none" spc="0" normalizeH="0" baseline="0" noProof="0" dirty="0">
                <a:ln>
                  <a:noFill/>
                </a:ln>
                <a:solidFill>
                  <a:srgbClr val="4472C4">
                    <a:lumMod val="50000"/>
                  </a:srgbClr>
                </a:solidFill>
                <a:effectLst/>
                <a:uLnTx/>
                <a:uFillTx/>
                <a:latin typeface="Arial"/>
                <a:ea typeface="+mn-ea"/>
                <a:cs typeface="+mn-cs"/>
              </a:rPr>
              <a:t>loss </a:t>
            </a: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in Year 3 </a:t>
            </a:r>
          </a:p>
          <a:p>
            <a:pPr marL="0" marR="0" lvl="0" indent="0" algn="l" defTabSz="914400" rtl="0" eaLnBrk="0" fontAlgn="base" latinLnBrk="0" hangingPunct="0">
              <a:lnSpc>
                <a:spcPct val="120000"/>
              </a:lnSpc>
              <a:spcBef>
                <a:spcPct val="20000"/>
              </a:spcBef>
              <a:spcAft>
                <a:spcPct val="0"/>
              </a:spcAft>
              <a:buClr>
                <a:srgbClr val="003366"/>
              </a:buClr>
              <a:buSzPct val="75000"/>
              <a:buFontTx/>
              <a:buNone/>
              <a:tabLst/>
              <a:defRPr/>
            </a:pPr>
            <a:endPar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endParaRPr>
          </a:p>
          <a:p>
            <a:pPr marL="0" marR="0" lvl="0" indent="0" algn="l" defTabSz="914400" rtl="0" eaLnBrk="0" fontAlgn="base" latinLnBrk="0" hangingPunct="0">
              <a:lnSpc>
                <a:spcPct val="120000"/>
              </a:lnSpc>
              <a:spcBef>
                <a:spcPct val="20000"/>
              </a:spcBef>
              <a:spcAft>
                <a:spcPct val="0"/>
              </a:spcAft>
              <a:buClr>
                <a:srgbClr val="003366"/>
              </a:buClr>
              <a:buSzPct val="75000"/>
              <a:buFontTx/>
              <a:buNone/>
              <a:tabLst/>
              <a:defRPr/>
            </a:pP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then the </a:t>
            </a:r>
            <a:r>
              <a:rPr kumimoji="0" lang="en-IE" altLang="en-US" sz="2400" b="1" i="0" u="none" strike="noStrike" kern="0" cap="none" spc="0" normalizeH="0" baseline="0" noProof="0" dirty="0">
                <a:ln>
                  <a:noFill/>
                </a:ln>
                <a:solidFill>
                  <a:srgbClr val="4472C4">
                    <a:lumMod val="50000"/>
                  </a:srgbClr>
                </a:solidFill>
                <a:effectLst/>
                <a:uLnTx/>
                <a:uFillTx/>
                <a:latin typeface="Arial"/>
                <a:ea typeface="+mn-ea"/>
                <a:cs typeface="+mn-cs"/>
              </a:rPr>
              <a:t>unutilised</a:t>
            </a: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 </a:t>
            </a:r>
            <a:r>
              <a:rPr kumimoji="0" lang="en-IE" altLang="en-US" sz="2400" b="1" i="0" u="none" strike="noStrike" kern="0" cap="none" spc="0" normalizeH="0" baseline="0" noProof="0" dirty="0">
                <a:ln>
                  <a:noFill/>
                </a:ln>
                <a:solidFill>
                  <a:srgbClr val="4472C4">
                    <a:lumMod val="50000"/>
                  </a:srgbClr>
                </a:solidFill>
                <a:effectLst/>
                <a:uLnTx/>
                <a:uFillTx/>
                <a:latin typeface="Arial"/>
                <a:ea typeface="+mn-ea"/>
                <a:cs typeface="+mn-cs"/>
              </a:rPr>
              <a:t>2</a:t>
            </a:r>
            <a:r>
              <a:rPr kumimoji="0" lang="en-IE" altLang="en-US" sz="2400" b="1" i="0" u="none" strike="noStrike" kern="0" cap="none" spc="0" normalizeH="0" baseline="30000" noProof="0" dirty="0">
                <a:ln>
                  <a:noFill/>
                </a:ln>
                <a:solidFill>
                  <a:srgbClr val="4472C4">
                    <a:lumMod val="50000"/>
                  </a:srgbClr>
                </a:solidFill>
                <a:effectLst/>
                <a:uLnTx/>
                <a:uFillTx/>
                <a:latin typeface="Arial"/>
                <a:ea typeface="+mn-ea"/>
                <a:cs typeface="+mn-cs"/>
              </a:rPr>
              <a:t>nd</a:t>
            </a:r>
            <a:r>
              <a:rPr kumimoji="0" lang="en-IE" altLang="en-US" sz="2400" b="1" i="0" u="none" strike="noStrike" kern="0" cap="none" spc="0" normalizeH="0" baseline="0" noProof="0" dirty="0">
                <a:ln>
                  <a:noFill/>
                </a:ln>
                <a:solidFill>
                  <a:srgbClr val="4472C4">
                    <a:lumMod val="50000"/>
                  </a:srgbClr>
                </a:solidFill>
                <a:effectLst/>
                <a:uLnTx/>
                <a:uFillTx/>
                <a:latin typeface="Arial"/>
                <a:ea typeface="+mn-ea"/>
                <a:cs typeface="+mn-cs"/>
              </a:rPr>
              <a:t> Year excess </a:t>
            </a: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can be carried forward and used as a S382 LOSS for offset against the </a:t>
            </a:r>
            <a:r>
              <a:rPr kumimoji="0" lang="en-IE" altLang="en-US" sz="2400" b="1" i="0" u="none" strike="noStrike" kern="0" cap="none" spc="0" normalizeH="0" baseline="0" noProof="0" dirty="0">
                <a:ln>
                  <a:noFill/>
                </a:ln>
                <a:solidFill>
                  <a:srgbClr val="4472C4">
                    <a:lumMod val="50000"/>
                  </a:srgbClr>
                </a:solidFill>
                <a:effectLst/>
                <a:uLnTx/>
                <a:uFillTx/>
                <a:latin typeface="Arial"/>
                <a:ea typeface="+mn-ea"/>
                <a:cs typeface="+mn-cs"/>
              </a:rPr>
              <a:t>next available profits </a:t>
            </a:r>
            <a:r>
              <a:rPr kumimoji="0" lang="en-IE" altLang="en-US" sz="2400" b="0" i="0" u="none" strike="noStrike" kern="0" cap="none" spc="0" normalizeH="0" baseline="0" noProof="0" dirty="0">
                <a:ln>
                  <a:noFill/>
                </a:ln>
                <a:solidFill>
                  <a:srgbClr val="4472C4">
                    <a:lumMod val="50000"/>
                  </a:srgbClr>
                </a:solidFill>
                <a:effectLst/>
                <a:uLnTx/>
                <a:uFillTx/>
                <a:latin typeface="Arial"/>
                <a:ea typeface="+mn-ea"/>
                <a:cs typeface="+mn-cs"/>
              </a:rPr>
              <a:t>from the </a:t>
            </a:r>
            <a:r>
              <a:rPr kumimoji="0" lang="en-IE" altLang="en-US" sz="2400" b="1" i="0" u="none" strike="noStrike" kern="0" cap="none" spc="0" normalizeH="0" baseline="0" noProof="0" dirty="0">
                <a:ln>
                  <a:noFill/>
                </a:ln>
                <a:solidFill>
                  <a:srgbClr val="4472C4">
                    <a:lumMod val="50000"/>
                  </a:srgbClr>
                </a:solidFill>
                <a:effectLst/>
                <a:uLnTx/>
                <a:uFillTx/>
                <a:latin typeface="Arial"/>
                <a:ea typeface="+mn-ea"/>
                <a:cs typeface="+mn-cs"/>
              </a:rPr>
              <a:t>SAME TRADE ONLY</a:t>
            </a:r>
          </a:p>
          <a:p>
            <a:pPr marL="0" marR="0" lvl="0" indent="0" algn="r"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altLang="en-US" sz="2400" b="0" i="0" u="none" strike="noStrike" kern="0" cap="none" spc="0" normalizeH="0" baseline="0" noProof="0" dirty="0">
              <a:ln>
                <a:noFill/>
              </a:ln>
              <a:solidFill>
                <a:srgbClr val="003366"/>
              </a:solidFill>
              <a:effectLst/>
              <a:uLnTx/>
              <a:uFillTx/>
              <a:latin typeface="Arial"/>
              <a:ea typeface="+mn-ea"/>
              <a:cs typeface="+mn-cs"/>
            </a:endParaRPr>
          </a:p>
        </p:txBody>
      </p:sp>
    </p:spTree>
    <p:extLst>
      <p:ext uri="{BB962C8B-B14F-4D97-AF65-F5344CB8AC3E}">
        <p14:creationId xmlns:p14="http://schemas.microsoft.com/office/powerpoint/2010/main" val="1055105108"/>
      </p:ext>
    </p:extLst>
  </p:cSld>
  <p:clrMapOvr>
    <a:masterClrMapping/>
  </p:clrMapOvr>
  <mc:AlternateContent xmlns:mc="http://schemas.openxmlformats.org/markup-compatibility/2006" xmlns:p14="http://schemas.microsoft.com/office/powerpoint/2010/main">
    <mc:Choice Requires="p14">
      <p:transition spd="slow" p14:dur="2000" advTm="24367"/>
    </mc:Choice>
    <mc:Fallback xmlns="">
      <p:transition spd="slow" advTm="243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7EAA-416A-4B68-BB96-8B16C750B44E}"/>
              </a:ext>
            </a:extLst>
          </p:cNvPr>
          <p:cNvSpPr>
            <a:spLocks noGrp="1"/>
          </p:cNvSpPr>
          <p:nvPr>
            <p:ph type="title" idx="4294967295"/>
          </p:nvPr>
        </p:nvSpPr>
        <p:spPr>
          <a:xfrm>
            <a:off x="0" y="1"/>
            <a:ext cx="12167208" cy="1188719"/>
          </a:xfrm>
        </p:spPr>
        <p:txBody>
          <a:bodyPr>
            <a:normAutofit/>
          </a:bodyPr>
          <a:lstStyle/>
          <a:p>
            <a:pPr algn="ctr">
              <a:lnSpc>
                <a:spcPct val="120000"/>
              </a:lnSpc>
            </a:pPr>
            <a:r>
              <a:rPr lang="en-IE" sz="3600" b="1" kern="0" dirty="0">
                <a:solidFill>
                  <a:srgbClr val="009999"/>
                </a:solidFill>
                <a:latin typeface="Aptos" panose="020B0004020202020204" pitchFamily="34" charset="0"/>
              </a:rPr>
              <a:t>Example</a:t>
            </a:r>
            <a:endParaRPr lang="en-IE" sz="3600"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1"/>
            <a:ext cx="1817656" cy="920188"/>
          </a:xfrm>
          <a:prstGeom prst="rect">
            <a:avLst/>
          </a:prstGeom>
          <a:noFill/>
          <a:ln>
            <a:noFill/>
          </a:ln>
        </p:spPr>
      </p:pic>
      <p:sp>
        <p:nvSpPr>
          <p:cNvPr id="7" name="TextBox 6">
            <a:extLst>
              <a:ext uri="{FF2B5EF4-FFF2-40B4-BE49-F238E27FC236}">
                <a16:creationId xmlns:a16="http://schemas.microsoft.com/office/drawing/2014/main" id="{03C80362-7F2C-B3CE-0828-2256FD59D931}"/>
              </a:ext>
            </a:extLst>
          </p:cNvPr>
          <p:cNvSpPr txBox="1"/>
          <p:nvPr/>
        </p:nvSpPr>
        <p:spPr>
          <a:xfrm>
            <a:off x="436880" y="1318843"/>
            <a:ext cx="10999383" cy="5397631"/>
          </a:xfrm>
          <a:prstGeom prst="rect">
            <a:avLst/>
          </a:prstGeom>
          <a:noFill/>
        </p:spPr>
        <p:txBody>
          <a:bodyPr wrap="square">
            <a:spAutoFit/>
          </a:bodyPr>
          <a:lstStyle/>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altLang="en-US" sz="2400" b="0" i="0" u="none" strike="noStrike" kern="0" cap="none" spc="0" normalizeH="0" baseline="0" noProof="0" dirty="0">
                <a:ln>
                  <a:noFill/>
                </a:ln>
                <a:solidFill>
                  <a:srgbClr val="4472C4">
                    <a:lumMod val="50000"/>
                  </a:srgbClr>
                </a:solidFill>
                <a:effectLst/>
                <a:uLnTx/>
                <a:uFillTx/>
                <a:latin typeface="Aptos" panose="020B0004020202020204" pitchFamily="34" charset="0"/>
              </a:rPr>
              <a:t>Using </a:t>
            </a:r>
            <a:r>
              <a:rPr lang="en-IE" altLang="en-US" sz="2400" kern="0" dirty="0">
                <a:solidFill>
                  <a:srgbClr val="4472C4">
                    <a:lumMod val="50000"/>
                  </a:srgbClr>
                </a:solidFill>
                <a:latin typeface="Aptos" panose="020B0004020202020204" pitchFamily="34" charset="0"/>
              </a:rPr>
              <a:t>a</a:t>
            </a:r>
            <a:r>
              <a:rPr kumimoji="0" lang="en-IE" altLang="en-US" sz="2400" b="0" i="0" u="none" strike="noStrike" kern="0" cap="none" spc="0" normalizeH="0" baseline="0" noProof="0" dirty="0">
                <a:ln>
                  <a:noFill/>
                </a:ln>
                <a:solidFill>
                  <a:srgbClr val="4472C4">
                    <a:lumMod val="50000"/>
                  </a:srgbClr>
                </a:solidFill>
                <a:effectLst/>
                <a:uLnTx/>
                <a:uFillTx/>
                <a:latin typeface="Aptos" panose="020B0004020202020204" pitchFamily="34" charset="0"/>
              </a:rPr>
              <a:t> 2</a:t>
            </a:r>
            <a:r>
              <a:rPr kumimoji="0" lang="en-IE" altLang="en-US" sz="2400" b="0" i="0" u="none" strike="noStrike" kern="0" cap="none" spc="0" normalizeH="0" baseline="30000" noProof="0" dirty="0">
                <a:ln>
                  <a:noFill/>
                </a:ln>
                <a:solidFill>
                  <a:srgbClr val="4472C4">
                    <a:lumMod val="50000"/>
                  </a:srgbClr>
                </a:solidFill>
                <a:effectLst/>
                <a:uLnTx/>
                <a:uFillTx/>
                <a:latin typeface="Aptos" panose="020B0004020202020204" pitchFamily="34" charset="0"/>
              </a:rPr>
              <a:t>nd</a:t>
            </a:r>
            <a:r>
              <a:rPr kumimoji="0" lang="en-IE" altLang="en-US" sz="2400" b="0" i="0" u="none" strike="noStrike" kern="0" cap="none" spc="0" normalizeH="0" baseline="0" noProof="0" dirty="0">
                <a:ln>
                  <a:noFill/>
                </a:ln>
                <a:solidFill>
                  <a:srgbClr val="4472C4">
                    <a:lumMod val="50000"/>
                  </a:srgbClr>
                </a:solidFill>
                <a:effectLst/>
                <a:uLnTx/>
                <a:uFillTx/>
                <a:latin typeface="Aptos" panose="020B0004020202020204" pitchFamily="34" charset="0"/>
              </a:rPr>
              <a:t> Year excess of €4,000 and assuming the profit for Year 3 was only €2,000, the computation is as follows:</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altLang="en-US" sz="2400" b="0" i="0" u="none" strike="noStrike" kern="0" cap="none" spc="0" normalizeH="0" baseline="0" noProof="0" dirty="0">
                <a:ln>
                  <a:noFill/>
                </a:ln>
                <a:solidFill>
                  <a:srgbClr val="4472C4">
                    <a:lumMod val="50000"/>
                  </a:srgbClr>
                </a:solidFill>
                <a:effectLst/>
                <a:uLnTx/>
                <a:uFillTx/>
                <a:latin typeface="Aptos" panose="020B0004020202020204" pitchFamily="34" charset="0"/>
              </a:rPr>
              <a:t>Profit for Year 3		 €2,000</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altLang="en-US" sz="2400" b="0" i="0" u="none" strike="noStrike" kern="0" cap="none" spc="0" normalizeH="0" baseline="0" noProof="0" dirty="0">
                <a:ln>
                  <a:noFill/>
                </a:ln>
                <a:solidFill>
                  <a:srgbClr val="4472C4">
                    <a:lumMod val="50000"/>
                  </a:srgbClr>
                </a:solidFill>
                <a:effectLst/>
                <a:uLnTx/>
                <a:uFillTx/>
                <a:latin typeface="Aptos" panose="020B0004020202020204" pitchFamily="34" charset="0"/>
              </a:rPr>
              <a:t>Less 2</a:t>
            </a:r>
            <a:r>
              <a:rPr kumimoji="0" lang="en-IE" altLang="en-US" sz="2400" b="0" i="0" u="none" strike="noStrike" kern="0" cap="none" spc="0" normalizeH="0" baseline="30000" noProof="0" dirty="0">
                <a:ln>
                  <a:noFill/>
                </a:ln>
                <a:solidFill>
                  <a:srgbClr val="4472C4">
                    <a:lumMod val="50000"/>
                  </a:srgbClr>
                </a:solidFill>
                <a:effectLst/>
                <a:uLnTx/>
                <a:uFillTx/>
                <a:latin typeface="Aptos" panose="020B0004020202020204" pitchFamily="34" charset="0"/>
              </a:rPr>
              <a:t>nd</a:t>
            </a:r>
            <a:r>
              <a:rPr kumimoji="0" lang="en-IE" altLang="en-US" sz="2400" b="0" i="0" u="none" strike="noStrike" kern="0" cap="none" spc="0" normalizeH="0" baseline="0" noProof="0" dirty="0">
                <a:ln>
                  <a:noFill/>
                </a:ln>
                <a:solidFill>
                  <a:srgbClr val="4472C4">
                    <a:lumMod val="50000"/>
                  </a:srgbClr>
                </a:solidFill>
                <a:effectLst/>
                <a:uLnTx/>
                <a:uFillTx/>
                <a:latin typeface="Aptos" panose="020B0004020202020204" pitchFamily="34" charset="0"/>
              </a:rPr>
              <a:t> Year Excess		</a:t>
            </a:r>
            <a:r>
              <a:rPr kumimoji="0" lang="en-IE" altLang="en-US" sz="2400" b="0" i="0" u="sng" strike="noStrike" kern="0" cap="none" spc="0" normalizeH="0" baseline="0" noProof="0" dirty="0">
                <a:ln>
                  <a:noFill/>
                </a:ln>
                <a:solidFill>
                  <a:srgbClr val="4472C4">
                    <a:lumMod val="50000"/>
                  </a:srgbClr>
                </a:solidFill>
                <a:effectLst/>
                <a:uLnTx/>
                <a:uFillTx/>
                <a:latin typeface="Aptos" panose="020B0004020202020204" pitchFamily="34" charset="0"/>
              </a:rPr>
              <a:t>(€4,000)</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lang="en-IE" altLang="en-US" sz="2400" kern="0" dirty="0">
                <a:solidFill>
                  <a:srgbClr val="4472C4">
                    <a:lumMod val="50000"/>
                  </a:srgbClr>
                </a:solidFill>
                <a:latin typeface="Aptos" panose="020B0004020202020204" pitchFamily="34" charset="0"/>
              </a:rPr>
              <a:t>Assessment for year 3	     NIL</a:t>
            </a:r>
            <a:endParaRPr kumimoji="0" lang="en-IE" altLang="en-US" sz="2400" b="0" i="0" strike="noStrike" kern="0" cap="none" spc="0" normalizeH="0" baseline="0" noProof="0" dirty="0">
              <a:ln>
                <a:noFill/>
              </a:ln>
              <a:solidFill>
                <a:srgbClr val="4472C4">
                  <a:lumMod val="50000"/>
                </a:srgbClr>
              </a:solidFill>
              <a:effectLst/>
              <a:uLnTx/>
              <a:uFillTx/>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altLang="en-US" sz="2400" b="1" i="0" u="none" strike="noStrike" kern="0" cap="none" spc="0" normalizeH="0" baseline="0" noProof="0" dirty="0">
                <a:ln>
                  <a:noFill/>
                </a:ln>
                <a:solidFill>
                  <a:srgbClr val="4472C4">
                    <a:lumMod val="50000"/>
                  </a:srgbClr>
                </a:solidFill>
                <a:effectLst/>
                <a:uLnTx/>
                <a:uFillTx/>
                <a:latin typeface="Aptos" panose="020B0004020202020204" pitchFamily="34" charset="0"/>
              </a:rPr>
              <a:t>Unutilised 2</a:t>
            </a:r>
            <a:r>
              <a:rPr kumimoji="0" lang="en-IE" altLang="en-US" sz="2400" b="1" i="0" u="none" strike="noStrike" kern="0" cap="none" spc="0" normalizeH="0" baseline="30000" noProof="0" dirty="0">
                <a:ln>
                  <a:noFill/>
                </a:ln>
                <a:solidFill>
                  <a:srgbClr val="4472C4">
                    <a:lumMod val="50000"/>
                  </a:srgbClr>
                </a:solidFill>
                <a:effectLst/>
                <a:uLnTx/>
                <a:uFillTx/>
                <a:latin typeface="Aptos" panose="020B0004020202020204" pitchFamily="34" charset="0"/>
              </a:rPr>
              <a:t>nd</a:t>
            </a:r>
            <a:r>
              <a:rPr kumimoji="0" lang="en-IE" altLang="en-US" sz="2400" b="1" i="0" u="none" strike="noStrike" kern="0" cap="none" spc="0" normalizeH="0" baseline="0" noProof="0" dirty="0">
                <a:ln>
                  <a:noFill/>
                </a:ln>
                <a:solidFill>
                  <a:srgbClr val="4472C4">
                    <a:lumMod val="50000"/>
                  </a:srgbClr>
                </a:solidFill>
                <a:effectLst/>
                <a:uLnTx/>
                <a:uFillTx/>
                <a:latin typeface="Aptos" panose="020B0004020202020204" pitchFamily="34" charset="0"/>
              </a:rPr>
              <a:t> Year Excess	(€2,000)</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altLang="en-US" sz="1500" b="1" i="0" u="none" strike="noStrike" kern="0" cap="none" spc="0" normalizeH="0" baseline="0" noProof="0" dirty="0">
              <a:ln>
                <a:noFill/>
              </a:ln>
              <a:solidFill>
                <a:srgbClr val="4472C4">
                  <a:lumMod val="50000"/>
                </a:srgbClr>
              </a:solidFill>
              <a:effectLst/>
              <a:uLnTx/>
              <a:uFillTx/>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altLang="en-US" sz="2400" b="1" i="0" u="none" strike="noStrike" kern="0" cap="none" spc="0" normalizeH="0" baseline="0" noProof="0" dirty="0">
                <a:ln>
                  <a:noFill/>
                </a:ln>
                <a:solidFill>
                  <a:srgbClr val="006666"/>
                </a:solidFill>
                <a:effectLst/>
                <a:uLnTx/>
                <a:uFillTx/>
                <a:latin typeface="Aptos" panose="020B0004020202020204" pitchFamily="34" charset="0"/>
              </a:rPr>
              <a:t>Note: </a:t>
            </a:r>
            <a:r>
              <a:rPr kumimoji="0" lang="en-IE" altLang="en-US" sz="2400" b="0" i="0" u="none" strike="noStrike" kern="0" cap="none" spc="0" normalizeH="0" baseline="0" noProof="0" dirty="0">
                <a:ln>
                  <a:noFill/>
                </a:ln>
                <a:solidFill>
                  <a:srgbClr val="006666"/>
                </a:solidFill>
                <a:effectLst/>
                <a:uLnTx/>
                <a:uFillTx/>
                <a:latin typeface="Aptos" panose="020B0004020202020204" pitchFamily="34" charset="0"/>
              </a:rPr>
              <a:t>The assessment for Year 3 will be reduced to NIL for the trade</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altLang="en-US" sz="2400" b="0" i="0" u="none" strike="noStrike" kern="0" cap="none" spc="0" normalizeH="0" baseline="0" noProof="0" dirty="0">
                <a:ln>
                  <a:noFill/>
                </a:ln>
                <a:solidFill>
                  <a:srgbClr val="006666"/>
                </a:solidFill>
                <a:effectLst/>
                <a:uLnTx/>
                <a:uFillTx/>
                <a:latin typeface="Aptos" panose="020B0004020202020204" pitchFamily="34" charset="0"/>
              </a:rPr>
              <a:t>The unutilised 2</a:t>
            </a:r>
            <a:r>
              <a:rPr kumimoji="0" lang="en-IE" altLang="en-US" sz="2400" b="0" i="0" u="none" strike="noStrike" kern="0" cap="none" spc="0" normalizeH="0" baseline="30000" noProof="0" dirty="0">
                <a:ln>
                  <a:noFill/>
                </a:ln>
                <a:solidFill>
                  <a:srgbClr val="006666"/>
                </a:solidFill>
                <a:effectLst/>
                <a:uLnTx/>
                <a:uFillTx/>
                <a:latin typeface="Aptos" panose="020B0004020202020204" pitchFamily="34" charset="0"/>
              </a:rPr>
              <a:t>nd</a:t>
            </a:r>
            <a:r>
              <a:rPr kumimoji="0" lang="en-IE" altLang="en-US" sz="2400" b="0" i="0" u="none" strike="noStrike" kern="0" cap="none" spc="0" normalizeH="0" baseline="0" noProof="0" dirty="0">
                <a:ln>
                  <a:noFill/>
                </a:ln>
                <a:solidFill>
                  <a:srgbClr val="006666"/>
                </a:solidFill>
                <a:effectLst/>
                <a:uLnTx/>
                <a:uFillTx/>
                <a:latin typeface="Aptos" panose="020B0004020202020204" pitchFamily="34" charset="0"/>
              </a:rPr>
              <a:t> Year Excess of (€2,000) is carried forward into Year 4  for</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altLang="en-US" sz="2400" b="0" i="0" u="none" strike="noStrike" kern="0" cap="none" spc="0" normalizeH="0" baseline="0" noProof="0" dirty="0">
                <a:ln>
                  <a:noFill/>
                </a:ln>
                <a:solidFill>
                  <a:srgbClr val="006666"/>
                </a:solidFill>
                <a:effectLst/>
                <a:uLnTx/>
                <a:uFillTx/>
                <a:latin typeface="Aptos" panose="020B0004020202020204" pitchFamily="34" charset="0"/>
              </a:rPr>
              <a:t>offset (</a:t>
            </a:r>
            <a:r>
              <a:rPr kumimoji="0" lang="en-IE" altLang="en-US" sz="2400" b="0" i="1" u="none" strike="noStrike" kern="0" cap="none" spc="0" normalizeH="0" baseline="0" noProof="0" dirty="0">
                <a:ln>
                  <a:noFill/>
                </a:ln>
                <a:solidFill>
                  <a:srgbClr val="006666"/>
                </a:solidFill>
                <a:effectLst/>
                <a:uLnTx/>
                <a:uFillTx/>
                <a:latin typeface="Aptos" panose="020B0004020202020204" pitchFamily="34" charset="0"/>
              </a:rPr>
              <a:t>if possible) </a:t>
            </a:r>
            <a:r>
              <a:rPr kumimoji="0" lang="en-IE" altLang="en-US" sz="2400" b="0" i="0" u="none" strike="noStrike" kern="0" cap="none" spc="0" normalizeH="0" baseline="0" noProof="0" dirty="0">
                <a:ln>
                  <a:noFill/>
                </a:ln>
                <a:solidFill>
                  <a:srgbClr val="006666"/>
                </a:solidFill>
                <a:effectLst/>
                <a:uLnTx/>
                <a:uFillTx/>
                <a:latin typeface="Aptos" panose="020B0004020202020204" pitchFamily="34" charset="0"/>
              </a:rPr>
              <a:t>against any available trade profits (</a:t>
            </a:r>
            <a:r>
              <a:rPr kumimoji="0" lang="en-IE" altLang="en-US" sz="2400" b="0" i="1" u="none" strike="noStrike" kern="0" cap="none" spc="0" normalizeH="0" baseline="0" noProof="0" dirty="0">
                <a:ln>
                  <a:noFill/>
                </a:ln>
                <a:solidFill>
                  <a:srgbClr val="006666"/>
                </a:solidFill>
                <a:effectLst/>
                <a:uLnTx/>
                <a:uFillTx/>
                <a:latin typeface="Aptos" panose="020B0004020202020204" pitchFamily="34" charset="0"/>
              </a:rPr>
              <a:t>same trade only</a:t>
            </a:r>
            <a:r>
              <a:rPr kumimoji="0" lang="en-IE" altLang="en-US" sz="2400" b="0" i="0" u="none" strike="noStrike" kern="0" cap="none" spc="0" normalizeH="0" baseline="0" noProof="0" dirty="0">
                <a:ln>
                  <a:noFill/>
                </a:ln>
                <a:solidFill>
                  <a:srgbClr val="006666"/>
                </a:solidFill>
                <a:effectLst/>
                <a:uLnTx/>
                <a:uFillTx/>
                <a:latin typeface="Aptos" panose="020B0004020202020204" pitchFamily="34" charset="0"/>
              </a:rPr>
              <a:t>)</a:t>
            </a:r>
          </a:p>
          <a:p>
            <a:pPr marL="0" marR="0" lvl="0" indent="0" algn="r"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altLang="en-US" sz="2400" b="0" i="0" u="none" strike="noStrike" kern="0" cap="none" spc="0" normalizeH="0" baseline="0" noProof="0" dirty="0">
              <a:ln>
                <a:noFill/>
              </a:ln>
              <a:solidFill>
                <a:srgbClr val="003366"/>
              </a:solidFill>
              <a:effectLst/>
              <a:uLnTx/>
              <a:uFillTx/>
              <a:latin typeface="Arial"/>
              <a:ea typeface="+mn-ea"/>
              <a:cs typeface="+mn-cs"/>
            </a:endParaRPr>
          </a:p>
        </p:txBody>
      </p:sp>
    </p:spTree>
    <p:extLst>
      <p:ext uri="{BB962C8B-B14F-4D97-AF65-F5344CB8AC3E}">
        <p14:creationId xmlns:p14="http://schemas.microsoft.com/office/powerpoint/2010/main" val="4181234553"/>
      </p:ext>
    </p:extLst>
  </p:cSld>
  <p:clrMapOvr>
    <a:masterClrMapping/>
  </p:clrMapOvr>
  <mc:AlternateContent xmlns:mc="http://schemas.openxmlformats.org/markup-compatibility/2006" xmlns:p14="http://schemas.microsoft.com/office/powerpoint/2010/main">
    <mc:Choice Requires="p14">
      <p:transition spd="slow" p14:dur="2000" advTm="24367"/>
    </mc:Choice>
    <mc:Fallback xmlns="">
      <p:transition spd="slow" advTm="243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78C4-BE84-DD50-934B-9C5B86F98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68739-AB0D-E477-9671-1C6C45813D79}"/>
              </a:ext>
            </a:extLst>
          </p:cNvPr>
          <p:cNvSpPr>
            <a:spLocks noGrp="1"/>
          </p:cNvSpPr>
          <p:nvPr>
            <p:ph type="title"/>
          </p:nvPr>
        </p:nvSpPr>
        <p:spPr>
          <a:xfrm>
            <a:off x="838200" y="0"/>
            <a:ext cx="10126717" cy="1036321"/>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Commencing to Trade: </a:t>
            </a:r>
            <a:r>
              <a:rPr lang="en-IE" sz="3600" b="1" u="sng" dirty="0">
                <a:solidFill>
                  <a:srgbClr val="009999"/>
                </a:solidFill>
                <a:latin typeface="Aptos" panose="020B0004020202020204" pitchFamily="34" charset="0"/>
                <a:cs typeface="Arial" panose="020B0604020202020204" pitchFamily="34" charset="0"/>
              </a:rPr>
              <a:t>Scenario 2</a:t>
            </a:r>
          </a:p>
        </p:txBody>
      </p:sp>
      <p:sp>
        <p:nvSpPr>
          <p:cNvPr id="4" name="Content Placeholder 3">
            <a:extLst>
              <a:ext uri="{FF2B5EF4-FFF2-40B4-BE49-F238E27FC236}">
                <a16:creationId xmlns:a16="http://schemas.microsoft.com/office/drawing/2014/main" id="{2F164902-7C51-E8C2-1290-1B00B9118FB8}"/>
              </a:ext>
            </a:extLst>
          </p:cNvPr>
          <p:cNvSpPr>
            <a:spLocks noGrp="1"/>
          </p:cNvSpPr>
          <p:nvPr>
            <p:ph sz="half" idx="1"/>
          </p:nvPr>
        </p:nvSpPr>
        <p:spPr>
          <a:xfrm>
            <a:off x="838200" y="1036321"/>
            <a:ext cx="10632440" cy="4971832"/>
          </a:xfrm>
        </p:spPr>
        <p:txBody>
          <a:bodyPr>
            <a:normAutofit fontScale="92500" lnSpcReduction="10000"/>
          </a:bodyPr>
          <a:lstStyle/>
          <a:p>
            <a:pPr marL="0" indent="0">
              <a:lnSpc>
                <a:spcPct val="120000"/>
              </a:lnSpc>
              <a:buNone/>
            </a:pPr>
            <a:endParaRPr lang="en-IE" sz="1000" b="1" dirty="0"/>
          </a:p>
          <a:p>
            <a:pPr marL="0" indent="0">
              <a:lnSpc>
                <a:spcPct val="120000"/>
              </a:lnSpc>
              <a:buNone/>
            </a:pPr>
            <a:r>
              <a:rPr lang="en-IE" dirty="0">
                <a:solidFill>
                  <a:schemeClr val="tx2">
                    <a:lumMod val="90000"/>
                    <a:lumOff val="10000"/>
                  </a:schemeClr>
                </a:solidFill>
              </a:rPr>
              <a:t>Other than the years of commencement and cessation of a trade, an individual can only be assessed on the profits arising in a </a:t>
            </a:r>
            <a:r>
              <a:rPr lang="en-IE" b="1" dirty="0">
                <a:solidFill>
                  <a:schemeClr val="tx2">
                    <a:lumMod val="90000"/>
                    <a:lumOff val="10000"/>
                  </a:schemeClr>
                </a:solidFill>
              </a:rPr>
              <a:t>12-month period </a:t>
            </a:r>
            <a:r>
              <a:rPr lang="en-IE" dirty="0">
                <a:solidFill>
                  <a:schemeClr val="tx2">
                    <a:lumMod val="90000"/>
                    <a:lumOff val="10000"/>
                  </a:schemeClr>
                </a:solidFill>
              </a:rPr>
              <a:t>ending on the </a:t>
            </a:r>
            <a:r>
              <a:rPr lang="en-IE" b="1" dirty="0">
                <a:solidFill>
                  <a:schemeClr val="tx2">
                    <a:lumMod val="90000"/>
                    <a:lumOff val="10000"/>
                  </a:schemeClr>
                </a:solidFill>
              </a:rPr>
              <a:t>end date </a:t>
            </a:r>
            <a:r>
              <a:rPr lang="en-IE" dirty="0">
                <a:solidFill>
                  <a:schemeClr val="tx2">
                    <a:lumMod val="90000"/>
                    <a:lumOff val="10000"/>
                  </a:schemeClr>
                </a:solidFill>
              </a:rPr>
              <a:t>of the accounts submitted for the tax year</a:t>
            </a:r>
          </a:p>
          <a:p>
            <a:pPr marL="0" indent="0">
              <a:lnSpc>
                <a:spcPct val="120000"/>
              </a:lnSpc>
              <a:buNone/>
            </a:pPr>
            <a:endParaRPr lang="en-IE" dirty="0">
              <a:solidFill>
                <a:schemeClr val="tx2">
                  <a:lumMod val="90000"/>
                  <a:lumOff val="10000"/>
                </a:schemeClr>
              </a:solidFill>
            </a:endParaRPr>
          </a:p>
          <a:p>
            <a:pPr marL="0" indent="0">
              <a:lnSpc>
                <a:spcPct val="120000"/>
              </a:lnSpc>
              <a:buNone/>
            </a:pPr>
            <a:r>
              <a:rPr lang="en-IE" dirty="0">
                <a:solidFill>
                  <a:schemeClr val="tx2">
                    <a:lumMod val="90000"/>
                    <a:lumOff val="10000"/>
                  </a:schemeClr>
                </a:solidFill>
              </a:rPr>
              <a:t>On occasion a </a:t>
            </a:r>
            <a:r>
              <a:rPr lang="en-IE" b="1" dirty="0">
                <a:solidFill>
                  <a:schemeClr val="tx2">
                    <a:lumMod val="90000"/>
                    <a:lumOff val="10000"/>
                  </a:schemeClr>
                </a:solidFill>
              </a:rPr>
              <a:t>set of accounts </a:t>
            </a:r>
            <a:r>
              <a:rPr lang="en-IE" dirty="0">
                <a:solidFill>
                  <a:schemeClr val="tx2">
                    <a:lumMod val="90000"/>
                    <a:lumOff val="10000"/>
                  </a:schemeClr>
                </a:solidFill>
              </a:rPr>
              <a:t>may show a profit for </a:t>
            </a:r>
            <a:r>
              <a:rPr lang="en-IE" b="1" dirty="0">
                <a:solidFill>
                  <a:schemeClr val="tx2">
                    <a:lumMod val="90000"/>
                    <a:lumOff val="10000"/>
                  </a:schemeClr>
                </a:solidFill>
              </a:rPr>
              <a:t>a period exceeding 12-months</a:t>
            </a:r>
          </a:p>
          <a:p>
            <a:pPr marL="0" indent="0">
              <a:lnSpc>
                <a:spcPct val="120000"/>
              </a:lnSpc>
              <a:buNone/>
            </a:pPr>
            <a:r>
              <a:rPr lang="en-IE" dirty="0">
                <a:solidFill>
                  <a:schemeClr val="tx2">
                    <a:lumMod val="90000"/>
                    <a:lumOff val="10000"/>
                  </a:schemeClr>
                </a:solidFill>
              </a:rPr>
              <a:t>e.g</a:t>
            </a:r>
            <a:r>
              <a:rPr lang="en-IE" b="1" dirty="0">
                <a:solidFill>
                  <a:schemeClr val="tx2">
                    <a:lumMod val="90000"/>
                    <a:lumOff val="10000"/>
                  </a:schemeClr>
                </a:solidFill>
              </a:rPr>
              <a:t>. </a:t>
            </a:r>
            <a:r>
              <a:rPr lang="en-IE" dirty="0">
                <a:solidFill>
                  <a:schemeClr val="tx2">
                    <a:lumMod val="90000"/>
                    <a:lumOff val="10000"/>
                  </a:schemeClr>
                </a:solidFill>
              </a:rPr>
              <a:t>first day of trading is 1 Nov 2025 and first set of accounts covers the period 1 Nov 2025 to 31 Dec 2026 i.e. </a:t>
            </a:r>
            <a:r>
              <a:rPr lang="en-IE" b="1" dirty="0">
                <a:solidFill>
                  <a:schemeClr val="tx2">
                    <a:lumMod val="90000"/>
                    <a:lumOff val="10000"/>
                  </a:schemeClr>
                </a:solidFill>
              </a:rPr>
              <a:t>14 months </a:t>
            </a:r>
            <a:r>
              <a:rPr lang="en-IE" dirty="0">
                <a:solidFill>
                  <a:schemeClr val="tx2">
                    <a:lumMod val="90000"/>
                    <a:lumOff val="10000"/>
                  </a:schemeClr>
                </a:solidFill>
              </a:rPr>
              <a:t>(</a:t>
            </a:r>
            <a:r>
              <a:rPr lang="en-IE" i="1" dirty="0">
                <a:solidFill>
                  <a:schemeClr val="tx2">
                    <a:lumMod val="90000"/>
                    <a:lumOff val="10000"/>
                  </a:schemeClr>
                </a:solidFill>
              </a:rPr>
              <a:t>to facilitate change of accounting date</a:t>
            </a:r>
            <a:r>
              <a:rPr lang="en-IE" dirty="0">
                <a:solidFill>
                  <a:schemeClr val="tx2">
                    <a:lumMod val="90000"/>
                    <a:lumOff val="10000"/>
                  </a:schemeClr>
                </a:solidFill>
              </a:rPr>
              <a:t>)</a:t>
            </a:r>
          </a:p>
          <a:p>
            <a:pPr marL="0" indent="0">
              <a:lnSpc>
                <a:spcPct val="120000"/>
              </a:lnSpc>
              <a:buNone/>
            </a:pPr>
            <a:endParaRPr lang="en-IE" sz="1000" b="1" dirty="0"/>
          </a:p>
        </p:txBody>
      </p:sp>
      <p:pic>
        <p:nvPicPr>
          <p:cNvPr id="5" name="Picture 4">
            <a:extLst>
              <a:ext uri="{FF2B5EF4-FFF2-40B4-BE49-F238E27FC236}">
                <a16:creationId xmlns:a16="http://schemas.microsoft.com/office/drawing/2014/main" id="{823F3BF2-B806-04A4-1439-D4CD35968DE6}"/>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123806967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A053E-0E94-F315-AF03-E0A29033F49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637043F-2A1E-9C17-3F8F-9CB897B5C733}"/>
              </a:ext>
            </a:extLst>
          </p:cNvPr>
          <p:cNvSpPr>
            <a:spLocks noGrp="1"/>
          </p:cNvSpPr>
          <p:nvPr>
            <p:ph sz="half" idx="1"/>
          </p:nvPr>
        </p:nvSpPr>
        <p:spPr>
          <a:xfrm>
            <a:off x="538480" y="1158241"/>
            <a:ext cx="10901680" cy="4995686"/>
          </a:xfrm>
        </p:spPr>
        <p:txBody>
          <a:bodyPr>
            <a:normAutofit/>
          </a:bodyPr>
          <a:lstStyle/>
          <a:p>
            <a:pPr marL="0" indent="0">
              <a:lnSpc>
                <a:spcPct val="120000"/>
              </a:lnSpc>
              <a:buNone/>
            </a:pPr>
            <a:endParaRPr lang="en-IE" sz="1000" dirty="0"/>
          </a:p>
          <a:p>
            <a:pPr marL="0" indent="0">
              <a:lnSpc>
                <a:spcPct val="120000"/>
              </a:lnSpc>
              <a:buNone/>
            </a:pPr>
            <a:endParaRPr lang="en-IE" sz="26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E114838D-BDFD-AEC3-C43B-CEBFEC51892C}"/>
              </a:ext>
            </a:extLst>
          </p:cNvPr>
          <p:cNvPicPr>
            <a:picLocks noChangeAspect="1"/>
          </p:cNvPicPr>
          <p:nvPr/>
        </p:nvPicPr>
        <p:blipFill>
          <a:blip r:embed="rId3"/>
          <a:stretch>
            <a:fillRect/>
          </a:stretch>
        </p:blipFill>
        <p:spPr>
          <a:xfrm>
            <a:off x="0" y="6069"/>
            <a:ext cx="1227083" cy="622135"/>
          </a:xfrm>
          <a:prstGeom prst="rect">
            <a:avLst/>
          </a:prstGeom>
        </p:spPr>
      </p:pic>
      <p:sp>
        <p:nvSpPr>
          <p:cNvPr id="6" name="TextBox 5">
            <a:extLst>
              <a:ext uri="{FF2B5EF4-FFF2-40B4-BE49-F238E27FC236}">
                <a16:creationId xmlns:a16="http://schemas.microsoft.com/office/drawing/2014/main" id="{AF012FD4-A402-EE6F-2844-89F805E99EF9}"/>
              </a:ext>
            </a:extLst>
          </p:cNvPr>
          <p:cNvSpPr txBox="1"/>
          <p:nvPr/>
        </p:nvSpPr>
        <p:spPr>
          <a:xfrm>
            <a:off x="1346200" y="57741"/>
            <a:ext cx="9286240" cy="898077"/>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3600" b="1" i="0" u="none" strike="noStrike" kern="1200" cap="none" spc="0" normalizeH="0" baseline="0" noProof="0" dirty="0">
                <a:ln>
                  <a:noFill/>
                </a:ln>
                <a:solidFill>
                  <a:srgbClr val="009999"/>
                </a:solidFill>
                <a:effectLst/>
                <a:uLnTx/>
                <a:uFillTx/>
                <a:latin typeface="Aptos" panose="020B0004020202020204" pitchFamily="34" charset="0"/>
                <a:ea typeface="+mn-ea"/>
                <a:cs typeface="+mn-cs"/>
              </a:rPr>
              <a:t>Example</a:t>
            </a:r>
          </a:p>
        </p:txBody>
      </p:sp>
      <p:sp>
        <p:nvSpPr>
          <p:cNvPr id="7" name="TextBox 6">
            <a:extLst>
              <a:ext uri="{FF2B5EF4-FFF2-40B4-BE49-F238E27FC236}">
                <a16:creationId xmlns:a16="http://schemas.microsoft.com/office/drawing/2014/main" id="{DE25D50C-E055-4677-960C-F278377E11BB}"/>
              </a:ext>
            </a:extLst>
          </p:cNvPr>
          <p:cNvSpPr txBox="1"/>
          <p:nvPr/>
        </p:nvSpPr>
        <p:spPr>
          <a:xfrm>
            <a:off x="967740" y="1643159"/>
            <a:ext cx="10256520"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chemeClr val="tx2">
                    <a:lumMod val="90000"/>
                    <a:lumOff val="10000"/>
                  </a:schemeClr>
                </a:solidFill>
                <a:effectLst/>
                <a:uLnTx/>
                <a:uFillTx/>
                <a:latin typeface="Aptos" panose="020B0004020202020204" pitchFamily="34" charset="0"/>
                <a:ea typeface="+mn-ea"/>
                <a:cs typeface="+mn-cs"/>
              </a:rPr>
              <a:t>Serena commenced trading as a tennis instructor on 1 Sept 2024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dirty="0">
              <a:ln>
                <a:noFill/>
              </a:ln>
              <a:solidFill>
                <a:schemeClr val="tx2">
                  <a:lumMod val="90000"/>
                  <a:lumOff val="10000"/>
                </a:scheme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chemeClr val="tx2">
                    <a:lumMod val="90000"/>
                    <a:lumOff val="10000"/>
                  </a:schemeClr>
                </a:solidFill>
                <a:effectLst/>
                <a:uLnTx/>
                <a:uFillTx/>
                <a:latin typeface="Aptos" panose="020B0004020202020204" pitchFamily="34" charset="0"/>
                <a:ea typeface="+mn-ea"/>
                <a:cs typeface="+mn-cs"/>
              </a:rPr>
              <a:t>Her accounts showed the following profits: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dirty="0">
              <a:ln>
                <a:noFill/>
              </a:ln>
              <a:solidFill>
                <a:schemeClr val="tx2">
                  <a:lumMod val="90000"/>
                  <a:lumOff val="10000"/>
                </a:scheme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dirty="0">
              <a:ln>
                <a:noFill/>
              </a:ln>
              <a:solidFill>
                <a:schemeClr val="tx2">
                  <a:lumMod val="90000"/>
                  <a:lumOff val="10000"/>
                </a:scheme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chemeClr val="tx2">
                    <a:lumMod val="90000"/>
                    <a:lumOff val="10000"/>
                  </a:schemeClr>
                </a:solidFill>
                <a:effectLst/>
                <a:uLnTx/>
                <a:uFillTx/>
                <a:latin typeface="Aptos" panose="020B0004020202020204" pitchFamily="34" charset="0"/>
                <a:ea typeface="+mn-ea"/>
                <a:cs typeface="+mn-cs"/>
              </a:rPr>
              <a:t>14 months from 1 Sept 2024 to 31 Oct 2025 	Profit	 €128,000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dirty="0">
              <a:ln>
                <a:noFill/>
              </a:ln>
              <a:solidFill>
                <a:schemeClr val="tx2">
                  <a:lumMod val="90000"/>
                  <a:lumOff val="10000"/>
                </a:scheme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chemeClr val="tx2">
                    <a:lumMod val="90000"/>
                    <a:lumOff val="10000"/>
                  </a:schemeClr>
                </a:solidFill>
                <a:effectLst/>
                <a:uLnTx/>
                <a:uFillTx/>
                <a:latin typeface="Aptos" panose="020B0004020202020204" pitchFamily="34" charset="0"/>
                <a:ea typeface="+mn-ea"/>
                <a:cs typeface="+mn-cs"/>
              </a:rPr>
              <a:t>12 months from 1 Nov 2025 to 31 Oct 2026 	Profit	  €  86,000</a:t>
            </a:r>
          </a:p>
        </p:txBody>
      </p:sp>
      <p:pic>
        <p:nvPicPr>
          <p:cNvPr id="2" name="Picture 1">
            <a:extLst>
              <a:ext uri="{FF2B5EF4-FFF2-40B4-BE49-F238E27FC236}">
                <a16:creationId xmlns:a16="http://schemas.microsoft.com/office/drawing/2014/main" id="{D9BED892-BEAC-DBA1-5C66-49826CC02F81}"/>
              </a:ext>
            </a:extLst>
          </p:cNvPr>
          <p:cNvPicPr>
            <a:picLocks noChangeAspect="1"/>
          </p:cNvPicPr>
          <p:nvPr/>
        </p:nvPicPr>
        <p:blipFill>
          <a:blip r:embed="rId4"/>
          <a:stretch>
            <a:fillRect/>
          </a:stretch>
        </p:blipFill>
        <p:spPr>
          <a:xfrm rot="747662" flipH="1">
            <a:off x="9572608" y="945553"/>
            <a:ext cx="2559730" cy="2944586"/>
          </a:xfrm>
          <a:prstGeom prst="rect">
            <a:avLst/>
          </a:prstGeom>
        </p:spPr>
      </p:pic>
    </p:spTree>
    <p:extLst>
      <p:ext uri="{BB962C8B-B14F-4D97-AF65-F5344CB8AC3E}">
        <p14:creationId xmlns:p14="http://schemas.microsoft.com/office/powerpoint/2010/main" val="364352932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AC4B4-5D49-F8D0-C12B-5CF0E1608A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F4ED7B-33D9-F77E-E0BB-189D024D65DD}"/>
              </a:ext>
            </a:extLst>
          </p:cNvPr>
          <p:cNvPicPr>
            <a:picLocks noChangeAspect="1"/>
          </p:cNvPicPr>
          <p:nvPr/>
        </p:nvPicPr>
        <p:blipFill>
          <a:blip r:embed="rId3"/>
          <a:stretch>
            <a:fillRect/>
          </a:stretch>
        </p:blipFill>
        <p:spPr>
          <a:xfrm>
            <a:off x="0" y="6069"/>
            <a:ext cx="1227083" cy="622135"/>
          </a:xfrm>
          <a:prstGeom prst="rect">
            <a:avLst/>
          </a:prstGeom>
        </p:spPr>
      </p:pic>
      <p:sp>
        <p:nvSpPr>
          <p:cNvPr id="2" name="TextBox 1">
            <a:extLst>
              <a:ext uri="{FF2B5EF4-FFF2-40B4-BE49-F238E27FC236}">
                <a16:creationId xmlns:a16="http://schemas.microsoft.com/office/drawing/2014/main" id="{1080370F-B25B-9C94-92F7-367269205FF3}"/>
              </a:ext>
            </a:extLst>
          </p:cNvPr>
          <p:cNvSpPr txBox="1"/>
          <p:nvPr/>
        </p:nvSpPr>
        <p:spPr>
          <a:xfrm>
            <a:off x="1604151" y="14016"/>
            <a:ext cx="9164320" cy="1119644"/>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3600" b="1" i="0" u="none" strike="noStrike" kern="1200" cap="none" spc="0" normalizeH="0" baseline="0" noProof="0" dirty="0">
                <a:ln>
                  <a:noFill/>
                </a:ln>
                <a:solidFill>
                  <a:srgbClr val="009999"/>
                </a:solidFill>
                <a:effectLst/>
                <a:uLnTx/>
                <a:uFillTx/>
                <a:latin typeface="Aptos" panose="020B0004020202020204" pitchFamily="34" charset="0"/>
                <a:ea typeface="+mn-ea"/>
                <a:cs typeface="+mn-cs"/>
              </a:rPr>
              <a:t>Example Cont’d</a:t>
            </a:r>
          </a:p>
        </p:txBody>
      </p:sp>
      <p:sp>
        <p:nvSpPr>
          <p:cNvPr id="4" name="TextBox 3">
            <a:extLst>
              <a:ext uri="{FF2B5EF4-FFF2-40B4-BE49-F238E27FC236}">
                <a16:creationId xmlns:a16="http://schemas.microsoft.com/office/drawing/2014/main" id="{C34D85D4-7303-5A8C-18AA-C05EC47555E5}"/>
              </a:ext>
            </a:extLst>
          </p:cNvPr>
          <p:cNvSpPr txBox="1"/>
          <p:nvPr/>
        </p:nvSpPr>
        <p:spPr>
          <a:xfrm>
            <a:off x="1046480" y="1292357"/>
            <a:ext cx="10119360" cy="44319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Year 1- 2024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Serena’s first year in business her profit is extracted from €128,000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‘Basis Period’ –  1 Sept 2024 to 31 Dec 2024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Time apportioned to 4 months in the first year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€128,000 x 4/14 ( four fourteenths) = </a:t>
            </a: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€36,571 assessable profit 2024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2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a:t>
            </a:r>
          </a:p>
        </p:txBody>
      </p:sp>
    </p:spTree>
    <p:extLst>
      <p:ext uri="{BB962C8B-B14F-4D97-AF65-F5344CB8AC3E}">
        <p14:creationId xmlns:p14="http://schemas.microsoft.com/office/powerpoint/2010/main" val="15646833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61D4C-7B50-11F8-3C38-EB36B0D9699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E06E07-158C-4272-6772-0D59EBD15302}"/>
              </a:ext>
            </a:extLst>
          </p:cNvPr>
          <p:cNvPicPr>
            <a:picLocks noChangeAspect="1"/>
          </p:cNvPicPr>
          <p:nvPr/>
        </p:nvPicPr>
        <p:blipFill>
          <a:blip r:embed="rId3"/>
          <a:stretch>
            <a:fillRect/>
          </a:stretch>
        </p:blipFill>
        <p:spPr>
          <a:xfrm>
            <a:off x="0" y="6069"/>
            <a:ext cx="1227083" cy="622135"/>
          </a:xfrm>
          <a:prstGeom prst="rect">
            <a:avLst/>
          </a:prstGeom>
        </p:spPr>
      </p:pic>
      <p:sp>
        <p:nvSpPr>
          <p:cNvPr id="4" name="TextBox 3">
            <a:extLst>
              <a:ext uri="{FF2B5EF4-FFF2-40B4-BE49-F238E27FC236}">
                <a16:creationId xmlns:a16="http://schemas.microsoft.com/office/drawing/2014/main" id="{AE591510-3CD0-1217-6FC9-88ADA42410F7}"/>
              </a:ext>
            </a:extLst>
          </p:cNvPr>
          <p:cNvSpPr txBox="1"/>
          <p:nvPr/>
        </p:nvSpPr>
        <p:spPr>
          <a:xfrm>
            <a:off x="467360" y="1084211"/>
            <a:ext cx="11257280" cy="5712333"/>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Year 2 - 2025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Serena’s second year in business</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‘Basis period’-  1 Nov 2024 to 31 Oct 2025  (</a:t>
            </a:r>
            <a:r>
              <a:rPr kumimoji="0" lang="en-IE" sz="2600" b="0" i="1"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12 months</a:t>
            </a: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Profit €128,000</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€128,000 x 12/14 (twelve fourteenths) = </a:t>
            </a: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€109,714 assessable profit for 2025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008080"/>
                </a:solidFill>
                <a:effectLst/>
                <a:uLnTx/>
                <a:uFillTx/>
                <a:latin typeface="Aptos" panose="020B0004020202020204" pitchFamily="34" charset="0"/>
                <a:ea typeface="+mn-ea"/>
                <a:cs typeface="+mn-cs"/>
              </a:rPr>
              <a:t>Note: The same set of accounts is used to extract the assessable profit for both year 1 and year 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2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p:txBody>
      </p:sp>
      <p:sp>
        <p:nvSpPr>
          <p:cNvPr id="6" name="TextBox 5">
            <a:extLst>
              <a:ext uri="{FF2B5EF4-FFF2-40B4-BE49-F238E27FC236}">
                <a16:creationId xmlns:a16="http://schemas.microsoft.com/office/drawing/2014/main" id="{E4DD50BE-C6F0-99C1-37FC-ED7D68D4196E}"/>
              </a:ext>
            </a:extLst>
          </p:cNvPr>
          <p:cNvSpPr txBox="1"/>
          <p:nvPr/>
        </p:nvSpPr>
        <p:spPr>
          <a:xfrm>
            <a:off x="1604151" y="14016"/>
            <a:ext cx="9164320" cy="1119644"/>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3600" b="1" i="0" u="none" strike="noStrike" kern="1200" cap="none" spc="0" normalizeH="0" baseline="0" noProof="0" dirty="0">
                <a:ln>
                  <a:noFill/>
                </a:ln>
                <a:solidFill>
                  <a:srgbClr val="009999"/>
                </a:solidFill>
                <a:effectLst/>
                <a:uLnTx/>
                <a:uFillTx/>
                <a:latin typeface="Aptos" panose="020B0004020202020204" pitchFamily="34" charset="0"/>
                <a:ea typeface="+mn-ea"/>
                <a:cs typeface="+mn-cs"/>
              </a:rPr>
              <a:t>Example cont’d</a:t>
            </a:r>
          </a:p>
        </p:txBody>
      </p:sp>
    </p:spTree>
    <p:extLst>
      <p:ext uri="{BB962C8B-B14F-4D97-AF65-F5344CB8AC3E}">
        <p14:creationId xmlns:p14="http://schemas.microsoft.com/office/powerpoint/2010/main" val="3664470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6738C-92E4-66D2-244E-C36075074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BAD5C-0629-7F79-8463-8044415C7E14}"/>
              </a:ext>
            </a:extLst>
          </p:cNvPr>
          <p:cNvSpPr>
            <a:spLocks noGrp="1"/>
          </p:cNvSpPr>
          <p:nvPr>
            <p:ph type="title"/>
          </p:nvPr>
        </p:nvSpPr>
        <p:spPr>
          <a:xfrm>
            <a:off x="838200" y="1"/>
            <a:ext cx="10126717" cy="1080906"/>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Question</a:t>
            </a:r>
          </a:p>
        </p:txBody>
      </p:sp>
      <p:pic>
        <p:nvPicPr>
          <p:cNvPr id="5" name="Picture 4">
            <a:extLst>
              <a:ext uri="{FF2B5EF4-FFF2-40B4-BE49-F238E27FC236}">
                <a16:creationId xmlns:a16="http://schemas.microsoft.com/office/drawing/2014/main" id="{440243F5-10FE-BB5E-27DC-8BBDF6DABD16}"/>
              </a:ext>
            </a:extLst>
          </p:cNvPr>
          <p:cNvPicPr>
            <a:picLocks noChangeAspect="1"/>
          </p:cNvPicPr>
          <p:nvPr/>
        </p:nvPicPr>
        <p:blipFill>
          <a:blip r:embed="rId3"/>
          <a:stretch>
            <a:fillRect/>
          </a:stretch>
        </p:blipFill>
        <p:spPr>
          <a:xfrm>
            <a:off x="0" y="6069"/>
            <a:ext cx="1227083" cy="622135"/>
          </a:xfrm>
          <a:prstGeom prst="rect">
            <a:avLst/>
          </a:prstGeom>
        </p:spPr>
      </p:pic>
      <p:sp>
        <p:nvSpPr>
          <p:cNvPr id="6" name="Heptagon 5">
            <a:extLst>
              <a:ext uri="{FF2B5EF4-FFF2-40B4-BE49-F238E27FC236}">
                <a16:creationId xmlns:a16="http://schemas.microsoft.com/office/drawing/2014/main" id="{7C216518-8D99-F03D-A245-18D5A70D43F5}"/>
              </a:ext>
            </a:extLst>
          </p:cNvPr>
          <p:cNvSpPr/>
          <p:nvPr/>
        </p:nvSpPr>
        <p:spPr>
          <a:xfrm>
            <a:off x="3261360" y="1290320"/>
            <a:ext cx="5527040" cy="3917814"/>
          </a:xfrm>
          <a:prstGeom prst="heptagon">
            <a:avLst/>
          </a:prstGeom>
          <a:solidFill>
            <a:srgbClr val="0099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3600" b="0" i="0" u="none" strike="noStrike" kern="1200" cap="none" spc="0" normalizeH="0" baseline="0" noProof="0" dirty="0">
                <a:ln>
                  <a:noFill/>
                </a:ln>
                <a:solidFill>
                  <a:prstClr val="white"/>
                </a:solidFill>
                <a:effectLst/>
                <a:uLnTx/>
                <a:uFillTx/>
                <a:latin typeface="Aptos" panose="020B0004020202020204" pitchFamily="34" charset="0"/>
                <a:ea typeface="+mn-ea"/>
                <a:cs typeface="+mn-cs"/>
              </a:rPr>
              <a:t>Compute Serena’s second year excess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3600" b="0" i="0" u="none" strike="noStrike" kern="1200" cap="none" spc="0" normalizeH="0" baseline="0" noProof="0" dirty="0">
                <a:ln>
                  <a:noFill/>
                </a:ln>
                <a:solidFill>
                  <a:prstClr val="white"/>
                </a:solidFill>
                <a:effectLst/>
                <a:uLnTx/>
                <a:uFillTx/>
                <a:latin typeface="Aptos" panose="020B0004020202020204" pitchFamily="34" charset="0"/>
                <a:ea typeface="+mn-ea"/>
                <a:cs typeface="+mn-cs"/>
              </a:rPr>
              <a:t>and her assessable profit for 2027</a:t>
            </a:r>
          </a:p>
        </p:txBody>
      </p:sp>
    </p:spTree>
    <p:extLst>
      <p:ext uri="{BB962C8B-B14F-4D97-AF65-F5344CB8AC3E}">
        <p14:creationId xmlns:p14="http://schemas.microsoft.com/office/powerpoint/2010/main" val="4566922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ACABB-3644-1BA4-8A0E-717ED974C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67FC7-65E0-DEC1-4451-746CDADD0A91}"/>
              </a:ext>
            </a:extLst>
          </p:cNvPr>
          <p:cNvSpPr>
            <a:spLocks noGrp="1"/>
          </p:cNvSpPr>
          <p:nvPr>
            <p:ph type="title"/>
          </p:nvPr>
        </p:nvSpPr>
        <p:spPr>
          <a:xfrm>
            <a:off x="939800" y="136525"/>
            <a:ext cx="10126717" cy="622136"/>
          </a:xfrm>
        </p:spPr>
        <p:txBody>
          <a:bodyPr>
            <a:noAutofit/>
          </a:bodyPr>
          <a:lstStyle/>
          <a:p>
            <a:pPr algn="ctr"/>
            <a:r>
              <a:rPr lang="en-IE" sz="3200" b="1" dirty="0">
                <a:solidFill>
                  <a:srgbClr val="009999"/>
                </a:solidFill>
                <a:latin typeface="Aptos" panose="020B0004020202020204" pitchFamily="34" charset="0"/>
                <a:cs typeface="Arial" panose="020B0604020202020204" pitchFamily="34" charset="0"/>
              </a:rPr>
              <a:t>SOLUTION</a:t>
            </a:r>
          </a:p>
        </p:txBody>
      </p:sp>
      <p:pic>
        <p:nvPicPr>
          <p:cNvPr id="5" name="Picture 4">
            <a:extLst>
              <a:ext uri="{FF2B5EF4-FFF2-40B4-BE49-F238E27FC236}">
                <a16:creationId xmlns:a16="http://schemas.microsoft.com/office/drawing/2014/main" id="{8392A1A3-A792-B7B7-8C78-075C86785B7C}"/>
              </a:ext>
            </a:extLst>
          </p:cNvPr>
          <p:cNvPicPr>
            <a:picLocks noChangeAspect="1"/>
          </p:cNvPicPr>
          <p:nvPr/>
        </p:nvPicPr>
        <p:blipFill>
          <a:blip r:embed="rId3"/>
          <a:stretch>
            <a:fillRect/>
          </a:stretch>
        </p:blipFill>
        <p:spPr>
          <a:xfrm>
            <a:off x="0" y="6069"/>
            <a:ext cx="1227083" cy="622135"/>
          </a:xfrm>
          <a:prstGeom prst="rect">
            <a:avLst/>
          </a:prstGeom>
        </p:spPr>
      </p:pic>
      <p:sp>
        <p:nvSpPr>
          <p:cNvPr id="7" name="TextBox 6">
            <a:extLst>
              <a:ext uri="{FF2B5EF4-FFF2-40B4-BE49-F238E27FC236}">
                <a16:creationId xmlns:a16="http://schemas.microsoft.com/office/drawing/2014/main" id="{594F1D7C-2B7A-7C03-57B1-DCB414935CC4}"/>
              </a:ext>
            </a:extLst>
          </p:cNvPr>
          <p:cNvSpPr txBox="1"/>
          <p:nvPr/>
        </p:nvSpPr>
        <p:spPr>
          <a:xfrm>
            <a:off x="756760" y="829934"/>
            <a:ext cx="11145520" cy="58785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Accounts - 1 Sept 2024 to 31 Oct 2025 (</a:t>
            </a: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14 mths</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profit 			€128,000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Accounts - 1 Nov 2025 to 31 Oct 2026  (12 months) profit 		€  86,000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______________________________________________________________________________</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Original assessment for 2025 </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a:t>
            </a: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€109,714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0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Calendar Year Review of 2025 i.e. profits for Jan to Dec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0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0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€128,000 x </a:t>
            </a: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10/14</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 €   91,429    (Jan to Oct 2025)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0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86,000 x </a:t>
            </a: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2/12</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    </a:t>
            </a:r>
            <a:r>
              <a:rPr kumimoji="0" lang="en-IE" sz="2400" b="0" i="0" u="sng"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14,333   </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(Nov &amp; Dec 2025)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€ 105,762						</a:t>
            </a:r>
            <a:r>
              <a:rPr kumimoji="0" lang="en-IE" sz="2400" b="0" i="0" u="sng"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€105,762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a:t>
            </a: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Second Year Excess	</a:t>
            </a: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a:t>
            </a: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3,952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0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Serena’s profit for year 3 of €86,000 can be reduced by €3,952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4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Her final assessable profit for 2026 is €82,048</a:t>
            </a:r>
            <a:endParaRPr kumimoji="0" lang="en-IE" sz="24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4031235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5FA2B-75E6-58DF-4E58-79BD607C0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D2976-2990-245D-1F8B-E45BED71E161}"/>
              </a:ext>
            </a:extLst>
          </p:cNvPr>
          <p:cNvSpPr>
            <a:spLocks noGrp="1"/>
          </p:cNvSpPr>
          <p:nvPr>
            <p:ph type="title"/>
          </p:nvPr>
        </p:nvSpPr>
        <p:spPr>
          <a:xfrm>
            <a:off x="838200" y="0"/>
            <a:ext cx="10126717" cy="1137921"/>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Ceasing to Trade: Taxing the Final Profits</a:t>
            </a:r>
          </a:p>
        </p:txBody>
      </p:sp>
      <p:sp>
        <p:nvSpPr>
          <p:cNvPr id="4" name="Content Placeholder 3">
            <a:extLst>
              <a:ext uri="{FF2B5EF4-FFF2-40B4-BE49-F238E27FC236}">
                <a16:creationId xmlns:a16="http://schemas.microsoft.com/office/drawing/2014/main" id="{532A0EF9-7D76-DB47-4BDC-374C5D8D4383}"/>
              </a:ext>
            </a:extLst>
          </p:cNvPr>
          <p:cNvSpPr>
            <a:spLocks noGrp="1"/>
          </p:cNvSpPr>
          <p:nvPr>
            <p:ph sz="half" idx="1"/>
          </p:nvPr>
        </p:nvSpPr>
        <p:spPr>
          <a:xfrm>
            <a:off x="619760" y="1137921"/>
            <a:ext cx="11095162" cy="4870232"/>
          </a:xfrm>
        </p:spPr>
        <p:txBody>
          <a:bodyPr>
            <a:normAutofit fontScale="92500" lnSpcReduction="10000"/>
          </a:bodyPr>
          <a:lstStyle/>
          <a:p>
            <a:pPr>
              <a:lnSpc>
                <a:spcPct val="120000"/>
              </a:lnSpc>
            </a:pPr>
            <a:r>
              <a:rPr lang="en-IE" dirty="0">
                <a:solidFill>
                  <a:schemeClr val="tx2">
                    <a:lumMod val="90000"/>
                    <a:lumOff val="10000"/>
                  </a:schemeClr>
                </a:solidFill>
              </a:rPr>
              <a:t>The final year’s assessment is based on </a:t>
            </a:r>
            <a:r>
              <a:rPr lang="en-IE" b="1" dirty="0">
                <a:solidFill>
                  <a:schemeClr val="tx2">
                    <a:lumMod val="90000"/>
                    <a:lumOff val="10000"/>
                  </a:schemeClr>
                </a:solidFill>
              </a:rPr>
              <a:t>profits arising in the calendar months of that FINAL year </a:t>
            </a:r>
            <a:r>
              <a:rPr lang="en-IE" dirty="0">
                <a:solidFill>
                  <a:schemeClr val="tx2">
                    <a:lumMod val="90000"/>
                    <a:lumOff val="10000"/>
                  </a:schemeClr>
                </a:solidFill>
              </a:rPr>
              <a:t>i.e. from 1 January to the date the business has ceased to trade </a:t>
            </a:r>
            <a:r>
              <a:rPr lang="en-IE" b="1" i="1" dirty="0">
                <a:solidFill>
                  <a:schemeClr val="tx2">
                    <a:lumMod val="90000"/>
                    <a:lumOff val="10000"/>
                  </a:schemeClr>
                </a:solidFill>
              </a:rPr>
              <a:t>AND</a:t>
            </a:r>
          </a:p>
          <a:p>
            <a:pPr>
              <a:lnSpc>
                <a:spcPct val="120000"/>
              </a:lnSpc>
            </a:pPr>
            <a:endParaRPr lang="en-IE" sz="1000" i="1" dirty="0">
              <a:solidFill>
                <a:schemeClr val="tx2">
                  <a:lumMod val="90000"/>
                  <a:lumOff val="10000"/>
                </a:schemeClr>
              </a:solidFill>
            </a:endParaRPr>
          </a:p>
          <a:p>
            <a:pPr>
              <a:lnSpc>
                <a:spcPct val="120000"/>
              </a:lnSpc>
            </a:pPr>
            <a:r>
              <a:rPr lang="en-IE" dirty="0">
                <a:solidFill>
                  <a:schemeClr val="tx2">
                    <a:lumMod val="90000"/>
                    <a:lumOff val="10000"/>
                  </a:schemeClr>
                </a:solidFill>
              </a:rPr>
              <a:t>A </a:t>
            </a:r>
            <a:r>
              <a:rPr lang="en-IE" b="1" dirty="0">
                <a:solidFill>
                  <a:schemeClr val="tx2">
                    <a:lumMod val="90000"/>
                    <a:lumOff val="10000"/>
                  </a:schemeClr>
                </a:solidFill>
              </a:rPr>
              <a:t>‘penultimate year’ </a:t>
            </a:r>
            <a:r>
              <a:rPr lang="en-IE" dirty="0">
                <a:solidFill>
                  <a:schemeClr val="tx2">
                    <a:lumMod val="90000"/>
                    <a:lumOff val="10000"/>
                  </a:schemeClr>
                </a:solidFill>
              </a:rPr>
              <a:t>review (</a:t>
            </a:r>
            <a:r>
              <a:rPr lang="en-IE" i="1" dirty="0">
                <a:solidFill>
                  <a:schemeClr val="tx2">
                    <a:lumMod val="90000"/>
                    <a:lumOff val="10000"/>
                  </a:schemeClr>
                </a:solidFill>
              </a:rPr>
              <a:t>second last year</a:t>
            </a:r>
            <a:r>
              <a:rPr lang="en-IE" dirty="0">
                <a:solidFill>
                  <a:schemeClr val="tx2">
                    <a:lumMod val="90000"/>
                    <a:lumOff val="10000"/>
                  </a:schemeClr>
                </a:solidFill>
              </a:rPr>
              <a:t>) is carried out to compute the profit for that year as if the person had been on a </a:t>
            </a:r>
            <a:r>
              <a:rPr lang="en-IE" b="1" dirty="0">
                <a:solidFill>
                  <a:schemeClr val="tx2">
                    <a:lumMod val="90000"/>
                    <a:lumOff val="10000"/>
                  </a:schemeClr>
                </a:solidFill>
              </a:rPr>
              <a:t>calendar year basis</a:t>
            </a:r>
          </a:p>
          <a:p>
            <a:pPr>
              <a:lnSpc>
                <a:spcPct val="120000"/>
              </a:lnSpc>
            </a:pPr>
            <a:endParaRPr lang="en-IE" b="1" dirty="0"/>
          </a:p>
          <a:p>
            <a:pPr marL="0" indent="0">
              <a:lnSpc>
                <a:spcPct val="120000"/>
              </a:lnSpc>
              <a:buNone/>
            </a:pPr>
            <a:r>
              <a:rPr lang="en-IE" i="1" dirty="0">
                <a:solidFill>
                  <a:srgbClr val="006666"/>
                </a:solidFill>
              </a:rPr>
              <a:t>Note: If the calendar year profit is </a:t>
            </a:r>
            <a:r>
              <a:rPr lang="en-IE" b="1" i="1" dirty="0">
                <a:solidFill>
                  <a:srgbClr val="006666"/>
                </a:solidFill>
              </a:rPr>
              <a:t>higher</a:t>
            </a:r>
            <a:r>
              <a:rPr lang="en-IE" i="1" dirty="0">
                <a:solidFill>
                  <a:srgbClr val="006666"/>
                </a:solidFill>
              </a:rPr>
              <a:t> then the penultimate year assessment will be </a:t>
            </a:r>
            <a:r>
              <a:rPr lang="en-IE" b="1" i="1" dirty="0">
                <a:solidFill>
                  <a:srgbClr val="006666"/>
                </a:solidFill>
              </a:rPr>
              <a:t>increased</a:t>
            </a:r>
            <a:r>
              <a:rPr lang="en-IE" i="1" dirty="0">
                <a:solidFill>
                  <a:srgbClr val="006666"/>
                </a:solidFill>
              </a:rPr>
              <a:t> to collect additional taxes, if the calendar year profit is lower then the original assessment stands</a:t>
            </a:r>
          </a:p>
          <a:p>
            <a:pPr marL="0" indent="0">
              <a:lnSpc>
                <a:spcPct val="120000"/>
              </a:lnSpc>
              <a:buNone/>
            </a:pPr>
            <a:endParaRPr lang="en-IE" sz="26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A44DC925-9828-1E31-2B1D-958CE4865CC1}"/>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32790565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E8A8C-9AC9-181B-5ECE-B13F5B415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3BD52-C039-77BF-505F-6B21F954A7FC}"/>
              </a:ext>
            </a:extLst>
          </p:cNvPr>
          <p:cNvSpPr>
            <a:spLocks noGrp="1"/>
          </p:cNvSpPr>
          <p:nvPr>
            <p:ph type="title"/>
          </p:nvPr>
        </p:nvSpPr>
        <p:spPr>
          <a:xfrm>
            <a:off x="838200" y="0"/>
            <a:ext cx="10126717" cy="1137921"/>
          </a:xfrm>
        </p:spPr>
        <p:txBody>
          <a:bodyPr>
            <a:noAutofit/>
          </a:bodyPr>
          <a:lstStyle/>
          <a:p>
            <a:pPr algn="ctr"/>
            <a:r>
              <a:rPr lang="en-IE" sz="3600" b="1" dirty="0">
                <a:solidFill>
                  <a:srgbClr val="009999"/>
                </a:solidFill>
                <a:latin typeface="Aptos" panose="020B0004020202020204" pitchFamily="34" charset="0"/>
                <a:cs typeface="Arial" panose="020B0604020202020204" pitchFamily="34" charset="0"/>
              </a:rPr>
              <a:t>Final Year</a:t>
            </a:r>
          </a:p>
        </p:txBody>
      </p:sp>
      <p:sp>
        <p:nvSpPr>
          <p:cNvPr id="4" name="Content Placeholder 3">
            <a:extLst>
              <a:ext uri="{FF2B5EF4-FFF2-40B4-BE49-F238E27FC236}">
                <a16:creationId xmlns:a16="http://schemas.microsoft.com/office/drawing/2014/main" id="{B8CAD28E-9FB1-46CA-1D1B-E25D483B9B41}"/>
              </a:ext>
            </a:extLst>
          </p:cNvPr>
          <p:cNvSpPr>
            <a:spLocks noGrp="1"/>
          </p:cNvSpPr>
          <p:nvPr>
            <p:ph sz="half" idx="1"/>
          </p:nvPr>
        </p:nvSpPr>
        <p:spPr>
          <a:xfrm>
            <a:off x="619760" y="1137921"/>
            <a:ext cx="11095162" cy="4870232"/>
          </a:xfrm>
        </p:spPr>
        <p:txBody>
          <a:bodyPr>
            <a:normAutofit lnSpcReduction="10000"/>
          </a:bodyPr>
          <a:lstStyle/>
          <a:p>
            <a:pPr>
              <a:lnSpc>
                <a:spcPct val="120000"/>
              </a:lnSpc>
            </a:pPr>
            <a:r>
              <a:rPr lang="en-IE" dirty="0">
                <a:solidFill>
                  <a:schemeClr val="tx2">
                    <a:lumMod val="90000"/>
                    <a:lumOff val="10000"/>
                  </a:schemeClr>
                </a:solidFill>
              </a:rPr>
              <a:t>David ceased trading as a wildlife photographer on 31 March 2026, his final 12-month set of accounts showed the following profit:</a:t>
            </a:r>
          </a:p>
          <a:p>
            <a:pPr>
              <a:lnSpc>
                <a:spcPct val="120000"/>
              </a:lnSpc>
            </a:pPr>
            <a:endParaRPr lang="en-IE" dirty="0">
              <a:solidFill>
                <a:schemeClr val="tx2">
                  <a:lumMod val="90000"/>
                  <a:lumOff val="10000"/>
                </a:schemeClr>
              </a:solidFill>
            </a:endParaRPr>
          </a:p>
          <a:p>
            <a:pPr>
              <a:lnSpc>
                <a:spcPct val="120000"/>
              </a:lnSpc>
            </a:pPr>
            <a:r>
              <a:rPr lang="en-IE" dirty="0">
                <a:solidFill>
                  <a:schemeClr val="tx2">
                    <a:lumMod val="90000"/>
                    <a:lumOff val="10000"/>
                  </a:schemeClr>
                </a:solidFill>
              </a:rPr>
              <a:t>Profit for </a:t>
            </a:r>
            <a:r>
              <a:rPr lang="en-IE" b="1" dirty="0">
                <a:solidFill>
                  <a:schemeClr val="tx2">
                    <a:lumMod val="90000"/>
                    <a:lumOff val="10000"/>
                  </a:schemeClr>
                </a:solidFill>
              </a:rPr>
              <a:t>Year</a:t>
            </a:r>
            <a:r>
              <a:rPr lang="en-IE" dirty="0">
                <a:solidFill>
                  <a:schemeClr val="tx2">
                    <a:lumMod val="90000"/>
                    <a:lumOff val="10000"/>
                  </a:schemeClr>
                </a:solidFill>
              </a:rPr>
              <a:t> Ending 31 March 2026			</a:t>
            </a:r>
            <a:r>
              <a:rPr lang="en-IE" b="1" dirty="0">
                <a:solidFill>
                  <a:schemeClr val="tx2">
                    <a:lumMod val="90000"/>
                    <a:lumOff val="10000"/>
                  </a:schemeClr>
                </a:solidFill>
              </a:rPr>
              <a:t>€24,000</a:t>
            </a:r>
          </a:p>
          <a:p>
            <a:pPr marL="0" indent="0">
              <a:lnSpc>
                <a:spcPct val="120000"/>
              </a:lnSpc>
              <a:buNone/>
            </a:pPr>
            <a:endParaRPr lang="en-IE" b="1" dirty="0">
              <a:solidFill>
                <a:schemeClr val="tx2">
                  <a:lumMod val="90000"/>
                  <a:lumOff val="10000"/>
                </a:schemeClr>
              </a:solidFill>
            </a:endParaRPr>
          </a:p>
          <a:p>
            <a:pPr marL="0" indent="0">
              <a:lnSpc>
                <a:spcPct val="120000"/>
              </a:lnSpc>
              <a:buNone/>
            </a:pPr>
            <a:r>
              <a:rPr lang="en-IE" b="1" dirty="0">
                <a:solidFill>
                  <a:schemeClr val="tx2">
                    <a:lumMod val="90000"/>
                    <a:lumOff val="10000"/>
                  </a:schemeClr>
                </a:solidFill>
              </a:rPr>
              <a:t>Final Year 2026 profit computed as follows:</a:t>
            </a:r>
          </a:p>
          <a:p>
            <a:pPr marL="0" indent="0">
              <a:lnSpc>
                <a:spcPct val="120000"/>
              </a:lnSpc>
              <a:buNone/>
            </a:pPr>
            <a:endParaRPr lang="en-IE" b="1" dirty="0">
              <a:solidFill>
                <a:schemeClr val="tx2">
                  <a:lumMod val="90000"/>
                  <a:lumOff val="10000"/>
                </a:schemeClr>
              </a:solidFill>
            </a:endParaRPr>
          </a:p>
          <a:p>
            <a:pPr marL="0" indent="0">
              <a:lnSpc>
                <a:spcPct val="60000"/>
              </a:lnSpc>
              <a:buNone/>
            </a:pPr>
            <a:r>
              <a:rPr lang="en-IE" dirty="0">
                <a:solidFill>
                  <a:schemeClr val="tx2">
                    <a:lumMod val="90000"/>
                    <a:lumOff val="10000"/>
                  </a:schemeClr>
                </a:solidFill>
              </a:rPr>
              <a:t>€24,000 x </a:t>
            </a:r>
            <a:r>
              <a:rPr lang="en-IE" u="sng" dirty="0">
                <a:solidFill>
                  <a:schemeClr val="tx2">
                    <a:lumMod val="90000"/>
                    <a:lumOff val="10000"/>
                  </a:schemeClr>
                </a:solidFill>
              </a:rPr>
              <a:t>3mths </a:t>
            </a:r>
            <a:r>
              <a:rPr lang="en-IE" dirty="0">
                <a:solidFill>
                  <a:schemeClr val="tx2">
                    <a:lumMod val="90000"/>
                    <a:lumOff val="10000"/>
                  </a:schemeClr>
                </a:solidFill>
              </a:rPr>
              <a:t>= 	</a:t>
            </a:r>
            <a:r>
              <a:rPr lang="en-IE" b="1" dirty="0">
                <a:solidFill>
                  <a:schemeClr val="tx2">
                    <a:lumMod val="90000"/>
                    <a:lumOff val="10000"/>
                  </a:schemeClr>
                </a:solidFill>
              </a:rPr>
              <a:t>assessable profit </a:t>
            </a:r>
            <a:r>
              <a:rPr lang="en-IE" dirty="0">
                <a:solidFill>
                  <a:schemeClr val="tx2">
                    <a:lumMod val="90000"/>
                    <a:lumOff val="10000"/>
                  </a:schemeClr>
                </a:solidFill>
              </a:rPr>
              <a:t>for 2026	</a:t>
            </a:r>
            <a:r>
              <a:rPr lang="en-IE" b="1" dirty="0">
                <a:solidFill>
                  <a:schemeClr val="tx2">
                    <a:lumMod val="90000"/>
                    <a:lumOff val="10000"/>
                  </a:schemeClr>
                </a:solidFill>
              </a:rPr>
              <a:t>€  6,000</a:t>
            </a:r>
            <a:endParaRPr lang="en-IE" b="1" u="sng" dirty="0">
              <a:solidFill>
                <a:schemeClr val="tx2">
                  <a:lumMod val="90000"/>
                  <a:lumOff val="10000"/>
                </a:schemeClr>
              </a:solidFill>
            </a:endParaRPr>
          </a:p>
          <a:p>
            <a:pPr marL="0" indent="0">
              <a:lnSpc>
                <a:spcPct val="60000"/>
              </a:lnSpc>
              <a:buNone/>
            </a:pPr>
            <a:r>
              <a:rPr lang="en-IE" dirty="0">
                <a:solidFill>
                  <a:schemeClr val="tx2">
                    <a:lumMod val="90000"/>
                    <a:lumOff val="10000"/>
                  </a:schemeClr>
                </a:solidFill>
              </a:rPr>
              <a:t>                    12mths</a:t>
            </a:r>
          </a:p>
          <a:p>
            <a:pPr marL="0" indent="0">
              <a:lnSpc>
                <a:spcPct val="120000"/>
              </a:lnSpc>
              <a:buNone/>
            </a:pPr>
            <a:endParaRPr lang="en-IE" sz="26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30723EB7-2579-39E6-9C45-5CB2D827D1AC}"/>
              </a:ext>
            </a:extLst>
          </p:cNvPr>
          <p:cNvPicPr>
            <a:picLocks noChangeAspect="1"/>
          </p:cNvPicPr>
          <p:nvPr/>
        </p:nvPicPr>
        <p:blipFill>
          <a:blip r:embed="rId3"/>
          <a:stretch>
            <a:fillRect/>
          </a:stretch>
        </p:blipFill>
        <p:spPr>
          <a:xfrm>
            <a:off x="0" y="6069"/>
            <a:ext cx="1227083" cy="622135"/>
          </a:xfrm>
          <a:prstGeom prst="rect">
            <a:avLst/>
          </a:prstGeom>
        </p:spPr>
      </p:pic>
    </p:spTree>
    <p:extLst>
      <p:ext uri="{BB962C8B-B14F-4D97-AF65-F5344CB8AC3E}">
        <p14:creationId xmlns:p14="http://schemas.microsoft.com/office/powerpoint/2010/main" val="10075392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790C0-5561-C325-ED5F-D21D3806280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EA9EB5C-FC9A-F98C-B11D-50CF078D15E2}"/>
              </a:ext>
            </a:extLst>
          </p:cNvPr>
          <p:cNvSpPr>
            <a:spLocks noGrp="1"/>
          </p:cNvSpPr>
          <p:nvPr>
            <p:ph sz="half" idx="1"/>
          </p:nvPr>
        </p:nvSpPr>
        <p:spPr>
          <a:xfrm>
            <a:off x="619760" y="1137921"/>
            <a:ext cx="11095162" cy="4870232"/>
          </a:xfrm>
        </p:spPr>
        <p:txBody>
          <a:bodyPr>
            <a:normAutofit/>
          </a:bodyPr>
          <a:lstStyle/>
          <a:p>
            <a:pPr marL="0" indent="0">
              <a:lnSpc>
                <a:spcPct val="120000"/>
              </a:lnSpc>
              <a:buNone/>
            </a:pPr>
            <a:endParaRPr lang="en-IE" b="1" dirty="0"/>
          </a:p>
          <a:p>
            <a:pPr marL="0" indent="0">
              <a:lnSpc>
                <a:spcPct val="120000"/>
              </a:lnSpc>
              <a:buNone/>
            </a:pPr>
            <a:endParaRPr lang="en-IE" sz="26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C751F683-592A-0444-CF71-BB7778BC996D}"/>
              </a:ext>
            </a:extLst>
          </p:cNvPr>
          <p:cNvPicPr>
            <a:picLocks noChangeAspect="1"/>
          </p:cNvPicPr>
          <p:nvPr/>
        </p:nvPicPr>
        <p:blipFill>
          <a:blip r:embed="rId3"/>
          <a:stretch>
            <a:fillRect/>
          </a:stretch>
        </p:blipFill>
        <p:spPr>
          <a:xfrm>
            <a:off x="0" y="6069"/>
            <a:ext cx="1227083" cy="622135"/>
          </a:xfrm>
          <a:prstGeom prst="rect">
            <a:avLst/>
          </a:prstGeom>
        </p:spPr>
      </p:pic>
      <p:sp>
        <p:nvSpPr>
          <p:cNvPr id="2" name="TextBox 1">
            <a:extLst>
              <a:ext uri="{FF2B5EF4-FFF2-40B4-BE49-F238E27FC236}">
                <a16:creationId xmlns:a16="http://schemas.microsoft.com/office/drawing/2014/main" id="{40D0DAFF-532C-FCF9-81E0-15E1A0EF3FEB}"/>
              </a:ext>
            </a:extLst>
          </p:cNvPr>
          <p:cNvSpPr txBox="1"/>
          <p:nvPr/>
        </p:nvSpPr>
        <p:spPr>
          <a:xfrm>
            <a:off x="1950720" y="1"/>
            <a:ext cx="8605520" cy="920652"/>
          </a:xfrm>
          <a:prstGeom prst="rect">
            <a:avLst/>
          </a:prstGeom>
          <a:noFill/>
        </p:spPr>
        <p:txBody>
          <a:bodyPr wrap="square"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3600" b="1" i="0" u="none" strike="noStrike" kern="1200" cap="none" spc="0" normalizeH="0" baseline="0" noProof="0" dirty="0">
                <a:ln>
                  <a:noFill/>
                </a:ln>
                <a:solidFill>
                  <a:srgbClr val="009999"/>
                </a:solidFill>
                <a:effectLst/>
                <a:uLnTx/>
                <a:uFillTx/>
                <a:latin typeface="Aptos" panose="020B0004020202020204" pitchFamily="34" charset="0"/>
                <a:ea typeface="+mn-ea"/>
                <a:cs typeface="+mn-cs"/>
              </a:rPr>
              <a:t>QUESTION</a:t>
            </a:r>
          </a:p>
        </p:txBody>
      </p:sp>
      <p:sp>
        <p:nvSpPr>
          <p:cNvPr id="8" name="TextBox 7">
            <a:extLst>
              <a:ext uri="{FF2B5EF4-FFF2-40B4-BE49-F238E27FC236}">
                <a16:creationId xmlns:a16="http://schemas.microsoft.com/office/drawing/2014/main" id="{D3B2ABF8-8ACE-47AA-A8B6-43736CFFBB92}"/>
              </a:ext>
            </a:extLst>
          </p:cNvPr>
          <p:cNvSpPr txBox="1"/>
          <p:nvPr/>
        </p:nvSpPr>
        <p:spPr>
          <a:xfrm>
            <a:off x="934720" y="1430369"/>
            <a:ext cx="10322560"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Alfred </a:t>
            </a: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ceased trading </a:t>
            </a: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as a film maker on 30 June 2026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His final set of accounts showed the following: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Profit for year 1 July 2025 to 30 June 2026  €22,000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Required: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Compute Alfred’s assessable profit for 2026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pic>
        <p:nvPicPr>
          <p:cNvPr id="6" name="Picture 5">
            <a:extLst>
              <a:ext uri="{FF2B5EF4-FFF2-40B4-BE49-F238E27FC236}">
                <a16:creationId xmlns:a16="http://schemas.microsoft.com/office/drawing/2014/main" id="{B8BAABBD-615D-2E1C-40B8-8B8FDA9BC0CE}"/>
              </a:ext>
            </a:extLst>
          </p:cNvPr>
          <p:cNvPicPr>
            <a:picLocks noChangeAspect="1"/>
          </p:cNvPicPr>
          <p:nvPr/>
        </p:nvPicPr>
        <p:blipFill>
          <a:blip r:embed="rId4"/>
          <a:stretch>
            <a:fillRect/>
          </a:stretch>
        </p:blipFill>
        <p:spPr>
          <a:xfrm>
            <a:off x="9068557" y="1805124"/>
            <a:ext cx="2595181" cy="2595181"/>
          </a:xfrm>
          <a:prstGeom prst="rect">
            <a:avLst/>
          </a:prstGeom>
        </p:spPr>
      </p:pic>
    </p:spTree>
    <p:extLst>
      <p:ext uri="{BB962C8B-B14F-4D97-AF65-F5344CB8AC3E}">
        <p14:creationId xmlns:p14="http://schemas.microsoft.com/office/powerpoint/2010/main" val="6381521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EC52F-A365-2848-8297-7C50354C7B7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F07392D-A8B0-1D46-FF44-77FA692D87FA}"/>
              </a:ext>
            </a:extLst>
          </p:cNvPr>
          <p:cNvSpPr>
            <a:spLocks noGrp="1"/>
          </p:cNvSpPr>
          <p:nvPr>
            <p:ph sz="half" idx="1"/>
          </p:nvPr>
        </p:nvSpPr>
        <p:spPr>
          <a:xfrm>
            <a:off x="619760" y="1137921"/>
            <a:ext cx="11095162" cy="4870232"/>
          </a:xfrm>
        </p:spPr>
        <p:txBody>
          <a:bodyPr>
            <a:normAutofit/>
          </a:bodyPr>
          <a:lstStyle/>
          <a:p>
            <a:pPr marL="0" indent="0">
              <a:lnSpc>
                <a:spcPct val="120000"/>
              </a:lnSpc>
              <a:buNone/>
            </a:pPr>
            <a:endParaRPr lang="en-IE" b="1" dirty="0"/>
          </a:p>
          <a:p>
            <a:pPr marL="0" indent="0">
              <a:lnSpc>
                <a:spcPct val="120000"/>
              </a:lnSpc>
              <a:buNone/>
            </a:pPr>
            <a:endParaRPr lang="en-IE" sz="2600" dirty="0">
              <a:solidFill>
                <a:schemeClr val="accent1">
                  <a:lumMod val="50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65018F75-22C6-C15F-1E93-D34D2EAEE08F}"/>
              </a:ext>
            </a:extLst>
          </p:cNvPr>
          <p:cNvPicPr>
            <a:picLocks noChangeAspect="1"/>
          </p:cNvPicPr>
          <p:nvPr/>
        </p:nvPicPr>
        <p:blipFill>
          <a:blip r:embed="rId3"/>
          <a:stretch>
            <a:fillRect/>
          </a:stretch>
        </p:blipFill>
        <p:spPr>
          <a:xfrm>
            <a:off x="0" y="6069"/>
            <a:ext cx="1227083" cy="622135"/>
          </a:xfrm>
          <a:prstGeom prst="rect">
            <a:avLst/>
          </a:prstGeom>
        </p:spPr>
      </p:pic>
      <p:sp>
        <p:nvSpPr>
          <p:cNvPr id="2" name="TextBox 1">
            <a:extLst>
              <a:ext uri="{FF2B5EF4-FFF2-40B4-BE49-F238E27FC236}">
                <a16:creationId xmlns:a16="http://schemas.microsoft.com/office/drawing/2014/main" id="{41921C83-D102-6E06-A856-C823DB6A966A}"/>
              </a:ext>
            </a:extLst>
          </p:cNvPr>
          <p:cNvSpPr txBox="1"/>
          <p:nvPr/>
        </p:nvSpPr>
        <p:spPr>
          <a:xfrm>
            <a:off x="1864581" y="0"/>
            <a:ext cx="8605520" cy="963822"/>
          </a:xfrm>
          <a:prstGeom prst="rect">
            <a:avLst/>
          </a:prstGeom>
          <a:noFill/>
        </p:spPr>
        <p:txBody>
          <a:bodyPr wrap="square"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3600" b="1" i="0" u="none" strike="noStrike" kern="1200" cap="none" spc="0" normalizeH="0" baseline="0" noProof="0" dirty="0">
                <a:ln>
                  <a:noFill/>
                </a:ln>
                <a:solidFill>
                  <a:srgbClr val="009999"/>
                </a:solidFill>
                <a:effectLst/>
                <a:uLnTx/>
                <a:uFillTx/>
                <a:latin typeface="Aptos" panose="020B0004020202020204" pitchFamily="34" charset="0"/>
                <a:ea typeface="+mn-ea"/>
                <a:cs typeface="+mn-cs"/>
              </a:rPr>
              <a:t>SOLUTION</a:t>
            </a:r>
          </a:p>
        </p:txBody>
      </p:sp>
      <p:sp>
        <p:nvSpPr>
          <p:cNvPr id="8" name="TextBox 7">
            <a:extLst>
              <a:ext uri="{FF2B5EF4-FFF2-40B4-BE49-F238E27FC236}">
                <a16:creationId xmlns:a16="http://schemas.microsoft.com/office/drawing/2014/main" id="{367366E1-4C51-4B72-9F90-2BF5FD00AABC}"/>
              </a:ext>
            </a:extLst>
          </p:cNvPr>
          <p:cNvSpPr txBox="1"/>
          <p:nvPr/>
        </p:nvSpPr>
        <p:spPr>
          <a:xfrm>
            <a:off x="843501" y="1137921"/>
            <a:ext cx="10322560" cy="529375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Profit as per </a:t>
            </a: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final 12 months </a:t>
            </a: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trading as follows: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 July 2025 to 30 June 2026					€22,000</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Apportion</a:t>
            </a: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to assess profit arising from </a:t>
            </a: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 Jan 2026 to 30 Jun 2026</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i.e. from 1 Jan in the final year to </a:t>
            </a: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date of cessation </a:t>
            </a: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of trading</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€22,000 x </a:t>
            </a:r>
            <a:r>
              <a:rPr kumimoji="0" lang="en-IE" sz="2600" b="0" i="0" u="sng"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6 mths </a:t>
            </a: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a:t>
            </a:r>
            <a:r>
              <a:rPr kumimoji="0" lang="en-IE" sz="2600" b="1"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€11,000 Assessable profit for final year of trading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rPr>
              <a:t>	     12 mths</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E" sz="2600" b="0" i="0" u="none" strike="noStrike" kern="1200" cap="none" spc="0" normalizeH="0" baseline="0" noProof="0" dirty="0">
              <a:ln>
                <a:noFill/>
              </a:ln>
              <a:solidFill>
                <a:srgbClr val="4472C4">
                  <a:lumMod val="50000"/>
                </a:srgbClr>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26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0089281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7EAA-416A-4B68-BB96-8B16C750B44E}"/>
              </a:ext>
            </a:extLst>
          </p:cNvPr>
          <p:cNvSpPr>
            <a:spLocks noGrp="1"/>
          </p:cNvSpPr>
          <p:nvPr>
            <p:ph type="title" idx="4294967295"/>
          </p:nvPr>
        </p:nvSpPr>
        <p:spPr>
          <a:xfrm>
            <a:off x="0" y="1"/>
            <a:ext cx="12167208" cy="5724394"/>
          </a:xfrm>
        </p:spPr>
        <p:txBody>
          <a:bodyPr>
            <a:normAutofit/>
          </a:bodyPr>
          <a:lstStyle/>
          <a:p>
            <a:pPr algn="ctr">
              <a:lnSpc>
                <a:spcPct val="120000"/>
              </a:lnSpc>
            </a:pPr>
            <a:r>
              <a:rPr kumimoji="0" lang="en-IE" altLang="en-US" b="1" i="0" u="none" strike="noStrike" kern="0" cap="none" spc="0" normalizeH="0" baseline="0" noProof="0" dirty="0">
                <a:ln>
                  <a:noFill/>
                </a:ln>
                <a:solidFill>
                  <a:srgbClr val="009999"/>
                </a:solidFill>
                <a:effectLst/>
                <a:uLnTx/>
                <a:uFillTx/>
                <a:latin typeface="Aptos" panose="020B0004020202020204" pitchFamily="34" charset="0"/>
              </a:rPr>
              <a:t>Change in Accounting Date</a:t>
            </a:r>
            <a:br>
              <a:rPr kumimoji="0" lang="en-IE" altLang="en-US" b="1" i="0" u="none" strike="noStrike" kern="0" cap="none" spc="0" normalizeH="0" baseline="0" noProof="0">
                <a:ln>
                  <a:noFill/>
                </a:ln>
                <a:solidFill>
                  <a:srgbClr val="009999"/>
                </a:solidFill>
                <a:effectLst/>
                <a:uLnTx/>
                <a:uFillTx/>
                <a:latin typeface="Aptos" panose="020B0004020202020204" pitchFamily="34" charset="0"/>
              </a:rPr>
            </a:br>
            <a:r>
              <a:rPr kumimoji="0" lang="en-IE" altLang="en-US" b="1" i="0" u="none" strike="noStrike" kern="0" cap="none" spc="0" normalizeH="0" baseline="0" noProof="0">
                <a:ln>
                  <a:noFill/>
                </a:ln>
                <a:solidFill>
                  <a:srgbClr val="009999"/>
                </a:solidFill>
                <a:effectLst/>
                <a:uLnTx/>
                <a:uFillTx/>
                <a:latin typeface="Aptos" panose="020B0004020202020204" pitchFamily="34" charset="0"/>
              </a:rPr>
              <a:t>ONGOING </a:t>
            </a:r>
            <a:r>
              <a:rPr kumimoji="0" lang="en-IE" altLang="en-US" b="1" i="0" u="none" strike="noStrike" kern="0" cap="none" spc="0" normalizeH="0" baseline="0" noProof="0" dirty="0">
                <a:ln>
                  <a:noFill/>
                </a:ln>
                <a:solidFill>
                  <a:srgbClr val="009999"/>
                </a:solidFill>
                <a:effectLst/>
                <a:uLnTx/>
                <a:uFillTx/>
                <a:latin typeface="Aptos" panose="020B0004020202020204" pitchFamily="34" charset="0"/>
              </a:rPr>
              <a:t>TRADE</a:t>
            </a:r>
            <a:endParaRPr lang="en-IE"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1"/>
            <a:ext cx="1817656" cy="920188"/>
          </a:xfrm>
          <a:prstGeom prst="rect">
            <a:avLst/>
          </a:prstGeom>
          <a:noFill/>
          <a:ln>
            <a:noFill/>
          </a:ln>
        </p:spPr>
      </p:pic>
    </p:spTree>
    <p:extLst>
      <p:ext uri="{BB962C8B-B14F-4D97-AF65-F5344CB8AC3E}">
        <p14:creationId xmlns:p14="http://schemas.microsoft.com/office/powerpoint/2010/main" val="3232090227"/>
      </p:ext>
    </p:extLst>
  </p:cSld>
  <p:clrMapOvr>
    <a:masterClrMapping/>
  </p:clrMapOvr>
  <mc:AlternateContent xmlns:mc="http://schemas.openxmlformats.org/markup-compatibility/2006" xmlns:p14="http://schemas.microsoft.com/office/powerpoint/2010/main">
    <mc:Choice Requires="p14">
      <p:transition spd="slow" p14:dur="2000" advTm="24367"/>
    </mc:Choice>
    <mc:Fallback xmlns="">
      <p:transition spd="slow" advTm="24367"/>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7EAA-416A-4B68-BB96-8B16C750B44E}"/>
              </a:ext>
            </a:extLst>
          </p:cNvPr>
          <p:cNvSpPr>
            <a:spLocks noGrp="1"/>
          </p:cNvSpPr>
          <p:nvPr>
            <p:ph type="title" idx="4294967295"/>
          </p:nvPr>
        </p:nvSpPr>
        <p:spPr>
          <a:xfrm>
            <a:off x="0" y="1"/>
            <a:ext cx="12167208" cy="1514900"/>
          </a:xfrm>
        </p:spPr>
        <p:txBody>
          <a:bodyPr>
            <a:normAutofit/>
          </a:bodyPr>
          <a:lstStyle/>
          <a:p>
            <a:pPr algn="ctr">
              <a:lnSpc>
                <a:spcPct val="120000"/>
              </a:lnSpc>
            </a:pPr>
            <a:r>
              <a:rPr kumimoji="0" lang="en-IE" altLang="en-US" sz="3600" b="1" i="0" u="none" strike="noStrike" kern="0" cap="none" spc="0" normalizeH="0" baseline="0" noProof="0" dirty="0">
                <a:ln>
                  <a:noFill/>
                </a:ln>
                <a:solidFill>
                  <a:srgbClr val="009999"/>
                </a:solidFill>
                <a:effectLst/>
                <a:uLnTx/>
                <a:uFillTx/>
                <a:latin typeface="Aptos" panose="020B0004020202020204" pitchFamily="34" charset="0"/>
              </a:rPr>
              <a:t>Change in Accounting Date</a:t>
            </a:r>
            <a:endParaRPr lang="en-IE" sz="3600"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1"/>
            <a:ext cx="1817656" cy="920188"/>
          </a:xfrm>
          <a:prstGeom prst="rect">
            <a:avLst/>
          </a:prstGeom>
          <a:noFill/>
          <a:ln>
            <a:noFill/>
          </a:ln>
        </p:spPr>
      </p:pic>
      <p:sp>
        <p:nvSpPr>
          <p:cNvPr id="7" name="TextBox 6">
            <a:extLst>
              <a:ext uri="{FF2B5EF4-FFF2-40B4-BE49-F238E27FC236}">
                <a16:creationId xmlns:a16="http://schemas.microsoft.com/office/drawing/2014/main" id="{03C80362-7F2C-B3CE-0828-2256FD59D931}"/>
              </a:ext>
            </a:extLst>
          </p:cNvPr>
          <p:cNvSpPr txBox="1"/>
          <p:nvPr/>
        </p:nvSpPr>
        <p:spPr>
          <a:xfrm>
            <a:off x="457200" y="1514901"/>
            <a:ext cx="11519452" cy="4612801"/>
          </a:xfrm>
          <a:prstGeom prst="rect">
            <a:avLst/>
          </a:prstGeom>
          <a:noFill/>
        </p:spPr>
        <p:txBody>
          <a:bodyPr wrap="square">
            <a:spAutoFit/>
          </a:bodyPr>
          <a:lstStyle/>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altLang="en-US" sz="2400" b="0" i="0" u="none" strike="noStrike" kern="0" cap="none" spc="0" normalizeH="0" baseline="0" noProof="0" dirty="0">
                <a:ln>
                  <a:noFill/>
                </a:ln>
                <a:solidFill>
                  <a:srgbClr val="003366"/>
                </a:solidFill>
                <a:effectLst/>
                <a:uLnTx/>
                <a:uFillTx/>
                <a:latin typeface="Aptos" panose="020B0004020202020204" pitchFamily="34" charset="0"/>
              </a:rPr>
              <a:t>A business changing its accounting date will lead to either:</a:t>
            </a: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endParaRPr kumimoji="0" lang="en-IE" altLang="en-US" sz="1000" b="0" i="0" u="none" strike="noStrike" kern="0" cap="none" spc="0" normalizeH="0" baseline="0" noProof="0" dirty="0">
              <a:ln>
                <a:noFill/>
              </a:ln>
              <a:solidFill>
                <a:srgbClr val="003366"/>
              </a:solidFill>
              <a:effectLst/>
              <a:uLnTx/>
              <a:uFillTx/>
              <a:latin typeface="Aptos" panose="020B0004020202020204" pitchFamily="34" charset="0"/>
            </a:endParaRPr>
          </a:p>
          <a:p>
            <a:pPr marL="742950" marR="0" lvl="1" indent="-28575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altLang="en-US" sz="2400" b="1" i="0" u="none" strike="noStrike" kern="0" cap="none" spc="0" normalizeH="0" baseline="0" noProof="0" dirty="0">
                <a:ln>
                  <a:noFill/>
                </a:ln>
                <a:solidFill>
                  <a:srgbClr val="003366"/>
                </a:solidFill>
                <a:effectLst/>
                <a:uLnTx/>
                <a:uFillTx/>
                <a:latin typeface="Aptos" panose="020B0004020202020204" pitchFamily="34" charset="0"/>
              </a:rPr>
              <a:t>No accounting period </a:t>
            </a:r>
            <a:r>
              <a:rPr kumimoji="0" lang="en-IE" altLang="en-US" sz="2400" b="0" i="0" u="none" strike="noStrike" kern="0" cap="none" spc="0" normalizeH="0" baseline="0" noProof="0" dirty="0">
                <a:ln>
                  <a:noFill/>
                </a:ln>
                <a:solidFill>
                  <a:srgbClr val="003366"/>
                </a:solidFill>
                <a:effectLst/>
                <a:uLnTx/>
                <a:uFillTx/>
                <a:latin typeface="Aptos" panose="020B0004020202020204" pitchFamily="34" charset="0"/>
              </a:rPr>
              <a:t>of 12 months in the tax year, OR</a:t>
            </a:r>
          </a:p>
          <a:p>
            <a:pPr marL="742950" marR="0" lvl="1" indent="-28575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altLang="en-US" sz="2400" b="1" i="0" u="none" strike="noStrike" kern="0" cap="none" spc="0" normalizeH="0" baseline="0" noProof="0" dirty="0">
                <a:ln>
                  <a:noFill/>
                </a:ln>
                <a:solidFill>
                  <a:srgbClr val="003366"/>
                </a:solidFill>
                <a:effectLst/>
                <a:uLnTx/>
                <a:uFillTx/>
                <a:latin typeface="Aptos" panose="020B0004020202020204" pitchFamily="34" charset="0"/>
              </a:rPr>
              <a:t>More than one </a:t>
            </a:r>
            <a:r>
              <a:rPr kumimoji="0" lang="en-IE" altLang="en-US" sz="2400" b="0" i="0" u="none" strike="noStrike" kern="0" cap="none" spc="0" normalizeH="0" baseline="0" noProof="0" dirty="0">
                <a:ln>
                  <a:noFill/>
                </a:ln>
                <a:solidFill>
                  <a:srgbClr val="003366"/>
                </a:solidFill>
                <a:effectLst/>
                <a:uLnTx/>
                <a:uFillTx/>
                <a:latin typeface="Aptos" panose="020B0004020202020204" pitchFamily="34" charset="0"/>
              </a:rPr>
              <a:t>accounting period in the year</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altLang="en-US" sz="1000" b="0" i="0" u="none" strike="noStrike" kern="0" cap="none" spc="0" normalizeH="0" baseline="0" noProof="0" dirty="0">
              <a:ln>
                <a:noFill/>
              </a:ln>
              <a:solidFill>
                <a:srgbClr val="003366"/>
              </a:solidFill>
              <a:effectLst/>
              <a:uLnTx/>
              <a:uFillTx/>
              <a:latin typeface="Aptos" panose="020B0004020202020204" pitchFamily="34" charset="0"/>
            </a:endParaRP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Under self-assessment the taxpayer is obliged to carry out a prior year review and to notify Revenue of any additional taxes due</a:t>
            </a:r>
            <a:r>
              <a:rPr kumimoji="0" lang="en-IE" altLang="en-US" sz="2400" b="0" i="0" u="none" strike="noStrike" kern="0" cap="none" spc="0" normalizeH="0" baseline="0" noProof="0" dirty="0">
                <a:ln>
                  <a:noFill/>
                </a:ln>
                <a:solidFill>
                  <a:srgbClr val="003366"/>
                </a:solidFill>
                <a:effectLst/>
                <a:uLnTx/>
                <a:uFillTx/>
                <a:latin typeface="Aptos" panose="020B0004020202020204" pitchFamily="34" charset="0"/>
              </a:rPr>
              <a:t> (</a:t>
            </a:r>
            <a:r>
              <a:rPr kumimoji="0" lang="en-IE" altLang="en-US" sz="2400" b="0" i="1" u="none" strike="noStrike" kern="0" cap="none" spc="0" normalizeH="0" baseline="0" noProof="0" dirty="0">
                <a:ln>
                  <a:noFill/>
                </a:ln>
                <a:solidFill>
                  <a:srgbClr val="003366"/>
                </a:solidFill>
                <a:effectLst/>
                <a:uLnTx/>
                <a:uFillTx/>
                <a:latin typeface="Aptos" panose="020B0004020202020204" pitchFamily="34" charset="0"/>
              </a:rPr>
              <a:t>anti-avoidance rule</a:t>
            </a:r>
            <a:r>
              <a:rPr kumimoji="0" lang="en-IE" altLang="en-US" sz="2400" b="0" i="0" u="none" strike="noStrike" kern="0" cap="none" spc="0" normalizeH="0" baseline="0" noProof="0" dirty="0">
                <a:ln>
                  <a:noFill/>
                </a:ln>
                <a:solidFill>
                  <a:srgbClr val="003366"/>
                </a:solidFill>
                <a:effectLst/>
                <a:uLnTx/>
                <a:uFillTx/>
                <a:latin typeface="Aptos" panose="020B0004020202020204" pitchFamily="34" charset="0"/>
              </a:rPr>
              <a:t>)</a:t>
            </a: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r>
              <a:rPr lang="en-IE" sz="2400" kern="0" dirty="0">
                <a:solidFill>
                  <a:srgbClr val="003366"/>
                </a:solidFill>
                <a:latin typeface="Aptos" panose="020B0004020202020204" pitchFamily="34" charset="0"/>
              </a:rPr>
              <a:t>(</a:t>
            </a:r>
            <a:r>
              <a:rPr lang="en-IE" sz="2400" i="1" kern="0" dirty="0">
                <a:solidFill>
                  <a:srgbClr val="003366"/>
                </a:solidFill>
                <a:latin typeface="Aptos" panose="020B0004020202020204" pitchFamily="34" charset="0"/>
              </a:rPr>
              <a:t>S65 (2) (b) &amp; S65 (3) TCA 1997</a:t>
            </a:r>
            <a:r>
              <a:rPr lang="en-IE" sz="2400" kern="0" dirty="0">
                <a:solidFill>
                  <a:srgbClr val="003366"/>
                </a:solidFill>
                <a:latin typeface="Aptos" panose="020B0004020202020204" pitchFamily="34" charset="0"/>
              </a:rPr>
              <a:t>)</a:t>
            </a:r>
          </a:p>
          <a:p>
            <a:pPr marL="342900" marR="0" lvl="0" indent="-342900" algn="l" defTabSz="914400" rtl="0" eaLnBrk="0" fontAlgn="base" latinLnBrk="0" hangingPunct="0">
              <a:lnSpc>
                <a:spcPct val="120000"/>
              </a:lnSpc>
              <a:spcBef>
                <a:spcPct val="20000"/>
              </a:spcBef>
              <a:spcAft>
                <a:spcPct val="0"/>
              </a:spcAft>
              <a:buClr>
                <a:srgbClr val="003366"/>
              </a:buClr>
              <a:buSzPct val="75000"/>
              <a:buFont typeface="Arial" panose="020B0604020202020204" pitchFamily="34" charset="0"/>
              <a:buChar char="•"/>
              <a:tabLst/>
              <a:defRPr/>
            </a:pPr>
            <a:endParaRPr kumimoji="0" lang="en-IE" sz="1000" b="0" i="0" u="none" strike="noStrike" kern="0" cap="none" spc="0" normalizeH="0" baseline="0" noProof="0" dirty="0">
              <a:ln>
                <a:noFill/>
              </a:ln>
              <a:solidFill>
                <a:srgbClr val="003366"/>
              </a:solidFill>
              <a:effectLst/>
              <a:uLnTx/>
              <a:uFillTx/>
              <a:latin typeface="Aptos" panose="020B0004020202020204" pitchFamily="34" charset="0"/>
            </a:endParaRPr>
          </a:p>
          <a:p>
            <a:pPr marR="0" lvl="0" algn="l" defTabSz="914400" rtl="0" eaLnBrk="0" fontAlgn="base" latinLnBrk="0" hangingPunct="0">
              <a:lnSpc>
                <a:spcPct val="120000"/>
              </a:lnSpc>
              <a:spcBef>
                <a:spcPct val="20000"/>
              </a:spcBef>
              <a:spcAft>
                <a:spcPct val="0"/>
              </a:spcAft>
              <a:buClr>
                <a:srgbClr val="003366"/>
              </a:buClr>
              <a:buSzPct val="75000"/>
              <a:tabLst/>
              <a:defRPr/>
            </a:pPr>
            <a:r>
              <a:rPr lang="en-IE" sz="2400" kern="0" dirty="0">
                <a:solidFill>
                  <a:srgbClr val="006666"/>
                </a:solidFill>
                <a:latin typeface="Aptos" panose="020B0004020202020204" pitchFamily="34" charset="0"/>
              </a:rPr>
              <a:t>Note: The prior year review is NOT to compute ‘Actual’ profits it is to compute the taxable profit based on the new accounting period</a:t>
            </a:r>
            <a:endParaRPr kumimoji="0" lang="en-IE" sz="2400" b="0" i="0" u="none" strike="noStrike" kern="0" cap="none" spc="0" normalizeH="0" baseline="0" noProof="0" dirty="0">
              <a:ln>
                <a:noFill/>
              </a:ln>
              <a:solidFill>
                <a:srgbClr val="006666"/>
              </a:solidFill>
              <a:effectLst/>
              <a:uLnTx/>
              <a:uFillTx/>
              <a:latin typeface="Aptos" panose="020B0004020202020204" pitchFamily="34" charset="0"/>
            </a:endParaRPr>
          </a:p>
        </p:txBody>
      </p:sp>
    </p:spTree>
    <p:extLst>
      <p:ext uri="{BB962C8B-B14F-4D97-AF65-F5344CB8AC3E}">
        <p14:creationId xmlns:p14="http://schemas.microsoft.com/office/powerpoint/2010/main" val="3944519298"/>
      </p:ext>
    </p:extLst>
  </p:cSld>
  <p:clrMapOvr>
    <a:masterClrMapping/>
  </p:clrMapOvr>
  <mc:AlternateContent xmlns:mc="http://schemas.openxmlformats.org/markup-compatibility/2006" xmlns:p14="http://schemas.microsoft.com/office/powerpoint/2010/main">
    <mc:Choice Requires="p14">
      <p:transition spd="slow" p14:dur="2000" advTm="24367"/>
    </mc:Choice>
    <mc:Fallback xmlns="">
      <p:transition spd="slow" advTm="243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7EAA-416A-4B68-BB96-8B16C750B44E}"/>
              </a:ext>
            </a:extLst>
          </p:cNvPr>
          <p:cNvSpPr>
            <a:spLocks noGrp="1"/>
          </p:cNvSpPr>
          <p:nvPr>
            <p:ph type="title" idx="4294967295"/>
          </p:nvPr>
        </p:nvSpPr>
        <p:spPr>
          <a:xfrm>
            <a:off x="0" y="1"/>
            <a:ext cx="12167208" cy="1514900"/>
          </a:xfrm>
        </p:spPr>
        <p:txBody>
          <a:bodyPr>
            <a:normAutofit/>
          </a:bodyPr>
          <a:lstStyle/>
          <a:p>
            <a:pPr algn="ctr">
              <a:lnSpc>
                <a:spcPct val="120000"/>
              </a:lnSpc>
            </a:pPr>
            <a:r>
              <a:rPr kumimoji="0" lang="en-IE" sz="3000" b="1" i="0" u="none" strike="noStrike" kern="0" cap="none" spc="0" normalizeH="0" baseline="0" noProof="0" dirty="0">
                <a:ln>
                  <a:noFill/>
                </a:ln>
                <a:solidFill>
                  <a:srgbClr val="009999"/>
                </a:solidFill>
                <a:effectLst/>
                <a:uLnTx/>
                <a:uFillTx/>
                <a:latin typeface="Aptos" panose="020B0004020202020204" pitchFamily="34" charset="0"/>
              </a:rPr>
              <a:t>Example: Change in Accounting Date</a:t>
            </a:r>
            <a:endParaRPr lang="en-IE" sz="3600"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1"/>
            <a:ext cx="1817656" cy="920188"/>
          </a:xfrm>
          <a:prstGeom prst="rect">
            <a:avLst/>
          </a:prstGeom>
          <a:noFill/>
          <a:ln>
            <a:noFill/>
          </a:ln>
        </p:spPr>
      </p:pic>
      <p:sp>
        <p:nvSpPr>
          <p:cNvPr id="7" name="TextBox 6">
            <a:extLst>
              <a:ext uri="{FF2B5EF4-FFF2-40B4-BE49-F238E27FC236}">
                <a16:creationId xmlns:a16="http://schemas.microsoft.com/office/drawing/2014/main" id="{03C80362-7F2C-B3CE-0828-2256FD59D931}"/>
              </a:ext>
            </a:extLst>
          </p:cNvPr>
          <p:cNvSpPr txBox="1"/>
          <p:nvPr/>
        </p:nvSpPr>
        <p:spPr>
          <a:xfrm>
            <a:off x="950795" y="1986214"/>
            <a:ext cx="9167764" cy="3449406"/>
          </a:xfrm>
          <a:prstGeom prst="rect">
            <a:avLst/>
          </a:prstGeom>
          <a:noFill/>
        </p:spPr>
        <p:txBody>
          <a:bodyPr wrap="square">
            <a:spAutoFit/>
          </a:bodyPr>
          <a:lstStyle/>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Pat has been trading for many years. His new accountant decided to change Pat’s accounting date from 30 June to 30 Sept from 2025 onwards, he sent in the following accounts:</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sz="2400" b="0" i="0" u="none" strike="noStrike" kern="0" cap="none" spc="0" normalizeH="0" baseline="0" noProof="0" dirty="0">
              <a:ln>
                <a:noFill/>
              </a:ln>
              <a:solidFill>
                <a:srgbClr val="003366"/>
              </a:solidFill>
              <a:effectLst/>
              <a:uLnTx/>
              <a:uFillTx/>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12 months profit to 30 June 2024		€20,000</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12 months profit to 30 June </a:t>
            </a:r>
            <a:r>
              <a:rPr kumimoji="0" lang="en-IE" sz="2400" b="1" i="0" u="none" strike="noStrike" kern="0" cap="none" spc="0" normalizeH="0" baseline="0" noProof="0" dirty="0">
                <a:ln>
                  <a:noFill/>
                </a:ln>
                <a:solidFill>
                  <a:srgbClr val="003366"/>
                </a:solidFill>
                <a:effectLst/>
                <a:uLnTx/>
                <a:uFillTx/>
                <a:latin typeface="Aptos" panose="020B0004020202020204" pitchFamily="34" charset="0"/>
              </a:rPr>
              <a:t>2025</a:t>
            </a: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   		€25,000</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400" b="1" i="0" u="none" strike="noStrike" kern="0" cap="none" spc="0" normalizeH="0" baseline="0" noProof="0" dirty="0">
                <a:ln>
                  <a:noFill/>
                </a:ln>
                <a:solidFill>
                  <a:srgbClr val="003366"/>
                </a:solidFill>
                <a:effectLst/>
                <a:uLnTx/>
                <a:uFillTx/>
                <a:latin typeface="Aptos" panose="020B0004020202020204" pitchFamily="34" charset="0"/>
              </a:rPr>
              <a:t>3 months </a:t>
            </a: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profit to  30 Sept </a:t>
            </a:r>
            <a:r>
              <a:rPr kumimoji="0" lang="en-IE" sz="2400" b="1" i="0" u="none" strike="noStrike" kern="0" cap="none" spc="0" normalizeH="0" baseline="0" noProof="0" dirty="0">
                <a:ln>
                  <a:noFill/>
                </a:ln>
                <a:solidFill>
                  <a:srgbClr val="003366"/>
                </a:solidFill>
                <a:effectLst/>
                <a:uLnTx/>
                <a:uFillTx/>
                <a:latin typeface="Aptos" panose="020B0004020202020204" pitchFamily="34" charset="0"/>
              </a:rPr>
              <a:t>2025 </a:t>
            </a: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     	€  5,000</a:t>
            </a:r>
          </a:p>
        </p:txBody>
      </p:sp>
    </p:spTree>
    <p:extLst>
      <p:ext uri="{BB962C8B-B14F-4D97-AF65-F5344CB8AC3E}">
        <p14:creationId xmlns:p14="http://schemas.microsoft.com/office/powerpoint/2010/main" val="1254344805"/>
      </p:ext>
    </p:extLst>
  </p:cSld>
  <p:clrMapOvr>
    <a:masterClrMapping/>
  </p:clrMapOvr>
  <mc:AlternateContent xmlns:mc="http://schemas.openxmlformats.org/markup-compatibility/2006" xmlns:p14="http://schemas.microsoft.com/office/powerpoint/2010/main">
    <mc:Choice Requires="p14">
      <p:transition spd="slow" p14:dur="2000" advTm="24367"/>
    </mc:Choice>
    <mc:Fallback xmlns="">
      <p:transition spd="slow" advTm="243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7EAA-416A-4B68-BB96-8B16C750B44E}"/>
              </a:ext>
            </a:extLst>
          </p:cNvPr>
          <p:cNvSpPr>
            <a:spLocks noGrp="1"/>
          </p:cNvSpPr>
          <p:nvPr>
            <p:ph type="title" idx="4294967295"/>
          </p:nvPr>
        </p:nvSpPr>
        <p:spPr>
          <a:xfrm>
            <a:off x="0" y="1"/>
            <a:ext cx="12167208" cy="1514900"/>
          </a:xfrm>
        </p:spPr>
        <p:txBody>
          <a:bodyPr>
            <a:normAutofit/>
          </a:bodyPr>
          <a:lstStyle/>
          <a:p>
            <a:pPr algn="ctr">
              <a:lnSpc>
                <a:spcPct val="120000"/>
              </a:lnSpc>
            </a:pPr>
            <a:r>
              <a:rPr kumimoji="0" lang="en-IE" sz="3000" b="1" i="0" u="none" strike="noStrike" kern="0" cap="none" spc="0" normalizeH="0" baseline="0" noProof="0" dirty="0">
                <a:ln>
                  <a:noFill/>
                </a:ln>
                <a:solidFill>
                  <a:srgbClr val="009999"/>
                </a:solidFill>
                <a:effectLst/>
                <a:uLnTx/>
                <a:uFillTx/>
                <a:latin typeface="Aptos" panose="020B0004020202020204" pitchFamily="34" charset="0"/>
              </a:rPr>
              <a:t>Example continued</a:t>
            </a:r>
            <a:endParaRPr lang="en-IE" sz="3600"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1"/>
            <a:ext cx="1817656" cy="920188"/>
          </a:xfrm>
          <a:prstGeom prst="rect">
            <a:avLst/>
          </a:prstGeom>
          <a:noFill/>
          <a:ln>
            <a:noFill/>
          </a:ln>
        </p:spPr>
      </p:pic>
      <p:sp>
        <p:nvSpPr>
          <p:cNvPr id="7" name="TextBox 6">
            <a:extLst>
              <a:ext uri="{FF2B5EF4-FFF2-40B4-BE49-F238E27FC236}">
                <a16:creationId xmlns:a16="http://schemas.microsoft.com/office/drawing/2014/main" id="{03C80362-7F2C-B3CE-0828-2256FD59D931}"/>
              </a:ext>
            </a:extLst>
          </p:cNvPr>
          <p:cNvSpPr txBox="1"/>
          <p:nvPr/>
        </p:nvSpPr>
        <p:spPr>
          <a:xfrm>
            <a:off x="933620" y="1036422"/>
            <a:ext cx="10756921" cy="4538935"/>
          </a:xfrm>
          <a:prstGeom prst="rect">
            <a:avLst/>
          </a:prstGeom>
          <a:noFill/>
        </p:spPr>
        <p:txBody>
          <a:bodyPr wrap="square">
            <a:spAutoFit/>
          </a:bodyPr>
          <a:lstStyle/>
          <a:p>
            <a:pPr marL="0" marR="0" lvl="0" indent="0" algn="l" defTabSz="914400" rtl="0" eaLnBrk="0" fontAlgn="base" latinLnBrk="0" hangingPunct="0">
              <a:lnSpc>
                <a:spcPct val="140000"/>
              </a:lnSpc>
              <a:spcBef>
                <a:spcPct val="20000"/>
              </a:spcBef>
              <a:spcAft>
                <a:spcPct val="0"/>
              </a:spcAft>
              <a:buClr>
                <a:srgbClr val="003366"/>
              </a:buClr>
              <a:buSzPct val="75000"/>
              <a:buFont typeface="Wingdings" panose="05000000000000000000" pitchFamily="2" charset="2"/>
              <a:buNone/>
              <a:tabLst/>
              <a:defRPr/>
            </a:pPr>
            <a:r>
              <a:rPr kumimoji="0" lang="en-IE" sz="2400" b="1" i="0" u="none" strike="noStrike" kern="0" cap="none" spc="0" normalizeH="0" baseline="0" noProof="0" dirty="0">
                <a:ln>
                  <a:noFill/>
                </a:ln>
                <a:solidFill>
                  <a:srgbClr val="003366"/>
                </a:solidFill>
                <a:effectLst/>
                <a:uLnTx/>
                <a:uFillTx/>
                <a:latin typeface="Aptos" panose="020B0004020202020204" pitchFamily="34" charset="0"/>
              </a:rPr>
              <a:t>The 12-month profit for the tax year 2025 is computed as follows:</a:t>
            </a:r>
          </a:p>
          <a:p>
            <a:pPr marL="0" marR="0" lvl="0" indent="0" algn="l" defTabSz="914400" rtl="0" eaLnBrk="0" fontAlgn="base" latinLnBrk="0" hangingPunct="0">
              <a:lnSpc>
                <a:spcPct val="140000"/>
              </a:lnSpc>
              <a:spcBef>
                <a:spcPct val="20000"/>
              </a:spcBef>
              <a:spcAft>
                <a:spcPct val="0"/>
              </a:spcAft>
              <a:buClr>
                <a:srgbClr val="003366"/>
              </a:buClr>
              <a:buSzPct val="75000"/>
              <a:buFont typeface="Wingdings" panose="05000000000000000000" pitchFamily="2" charset="2"/>
              <a:buNone/>
              <a:tabLst/>
              <a:defRPr/>
            </a:pPr>
            <a:endParaRPr kumimoji="0" lang="en-IE" sz="2400" b="1" i="0" u="none" strike="noStrike" kern="0" cap="none" spc="0" normalizeH="0" baseline="0" noProof="0" dirty="0">
              <a:ln>
                <a:noFill/>
              </a:ln>
              <a:solidFill>
                <a:srgbClr val="003366"/>
              </a:solidFill>
              <a:effectLst/>
              <a:uLnTx/>
              <a:uFillTx/>
              <a:latin typeface="Aptos" panose="020B0004020202020204" pitchFamily="34" charset="0"/>
            </a:endParaRPr>
          </a:p>
          <a:p>
            <a:pPr marL="0" marR="0" lvl="0" indent="0" algn="l" defTabSz="914400" rtl="0" eaLnBrk="0" fontAlgn="base" latinLnBrk="0" hangingPunct="0">
              <a:lnSpc>
                <a:spcPct val="140000"/>
              </a:lnSpc>
              <a:spcBef>
                <a:spcPct val="20000"/>
              </a:spcBef>
              <a:spcAft>
                <a:spcPct val="0"/>
              </a:spcAft>
              <a:buClr>
                <a:srgbClr val="003366"/>
              </a:buClr>
              <a:buSzPct val="75000"/>
              <a:buFont typeface="Wingdings" panose="05000000000000000000" pitchFamily="2" charset="2"/>
              <a:buNone/>
              <a:tabLst/>
              <a:defRPr/>
            </a:pP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€5,000 X 3/3 =		€  5,000 (Jul, Aug, Sept 2025)</a:t>
            </a:r>
          </a:p>
          <a:p>
            <a:pPr lvl="0" eaLnBrk="0" fontAlgn="base" hangingPunct="0">
              <a:lnSpc>
                <a:spcPct val="140000"/>
              </a:lnSpc>
              <a:spcBef>
                <a:spcPct val="20000"/>
              </a:spcBef>
              <a:spcAft>
                <a:spcPct val="0"/>
              </a:spcAft>
              <a:buClr>
                <a:srgbClr val="003366"/>
              </a:buClr>
              <a:buSzPct val="75000"/>
              <a:defRPr/>
            </a:pP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€25,000 X 9/12 =		</a:t>
            </a:r>
            <a:r>
              <a:rPr kumimoji="0" lang="en-IE" sz="2400" b="0" i="0" u="sng" strike="noStrike" kern="0" cap="none" spc="0" normalizeH="0" baseline="0" noProof="0" dirty="0">
                <a:ln>
                  <a:noFill/>
                </a:ln>
                <a:solidFill>
                  <a:srgbClr val="003366"/>
                </a:solidFill>
                <a:effectLst/>
                <a:uLnTx/>
                <a:uFillTx/>
                <a:latin typeface="Aptos" panose="020B0004020202020204" pitchFamily="34" charset="0"/>
              </a:rPr>
              <a:t>€18,750</a:t>
            </a:r>
            <a:r>
              <a:rPr lang="en-IE" sz="2400" kern="0" dirty="0">
                <a:solidFill>
                  <a:srgbClr val="003366"/>
                </a:solidFill>
                <a:latin typeface="Aptos" panose="020B0004020202020204" pitchFamily="34" charset="0"/>
              </a:rPr>
              <a:t> (Oct, Nov &amp; Dec 2024 &amp; Jan </a:t>
            </a:r>
            <a:r>
              <a:rPr kumimoji="0" lang="en-IE" sz="2400" b="0" i="0" strike="noStrike" kern="0" cap="none" spc="0" normalizeH="0" baseline="0" noProof="0" dirty="0">
                <a:ln>
                  <a:noFill/>
                </a:ln>
                <a:solidFill>
                  <a:srgbClr val="003366"/>
                </a:solidFill>
                <a:effectLst/>
                <a:uLnTx/>
                <a:uFillTx/>
                <a:latin typeface="Aptos" panose="020B0004020202020204" pitchFamily="34" charset="0"/>
              </a:rPr>
              <a:t>– Jun 2025)</a:t>
            </a:r>
          </a:p>
          <a:p>
            <a:pPr marL="0" marR="0" lvl="0" indent="0" algn="l" defTabSz="914400" rtl="0" eaLnBrk="0" fontAlgn="base" latinLnBrk="0" hangingPunct="0">
              <a:lnSpc>
                <a:spcPct val="140000"/>
              </a:lnSpc>
              <a:spcBef>
                <a:spcPct val="20000"/>
              </a:spcBef>
              <a:spcAft>
                <a:spcPct val="0"/>
              </a:spcAft>
              <a:buClr>
                <a:srgbClr val="003366"/>
              </a:buClr>
              <a:buSzPct val="75000"/>
              <a:buFont typeface="Wingdings" panose="05000000000000000000" pitchFamily="2" charset="2"/>
              <a:buNone/>
              <a:tabLst/>
              <a:defRPr/>
            </a:pPr>
            <a:r>
              <a:rPr kumimoji="0" lang="en-IE" sz="2400" b="1" i="0" u="none" strike="noStrike" kern="0" cap="none" spc="0" normalizeH="0" baseline="0" noProof="0" dirty="0">
                <a:ln>
                  <a:noFill/>
                </a:ln>
                <a:solidFill>
                  <a:srgbClr val="003366"/>
                </a:solidFill>
                <a:effectLst/>
                <a:uLnTx/>
                <a:uFillTx/>
                <a:latin typeface="Aptos" panose="020B0004020202020204" pitchFamily="34" charset="0"/>
              </a:rPr>
              <a:t>	                                            €23,750 (12 months profit)</a:t>
            </a:r>
          </a:p>
          <a:p>
            <a:pPr marL="0" marR="0" lvl="0" indent="0" algn="l" defTabSz="914400" rtl="0" eaLnBrk="0" fontAlgn="base" latinLnBrk="0" hangingPunct="0">
              <a:lnSpc>
                <a:spcPct val="140000"/>
              </a:lnSpc>
              <a:spcBef>
                <a:spcPct val="20000"/>
              </a:spcBef>
              <a:spcAft>
                <a:spcPct val="0"/>
              </a:spcAft>
              <a:buClr>
                <a:srgbClr val="003366"/>
              </a:buClr>
              <a:buSzPct val="75000"/>
              <a:buFont typeface="Wingdings" panose="05000000000000000000" pitchFamily="2" charset="2"/>
              <a:buNone/>
              <a:tabLst/>
              <a:defRPr/>
            </a:pP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This is the year that the agent changed the accounting date to 30</a:t>
            </a:r>
            <a:r>
              <a:rPr kumimoji="0" lang="en-IE" sz="2400" b="0" i="0" u="none" strike="noStrike" kern="0" cap="none" spc="0" normalizeH="0" baseline="30000" noProof="0" dirty="0">
                <a:ln>
                  <a:noFill/>
                </a:ln>
                <a:solidFill>
                  <a:srgbClr val="003366"/>
                </a:solidFill>
                <a:effectLst/>
                <a:uLnTx/>
                <a:uFillTx/>
                <a:latin typeface="Aptos" panose="020B0004020202020204" pitchFamily="34" charset="0"/>
              </a:rPr>
              <a:t>th</a:t>
            </a:r>
            <a:r>
              <a:rPr kumimoji="0" lang="en-IE" sz="2400" b="0" i="0" u="none" strike="noStrike" kern="0" cap="none" spc="0" normalizeH="0" baseline="0" noProof="0" dirty="0">
                <a:ln>
                  <a:noFill/>
                </a:ln>
                <a:solidFill>
                  <a:srgbClr val="003366"/>
                </a:solidFill>
                <a:effectLst/>
                <a:uLnTx/>
                <a:uFillTx/>
                <a:latin typeface="Aptos" panose="020B0004020202020204" pitchFamily="34" charset="0"/>
              </a:rPr>
              <a:t> of September and the computation above is the basis for assessing Pat on his profit for the </a:t>
            </a:r>
            <a:r>
              <a:rPr kumimoji="0" lang="en-IE" sz="2400" b="1" i="0" u="none" strike="noStrike" kern="0" cap="none" spc="0" normalizeH="0" baseline="0" noProof="0" dirty="0">
                <a:ln>
                  <a:noFill/>
                </a:ln>
                <a:solidFill>
                  <a:srgbClr val="003366"/>
                </a:solidFill>
                <a:effectLst/>
                <a:uLnTx/>
                <a:uFillTx/>
                <a:latin typeface="Aptos" panose="020B0004020202020204" pitchFamily="34" charset="0"/>
              </a:rPr>
              <a:t>12-month period ending 30 Sept 2025</a:t>
            </a:r>
          </a:p>
        </p:txBody>
      </p:sp>
    </p:spTree>
    <p:extLst>
      <p:ext uri="{BB962C8B-B14F-4D97-AF65-F5344CB8AC3E}">
        <p14:creationId xmlns:p14="http://schemas.microsoft.com/office/powerpoint/2010/main" val="2375396089"/>
      </p:ext>
    </p:extLst>
  </p:cSld>
  <p:clrMapOvr>
    <a:masterClrMapping/>
  </p:clrMapOvr>
  <mc:AlternateContent xmlns:mc="http://schemas.openxmlformats.org/markup-compatibility/2006" xmlns:p14="http://schemas.microsoft.com/office/powerpoint/2010/main">
    <mc:Choice Requires="p14">
      <p:transition spd="slow" p14:dur="2000" advTm="24367"/>
    </mc:Choice>
    <mc:Fallback xmlns="">
      <p:transition spd="slow" advTm="243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7EAA-416A-4B68-BB96-8B16C750B44E}"/>
              </a:ext>
            </a:extLst>
          </p:cNvPr>
          <p:cNvSpPr>
            <a:spLocks noGrp="1"/>
          </p:cNvSpPr>
          <p:nvPr>
            <p:ph type="title" idx="4294967295"/>
          </p:nvPr>
        </p:nvSpPr>
        <p:spPr>
          <a:xfrm>
            <a:off x="0" y="1"/>
            <a:ext cx="12167208" cy="1514900"/>
          </a:xfrm>
        </p:spPr>
        <p:txBody>
          <a:bodyPr>
            <a:normAutofit/>
          </a:bodyPr>
          <a:lstStyle/>
          <a:p>
            <a:pPr algn="ctr">
              <a:lnSpc>
                <a:spcPct val="120000"/>
              </a:lnSpc>
            </a:pPr>
            <a:r>
              <a:rPr kumimoji="0" lang="en-IE" sz="3000" b="1" i="0" u="none" strike="noStrike" kern="0" cap="none" spc="0" normalizeH="0" baseline="0" noProof="0" dirty="0">
                <a:ln>
                  <a:noFill/>
                </a:ln>
                <a:solidFill>
                  <a:srgbClr val="009999"/>
                </a:solidFill>
                <a:effectLst/>
                <a:uLnTx/>
                <a:uFillTx/>
                <a:latin typeface="Aptos" panose="020B0004020202020204" pitchFamily="34" charset="0"/>
              </a:rPr>
              <a:t>Example continued : Review Previous </a:t>
            </a:r>
            <a:r>
              <a:rPr lang="en-IE" sz="3000" b="1" kern="0" dirty="0">
                <a:solidFill>
                  <a:srgbClr val="009999"/>
                </a:solidFill>
                <a:latin typeface="Aptos" panose="020B0004020202020204" pitchFamily="34" charset="0"/>
              </a:rPr>
              <a:t>Y</a:t>
            </a:r>
            <a:r>
              <a:rPr kumimoji="0" lang="en-IE" sz="3000" b="1" i="0" u="none" strike="noStrike" kern="0" cap="none" spc="0" normalizeH="0" baseline="0" noProof="0" dirty="0">
                <a:ln>
                  <a:noFill/>
                </a:ln>
                <a:solidFill>
                  <a:srgbClr val="009999"/>
                </a:solidFill>
                <a:effectLst/>
                <a:uLnTx/>
                <a:uFillTx/>
                <a:latin typeface="Aptos" panose="020B0004020202020204" pitchFamily="34" charset="0"/>
              </a:rPr>
              <a:t>ear</a:t>
            </a:r>
            <a:endParaRPr lang="en-IE" sz="3600" b="1" dirty="0">
              <a:solidFill>
                <a:srgbClr val="009999"/>
              </a:solidFill>
              <a:latin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265A47E-95C9-467B-5F1E-06C7FA852F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1"/>
            <a:ext cx="1817656" cy="920188"/>
          </a:xfrm>
          <a:prstGeom prst="rect">
            <a:avLst/>
          </a:prstGeom>
          <a:noFill/>
          <a:ln>
            <a:noFill/>
          </a:ln>
        </p:spPr>
      </p:pic>
      <p:sp>
        <p:nvSpPr>
          <p:cNvPr id="7" name="TextBox 6">
            <a:extLst>
              <a:ext uri="{FF2B5EF4-FFF2-40B4-BE49-F238E27FC236}">
                <a16:creationId xmlns:a16="http://schemas.microsoft.com/office/drawing/2014/main" id="{03C80362-7F2C-B3CE-0828-2256FD59D931}"/>
              </a:ext>
            </a:extLst>
          </p:cNvPr>
          <p:cNvSpPr txBox="1"/>
          <p:nvPr/>
        </p:nvSpPr>
        <p:spPr>
          <a:xfrm>
            <a:off x="821636" y="1435900"/>
            <a:ext cx="10933042" cy="4873065"/>
          </a:xfrm>
          <a:prstGeom prst="rect">
            <a:avLst/>
          </a:prstGeom>
          <a:noFill/>
        </p:spPr>
        <p:txBody>
          <a:bodyPr wrap="square">
            <a:spAutoFit/>
          </a:bodyPr>
          <a:lstStyle/>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300" b="1" i="0" u="none" strike="noStrike" kern="0" cap="none" spc="0" normalizeH="0" baseline="0" noProof="0" dirty="0">
                <a:ln>
                  <a:noFill/>
                </a:ln>
                <a:solidFill>
                  <a:srgbClr val="003366"/>
                </a:solidFill>
                <a:effectLst/>
                <a:uLnTx/>
                <a:uFillTx/>
                <a:latin typeface="Aptos" panose="020B0004020202020204" pitchFamily="34" charset="0"/>
              </a:rPr>
              <a:t>Deemed basis period for 2024 : 1 Oct 2023 to 30 Sept 2024</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sz="1000" b="1" i="0" u="none" strike="noStrike" kern="0" cap="none" spc="0" normalizeH="0" baseline="0" noProof="0" dirty="0">
              <a:ln>
                <a:noFill/>
              </a:ln>
              <a:solidFill>
                <a:srgbClr val="003366"/>
              </a:solidFill>
              <a:effectLst/>
              <a:uLnTx/>
              <a:uFillTx/>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300" b="0" i="0" u="none" strike="noStrike" kern="0" cap="none" spc="0" normalizeH="0" baseline="0" noProof="0" dirty="0">
                <a:ln>
                  <a:noFill/>
                </a:ln>
                <a:solidFill>
                  <a:srgbClr val="003366"/>
                </a:solidFill>
                <a:effectLst/>
                <a:uLnTx/>
                <a:uFillTx/>
                <a:latin typeface="Aptos" panose="020B0004020202020204" pitchFamily="34" charset="0"/>
              </a:rPr>
              <a:t>Profit to 30 Jun 2024 : </a:t>
            </a:r>
            <a:r>
              <a:rPr kumimoji="0" lang="en-IE" sz="2300" b="1" i="0" u="none" strike="noStrike" kern="0" cap="none" spc="0" normalizeH="0" baseline="0" noProof="0" dirty="0">
                <a:ln>
                  <a:noFill/>
                </a:ln>
                <a:solidFill>
                  <a:srgbClr val="003366"/>
                </a:solidFill>
                <a:effectLst/>
                <a:uLnTx/>
                <a:uFillTx/>
                <a:latin typeface="Aptos" panose="020B0004020202020204" pitchFamily="34" charset="0"/>
              </a:rPr>
              <a:t>€20,000* (</a:t>
            </a:r>
            <a:r>
              <a:rPr kumimoji="0" lang="en-IE" sz="2300" i="1" u="sng" strike="noStrike" kern="0" cap="none" spc="0" normalizeH="0" baseline="0" noProof="0" dirty="0">
                <a:ln>
                  <a:noFill/>
                </a:ln>
                <a:solidFill>
                  <a:srgbClr val="003366"/>
                </a:solidFill>
                <a:effectLst/>
                <a:uLnTx/>
                <a:uFillTx/>
                <a:latin typeface="Aptos" panose="020B0004020202020204" pitchFamily="34" charset="0"/>
              </a:rPr>
              <a:t>includes</a:t>
            </a:r>
            <a:r>
              <a:rPr kumimoji="0" lang="en-IE" sz="2300" i="1" u="none" strike="noStrike" kern="0" cap="none" spc="0" normalizeH="0" baseline="0" noProof="0" dirty="0">
                <a:ln>
                  <a:noFill/>
                </a:ln>
                <a:solidFill>
                  <a:srgbClr val="003366"/>
                </a:solidFill>
                <a:effectLst/>
                <a:uLnTx/>
                <a:uFillTx/>
                <a:latin typeface="Aptos" panose="020B0004020202020204" pitchFamily="34" charset="0"/>
              </a:rPr>
              <a:t> months Oct 2023 to Jun 2024</a:t>
            </a:r>
            <a:r>
              <a:rPr kumimoji="0" lang="en-IE" sz="2300" i="0" u="none" strike="noStrike" kern="0" cap="none" spc="0" normalizeH="0" baseline="0" noProof="0" dirty="0">
                <a:ln>
                  <a:noFill/>
                </a:ln>
                <a:solidFill>
                  <a:srgbClr val="003366"/>
                </a:solidFill>
                <a:effectLst/>
                <a:uLnTx/>
                <a:uFillTx/>
                <a:latin typeface="Aptos" panose="020B0004020202020204" pitchFamily="34" charset="0"/>
              </a:rPr>
              <a:t>) 9 mths</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300" b="0" i="0" u="none" strike="noStrike" kern="0" cap="none" spc="0" normalizeH="0" baseline="0" noProof="0" dirty="0">
                <a:ln>
                  <a:noFill/>
                </a:ln>
                <a:solidFill>
                  <a:srgbClr val="003366"/>
                </a:solidFill>
                <a:effectLst/>
                <a:uLnTx/>
                <a:uFillTx/>
                <a:latin typeface="Aptos" panose="020B0004020202020204" pitchFamily="34" charset="0"/>
              </a:rPr>
              <a:t>Profit to 30 Jun 2025 : €25,000 (</a:t>
            </a:r>
            <a:r>
              <a:rPr kumimoji="0" lang="en-IE" sz="2300" i="1" u="sng" strike="noStrike" kern="0" cap="none" spc="0" normalizeH="0" baseline="0" noProof="0" dirty="0">
                <a:ln>
                  <a:noFill/>
                </a:ln>
                <a:solidFill>
                  <a:srgbClr val="003366"/>
                </a:solidFill>
                <a:effectLst/>
                <a:uLnTx/>
                <a:uFillTx/>
                <a:latin typeface="Aptos" panose="020B0004020202020204" pitchFamily="34" charset="0"/>
              </a:rPr>
              <a:t>includes</a:t>
            </a:r>
            <a:r>
              <a:rPr kumimoji="0" lang="en-IE" sz="2300" i="1" u="none" strike="noStrike" kern="0" cap="none" spc="0" normalizeH="0" baseline="0" noProof="0" dirty="0">
                <a:ln>
                  <a:noFill/>
                </a:ln>
                <a:solidFill>
                  <a:srgbClr val="003366"/>
                </a:solidFill>
                <a:effectLst/>
                <a:uLnTx/>
                <a:uFillTx/>
                <a:latin typeface="Aptos" panose="020B0004020202020204" pitchFamily="34" charset="0"/>
              </a:rPr>
              <a:t> months Jul 2024</a:t>
            </a:r>
            <a:r>
              <a:rPr kumimoji="0" lang="en-IE" sz="2300" i="1" u="none" strike="noStrike" kern="0" cap="none" spc="0" normalizeH="0" noProof="0" dirty="0">
                <a:ln>
                  <a:noFill/>
                </a:ln>
                <a:solidFill>
                  <a:srgbClr val="003366"/>
                </a:solidFill>
                <a:effectLst/>
                <a:uLnTx/>
                <a:uFillTx/>
                <a:latin typeface="Aptos" panose="020B0004020202020204" pitchFamily="34" charset="0"/>
              </a:rPr>
              <a:t> </a:t>
            </a:r>
            <a:r>
              <a:rPr kumimoji="0" lang="en-IE" sz="2300" i="1" u="none" strike="noStrike" kern="0" cap="none" spc="0" normalizeH="0" baseline="0" noProof="0" dirty="0">
                <a:ln>
                  <a:noFill/>
                </a:ln>
                <a:solidFill>
                  <a:srgbClr val="003366"/>
                </a:solidFill>
                <a:effectLst/>
                <a:uLnTx/>
                <a:uFillTx/>
                <a:latin typeface="Aptos" panose="020B0004020202020204" pitchFamily="34" charset="0"/>
              </a:rPr>
              <a:t>to Sept 2025</a:t>
            </a:r>
            <a:r>
              <a:rPr kumimoji="0" lang="en-IE" sz="2300" i="0" u="none" strike="noStrike" kern="0" cap="none" spc="0" normalizeH="0" baseline="0" noProof="0" dirty="0">
                <a:ln>
                  <a:noFill/>
                </a:ln>
                <a:solidFill>
                  <a:srgbClr val="003366"/>
                </a:solidFill>
                <a:effectLst/>
                <a:uLnTx/>
                <a:uFillTx/>
                <a:latin typeface="Aptos" panose="020B0004020202020204" pitchFamily="34" charset="0"/>
              </a:rPr>
              <a:t>) 3 mths</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sz="2300" b="1" i="0" u="none" strike="noStrike" kern="0" cap="none" spc="0" normalizeH="0" baseline="0" noProof="0" dirty="0">
              <a:ln>
                <a:noFill/>
              </a:ln>
              <a:solidFill>
                <a:srgbClr val="003366"/>
              </a:solidFill>
              <a:effectLst/>
              <a:uLnTx/>
              <a:uFillTx/>
              <a:latin typeface="Aptos" panose="020B0004020202020204" pitchFamily="34" charset="0"/>
            </a:endParaRPr>
          </a:p>
          <a:p>
            <a:pPr lvl="0" eaLnBrk="0" fontAlgn="base" hangingPunct="0">
              <a:lnSpc>
                <a:spcPct val="120000"/>
              </a:lnSpc>
              <a:spcBef>
                <a:spcPct val="20000"/>
              </a:spcBef>
              <a:spcAft>
                <a:spcPct val="0"/>
              </a:spcAft>
              <a:buClr>
                <a:srgbClr val="003366"/>
              </a:buClr>
              <a:buSzPct val="75000"/>
              <a:defRPr/>
            </a:pPr>
            <a:r>
              <a:rPr lang="en-IE" sz="2300" b="1" kern="0" dirty="0">
                <a:solidFill>
                  <a:srgbClr val="003366"/>
                </a:solidFill>
                <a:latin typeface="Aptos" panose="020B0004020202020204" pitchFamily="34" charset="0"/>
              </a:rPr>
              <a:t>The profit for the period in question is apportioned as follows:</a:t>
            </a:r>
          </a:p>
          <a:p>
            <a:pPr lvl="0" eaLnBrk="0" fontAlgn="base" hangingPunct="0">
              <a:lnSpc>
                <a:spcPct val="120000"/>
              </a:lnSpc>
              <a:spcBef>
                <a:spcPct val="20000"/>
              </a:spcBef>
              <a:spcAft>
                <a:spcPct val="0"/>
              </a:spcAft>
              <a:buClr>
                <a:srgbClr val="003366"/>
              </a:buClr>
              <a:buSzPct val="75000"/>
              <a:defRPr/>
            </a:pPr>
            <a:endParaRPr lang="en-IE" sz="1000" b="1" kern="0" dirty="0">
              <a:solidFill>
                <a:srgbClr val="003366"/>
              </a:solidFill>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300" b="0" i="0" u="none" strike="noStrike" kern="0" cap="none" spc="0" normalizeH="0" baseline="0" noProof="0" dirty="0">
                <a:ln>
                  <a:noFill/>
                </a:ln>
                <a:solidFill>
                  <a:srgbClr val="003366"/>
                </a:solidFill>
                <a:effectLst/>
                <a:uLnTx/>
                <a:uFillTx/>
                <a:latin typeface="Aptos" panose="020B0004020202020204" pitchFamily="34" charset="0"/>
              </a:rPr>
              <a:t>€20,000 X 9/12 = €15,000</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300" b="0" i="0" u="none" strike="noStrike" kern="0" cap="none" spc="0" normalizeH="0" baseline="0" noProof="0" dirty="0">
                <a:ln>
                  <a:noFill/>
                </a:ln>
                <a:solidFill>
                  <a:srgbClr val="003366"/>
                </a:solidFill>
                <a:effectLst/>
                <a:uLnTx/>
                <a:uFillTx/>
                <a:latin typeface="Aptos" panose="020B0004020202020204" pitchFamily="34" charset="0"/>
              </a:rPr>
              <a:t>€25,000 X 3/12 = </a:t>
            </a:r>
            <a:r>
              <a:rPr kumimoji="0" lang="en-IE" sz="2300" b="0" i="0" u="sng" strike="noStrike" kern="0" cap="none" spc="0" normalizeH="0" baseline="0" noProof="0" dirty="0">
                <a:ln>
                  <a:noFill/>
                </a:ln>
                <a:solidFill>
                  <a:srgbClr val="003366"/>
                </a:solidFill>
                <a:effectLst/>
                <a:uLnTx/>
                <a:uFillTx/>
                <a:latin typeface="Aptos" panose="020B0004020202020204" pitchFamily="34" charset="0"/>
              </a:rPr>
              <a:t>€  6,250</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300" b="0" i="0" u="none" strike="noStrike" kern="0" cap="none" spc="0" normalizeH="0" baseline="0" noProof="0" dirty="0">
                <a:ln>
                  <a:noFill/>
                </a:ln>
                <a:solidFill>
                  <a:srgbClr val="003366"/>
                </a:solidFill>
                <a:effectLst/>
                <a:uLnTx/>
                <a:uFillTx/>
                <a:latin typeface="Aptos" panose="020B0004020202020204" pitchFamily="34" charset="0"/>
              </a:rPr>
              <a:t>		      </a:t>
            </a:r>
            <a:r>
              <a:rPr kumimoji="0" lang="en-IE" sz="2300" b="1" i="0" u="none" strike="noStrike" kern="0" cap="none" spc="0" normalizeH="0" baseline="0" noProof="0" dirty="0">
                <a:ln>
                  <a:noFill/>
                </a:ln>
                <a:solidFill>
                  <a:srgbClr val="003366"/>
                </a:solidFill>
                <a:effectLst/>
                <a:uLnTx/>
                <a:uFillTx/>
                <a:latin typeface="Aptos" panose="020B0004020202020204" pitchFamily="34" charset="0"/>
              </a:rPr>
              <a:t>€21,250 is greater than €20,000*</a:t>
            </a: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2300" b="1" i="0" u="none" strike="noStrike" kern="0" cap="none" spc="0" normalizeH="0" baseline="0" noProof="0" dirty="0">
                <a:ln>
                  <a:noFill/>
                </a:ln>
                <a:solidFill>
                  <a:srgbClr val="003366"/>
                </a:solidFill>
                <a:effectLst/>
                <a:uLnTx/>
                <a:uFillTx/>
                <a:latin typeface="Aptos" panose="020B0004020202020204" pitchFamily="34" charset="0"/>
              </a:rPr>
              <a:t>Assessment for 2024 is increased to €21,250</a:t>
            </a:r>
          </a:p>
        </p:txBody>
      </p:sp>
    </p:spTree>
    <p:extLst>
      <p:ext uri="{BB962C8B-B14F-4D97-AF65-F5344CB8AC3E}">
        <p14:creationId xmlns:p14="http://schemas.microsoft.com/office/powerpoint/2010/main" val="3678009544"/>
      </p:ext>
    </p:extLst>
  </p:cSld>
  <p:clrMapOvr>
    <a:masterClrMapping/>
  </p:clrMapOvr>
  <mc:AlternateContent xmlns:mc="http://schemas.openxmlformats.org/markup-compatibility/2006" xmlns:p14="http://schemas.microsoft.com/office/powerpoint/2010/main">
    <mc:Choice Requires="p14">
      <p:transition spd="slow" p14:dur="2000" advTm="24367"/>
    </mc:Choice>
    <mc:Fallback xmlns="">
      <p:transition spd="slow" advTm="243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1EEEE-3A6F-80C3-5047-24617ACF244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47CCA76-04AD-92E8-A1F9-6DE3EE162A2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2" y="1"/>
            <a:ext cx="1817656" cy="920188"/>
          </a:xfrm>
          <a:prstGeom prst="rect">
            <a:avLst/>
          </a:prstGeom>
          <a:noFill/>
          <a:ln>
            <a:noFill/>
          </a:ln>
        </p:spPr>
      </p:pic>
      <p:sp>
        <p:nvSpPr>
          <p:cNvPr id="7" name="TextBox 6">
            <a:extLst>
              <a:ext uri="{FF2B5EF4-FFF2-40B4-BE49-F238E27FC236}">
                <a16:creationId xmlns:a16="http://schemas.microsoft.com/office/drawing/2014/main" id="{658638FA-8D90-4A64-8B92-D932136CFF4A}"/>
              </a:ext>
            </a:extLst>
          </p:cNvPr>
          <p:cNvSpPr txBox="1"/>
          <p:nvPr/>
        </p:nvSpPr>
        <p:spPr>
          <a:xfrm>
            <a:off x="1842448" y="729735"/>
            <a:ext cx="8423910" cy="5398529"/>
          </a:xfrm>
          <a:prstGeom prst="rect">
            <a:avLst/>
          </a:prstGeom>
          <a:noFill/>
        </p:spPr>
        <p:txBody>
          <a:bodyPr wrap="square">
            <a:spAutoFit/>
          </a:bodyPr>
          <a:lstStyle/>
          <a:p>
            <a:pPr marL="0" marR="0" lvl="0" indent="0" algn="ctr"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3200" b="1" i="0" u="none" strike="noStrike" kern="0" cap="none" spc="0" normalizeH="0" baseline="0" noProof="0" dirty="0">
                <a:ln>
                  <a:noFill/>
                </a:ln>
                <a:solidFill>
                  <a:srgbClr val="009999"/>
                </a:solidFill>
                <a:effectLst/>
                <a:uLnTx/>
                <a:uFillTx/>
                <a:latin typeface="Aptos" panose="020B0004020202020204" pitchFamily="34" charset="0"/>
              </a:rPr>
              <a:t>Further</a:t>
            </a:r>
            <a:r>
              <a:rPr kumimoji="0" lang="en-IE" sz="3200" b="1" i="0" u="none" strike="noStrike" kern="0" cap="none" spc="0" normalizeH="0" noProof="0" dirty="0">
                <a:ln>
                  <a:noFill/>
                </a:ln>
                <a:solidFill>
                  <a:srgbClr val="009999"/>
                </a:solidFill>
                <a:effectLst/>
                <a:uLnTx/>
                <a:uFillTx/>
                <a:latin typeface="Aptos" panose="020B0004020202020204" pitchFamily="34" charset="0"/>
              </a:rPr>
              <a:t> Practice Questions on </a:t>
            </a:r>
          </a:p>
          <a:p>
            <a:pPr marL="0" marR="0" lvl="0" indent="0" algn="ctr"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3200" b="1" i="0" u="none" strike="noStrike" kern="0" cap="none" spc="0" normalizeH="0" noProof="0" dirty="0">
                <a:ln>
                  <a:noFill/>
                </a:ln>
                <a:solidFill>
                  <a:srgbClr val="009999"/>
                </a:solidFill>
                <a:effectLst/>
                <a:uLnTx/>
                <a:uFillTx/>
                <a:latin typeface="Aptos" panose="020B0004020202020204" pitchFamily="34" charset="0"/>
              </a:rPr>
              <a:t>Basis of Assessment </a:t>
            </a:r>
          </a:p>
          <a:p>
            <a:pPr marL="0" marR="0" lvl="0" indent="0" algn="ctr"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3200" b="1" i="0" u="none" strike="noStrike" kern="0" cap="none" spc="0" normalizeH="0" noProof="0" dirty="0">
                <a:ln>
                  <a:noFill/>
                </a:ln>
                <a:solidFill>
                  <a:srgbClr val="009999"/>
                </a:solidFill>
                <a:effectLst/>
                <a:uLnTx/>
                <a:uFillTx/>
                <a:latin typeface="Aptos" panose="020B0004020202020204" pitchFamily="34" charset="0"/>
              </a:rPr>
              <a:t>Commencement &amp; Cessation of a Trade</a:t>
            </a:r>
          </a:p>
          <a:p>
            <a:pPr marL="0" marR="0" lvl="0" indent="0" algn="ctr"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r>
              <a:rPr kumimoji="0" lang="en-IE" sz="3200" b="1" i="0" u="none" strike="noStrike" kern="0" cap="none" spc="0" normalizeH="0" noProof="0" dirty="0">
                <a:ln>
                  <a:noFill/>
                </a:ln>
                <a:solidFill>
                  <a:srgbClr val="009999"/>
                </a:solidFill>
                <a:effectLst/>
                <a:uLnTx/>
                <a:uFillTx/>
                <a:latin typeface="Aptos" panose="020B0004020202020204" pitchFamily="34" charset="0"/>
              </a:rPr>
              <a:t> in Workbook 1</a:t>
            </a:r>
          </a:p>
          <a:p>
            <a:pPr marL="0" marR="0" lvl="0" indent="0" algn="ctr"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lang="en-IE" sz="3200" b="1" kern="0" baseline="0" dirty="0">
              <a:solidFill>
                <a:srgbClr val="009999"/>
              </a:solidFill>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sz="2300" b="1" i="0" u="none" strike="noStrike" kern="0" cap="none" spc="0" normalizeH="0" noProof="0" dirty="0">
              <a:ln>
                <a:noFill/>
              </a:ln>
              <a:solidFill>
                <a:srgbClr val="003366"/>
              </a:solidFill>
              <a:effectLst/>
              <a:uLnTx/>
              <a:uFillTx/>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lang="en-IE" sz="2300" b="1" kern="0" baseline="0" dirty="0">
              <a:solidFill>
                <a:srgbClr val="003366"/>
              </a:solidFill>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sz="2300" b="1" i="0" u="none" strike="noStrike" kern="0" cap="none" spc="0" normalizeH="0" noProof="0" dirty="0">
              <a:ln>
                <a:noFill/>
              </a:ln>
              <a:solidFill>
                <a:srgbClr val="003366"/>
              </a:solidFill>
              <a:effectLst/>
              <a:uLnTx/>
              <a:uFillTx/>
              <a:latin typeface="Aptos" panose="020B0004020202020204" pitchFamily="34" charset="0"/>
            </a:endParaRPr>
          </a:p>
          <a:p>
            <a:pPr marL="0" marR="0" lvl="0" indent="0" algn="l" defTabSz="914400" rtl="0" eaLnBrk="0" fontAlgn="base" latinLnBrk="0" hangingPunct="0">
              <a:lnSpc>
                <a:spcPct val="120000"/>
              </a:lnSpc>
              <a:spcBef>
                <a:spcPct val="20000"/>
              </a:spcBef>
              <a:spcAft>
                <a:spcPct val="0"/>
              </a:spcAft>
              <a:buClr>
                <a:srgbClr val="003366"/>
              </a:buClr>
              <a:buSzPct val="75000"/>
              <a:buFont typeface="Wingdings" panose="05000000000000000000" pitchFamily="2" charset="2"/>
              <a:buNone/>
              <a:tabLst/>
              <a:defRPr/>
            </a:pPr>
            <a:endParaRPr kumimoji="0" lang="en-IE" sz="2300" b="1" i="0" u="none" strike="noStrike" kern="0" cap="none" spc="0" normalizeH="0" baseline="0" noProof="0" dirty="0">
              <a:ln>
                <a:noFill/>
              </a:ln>
              <a:solidFill>
                <a:srgbClr val="003366"/>
              </a:solidFill>
              <a:effectLst/>
              <a:uLnTx/>
              <a:uFillTx/>
              <a:latin typeface="Aptos" panose="020B0004020202020204" pitchFamily="34" charset="0"/>
            </a:endParaRPr>
          </a:p>
        </p:txBody>
      </p:sp>
    </p:spTree>
    <p:extLst>
      <p:ext uri="{BB962C8B-B14F-4D97-AF65-F5344CB8AC3E}">
        <p14:creationId xmlns:p14="http://schemas.microsoft.com/office/powerpoint/2010/main" val="2507945321"/>
      </p:ext>
    </p:extLst>
  </p:cSld>
  <p:clrMapOvr>
    <a:masterClrMapping/>
  </p:clrMapOvr>
  <mc:AlternateContent xmlns:mc="http://schemas.openxmlformats.org/markup-compatibility/2006" xmlns:p14="http://schemas.microsoft.com/office/powerpoint/2010/main">
    <mc:Choice Requires="p14">
      <p:transition spd="slow" p14:dur="2000" advTm="24367"/>
    </mc:Choice>
    <mc:Fallback xmlns="">
      <p:transition spd="slow" advTm="24367"/>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A566-40E4-40A8-9A78-838C1F081521}"/>
              </a:ext>
            </a:extLst>
          </p:cNvPr>
          <p:cNvSpPr>
            <a:spLocks noGrp="1"/>
          </p:cNvSpPr>
          <p:nvPr>
            <p:ph type="ctrTitle" idx="4294967295"/>
          </p:nvPr>
        </p:nvSpPr>
        <p:spPr>
          <a:xfrm>
            <a:off x="1422919" y="883776"/>
            <a:ext cx="9486381" cy="5090447"/>
          </a:xfrm>
        </p:spPr>
        <p:txBody>
          <a:bodyPr>
            <a:normAutofit/>
          </a:bodyPr>
          <a:lstStyle/>
          <a:p>
            <a:pPr algn="ctr">
              <a:lnSpc>
                <a:spcPct val="150000"/>
              </a:lnSpc>
            </a:pPr>
            <a: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t>Thank you</a:t>
            </a:r>
            <a:br>
              <a:rPr kumimoji="0" lang="en-US" altLang="en-US" sz="4400" b="1" i="0" u="none" strike="noStrike" kern="0" cap="none" spc="0" normalizeH="0" baseline="0" noProof="0" dirty="0">
                <a:ln>
                  <a:noFill/>
                </a:ln>
                <a:solidFill>
                  <a:srgbClr val="33CCCC">
                    <a:lumMod val="75000"/>
                  </a:srgbClr>
                </a:solidFill>
                <a:effectLst/>
                <a:uLnTx/>
                <a:uFillTx/>
                <a:latin typeface="Aptos" panose="020B0004020202020204" pitchFamily="34" charset="0"/>
              </a:rPr>
            </a:br>
            <a:endParaRPr lang="en-IE" sz="2000" b="1" dirty="0">
              <a:solidFill>
                <a:srgbClr val="FF0000"/>
              </a:solidFill>
              <a:highlight>
                <a:srgbClr val="FFFF00"/>
              </a:highlight>
              <a:latin typeface="Aptos" panose="020B0004020202020204" pitchFamily="34" charset="0"/>
            </a:endParaRPr>
          </a:p>
        </p:txBody>
      </p:sp>
      <p:sp>
        <p:nvSpPr>
          <p:cNvPr id="11" name="Shape">
            <a:extLst>
              <a:ext uri="{FF2B5EF4-FFF2-40B4-BE49-F238E27FC236}">
                <a16:creationId xmlns:a16="http://schemas.microsoft.com/office/drawing/2014/main" id="{64DA8E4F-486D-4062-82E4-375ECC2F69C1}"/>
              </a:ext>
            </a:extLst>
          </p:cNvPr>
          <p:cNvSpPr/>
          <p:nvPr/>
        </p:nvSpPr>
        <p:spPr>
          <a:xfrm>
            <a:off x="15348" y="6076204"/>
            <a:ext cx="3450590" cy="78422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6687" y="21600"/>
                </a:lnTo>
                <a:lnTo>
                  <a:pt x="21600" y="0"/>
                </a:lnTo>
                <a:lnTo>
                  <a:pt x="4913" y="0"/>
                </a:lnTo>
                <a:close/>
              </a:path>
            </a:pathLst>
          </a:custGeom>
          <a:solidFill>
            <a:srgbClr val="006666"/>
          </a:solidFill>
          <a:ln w="12700">
            <a:miter lim="400000"/>
          </a:ln>
        </p:spPr>
        <p:txBody>
          <a:bodyPr lIns="38100" tIns="38100" rIns="38100" bIns="38100" anchor="ctr"/>
          <a:lstStyle/>
          <a:p>
            <a:endParaRPr lang="en-IE" dirty="0"/>
          </a:p>
        </p:txBody>
      </p:sp>
      <p:sp>
        <p:nvSpPr>
          <p:cNvPr id="12" name="Shape">
            <a:extLst>
              <a:ext uri="{FF2B5EF4-FFF2-40B4-BE49-F238E27FC236}">
                <a16:creationId xmlns:a16="http://schemas.microsoft.com/office/drawing/2014/main" id="{74E26CAA-C8E3-4F5E-9CB9-74135EFED657}"/>
              </a:ext>
            </a:extLst>
          </p:cNvPr>
          <p:cNvSpPr/>
          <p:nvPr/>
        </p:nvSpPr>
        <p:spPr>
          <a:xfrm>
            <a:off x="1717148" y="6508004"/>
            <a:ext cx="1871980" cy="3486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7570" y="21600"/>
                </a:lnTo>
                <a:lnTo>
                  <a:pt x="21600" y="0"/>
                </a:lnTo>
                <a:lnTo>
                  <a:pt x="4030" y="0"/>
                </a:lnTo>
                <a:close/>
              </a:path>
            </a:pathLst>
          </a:custGeom>
          <a:solidFill>
            <a:schemeClr val="tx2">
              <a:lumMod val="60000"/>
              <a:lumOff val="40000"/>
              <a:alpha val="90000"/>
            </a:schemeClr>
          </a:solidFill>
          <a:ln w="12700">
            <a:miter lim="400000"/>
          </a:ln>
        </p:spPr>
        <p:txBody>
          <a:bodyPr lIns="38100" tIns="38100" rIns="38100" bIns="38100" anchor="ctr"/>
          <a:lstStyle/>
          <a:p>
            <a:endParaRPr lang="en-IE" dirty="0"/>
          </a:p>
        </p:txBody>
      </p:sp>
      <p:sp>
        <p:nvSpPr>
          <p:cNvPr id="13" name="Shape">
            <a:extLst>
              <a:ext uri="{FF2B5EF4-FFF2-40B4-BE49-F238E27FC236}">
                <a16:creationId xmlns:a16="http://schemas.microsoft.com/office/drawing/2014/main" id="{94ED9556-F893-4791-8585-8134050D2C7B}"/>
              </a:ext>
            </a:extLst>
          </p:cNvPr>
          <p:cNvSpPr/>
          <p:nvPr/>
        </p:nvSpPr>
        <p:spPr>
          <a:xfrm>
            <a:off x="8736965" y="5690947"/>
            <a:ext cx="2673350" cy="11499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03" y="21600"/>
                </a:lnTo>
                <a:lnTo>
                  <a:pt x="21600" y="0"/>
                </a:lnTo>
                <a:lnTo>
                  <a:pt x="9297" y="0"/>
                </a:lnTo>
                <a:close/>
              </a:path>
            </a:pathLst>
          </a:custGeom>
          <a:solidFill>
            <a:srgbClr val="58B6C0">
              <a:alpha val="90000"/>
            </a:srgbClr>
          </a:solidFill>
          <a:ln w="12700">
            <a:miter lim="400000"/>
          </a:ln>
        </p:spPr>
        <p:txBody>
          <a:bodyPr lIns="38100" tIns="38100" rIns="38100" bIns="38100" anchor="ctr"/>
          <a:lstStyle/>
          <a:p>
            <a:endParaRPr lang="en-IE" dirty="0"/>
          </a:p>
        </p:txBody>
      </p:sp>
      <p:sp>
        <p:nvSpPr>
          <p:cNvPr id="14" name="Triangle">
            <a:extLst>
              <a:ext uri="{FF2B5EF4-FFF2-40B4-BE49-F238E27FC236}">
                <a16:creationId xmlns:a16="http://schemas.microsoft.com/office/drawing/2014/main" id="{94D2CDCE-DE5A-459C-926E-3C632ECC7DD6}"/>
              </a:ext>
            </a:extLst>
          </p:cNvPr>
          <p:cNvSpPr/>
          <p:nvPr/>
        </p:nvSpPr>
        <p:spPr>
          <a:xfrm>
            <a:off x="9626600" y="4268547"/>
            <a:ext cx="2565400" cy="25647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6666"/>
          </a:solidFill>
          <a:ln w="12700">
            <a:miter lim="400000"/>
          </a:ln>
        </p:spPr>
        <p:txBody>
          <a:bodyPr lIns="38100" tIns="38100" rIns="38100" bIns="38100" anchor="ctr"/>
          <a:lstStyle/>
          <a:p>
            <a:endParaRPr lang="en-IE" dirty="0"/>
          </a:p>
        </p:txBody>
      </p:sp>
      <p:pic>
        <p:nvPicPr>
          <p:cNvPr id="15" name="Picture 14" descr="Logo, company name&#10;&#10;Description automatically generated">
            <a:extLst>
              <a:ext uri="{FF2B5EF4-FFF2-40B4-BE49-F238E27FC236}">
                <a16:creationId xmlns:a16="http://schemas.microsoft.com/office/drawing/2014/main" id="{EE5DD90D-A358-460E-8209-C13E67514C7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9376464" y="55125"/>
            <a:ext cx="2763520" cy="1447800"/>
          </a:xfrm>
          <a:prstGeom prst="rect">
            <a:avLst/>
          </a:prstGeom>
        </p:spPr>
      </p:pic>
      <p:pic>
        <p:nvPicPr>
          <p:cNvPr id="3" name="Picture 2">
            <a:extLst>
              <a:ext uri="{FF2B5EF4-FFF2-40B4-BE49-F238E27FC236}">
                <a16:creationId xmlns:a16="http://schemas.microsoft.com/office/drawing/2014/main" id="{7432E413-2C77-D76F-1584-164B64A54C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5273" y="228551"/>
            <a:ext cx="2174710" cy="1100947"/>
          </a:xfrm>
          <a:prstGeom prst="rect">
            <a:avLst/>
          </a:prstGeom>
          <a:noFill/>
          <a:ln>
            <a:noFill/>
          </a:ln>
        </p:spPr>
      </p:pic>
    </p:spTree>
    <p:extLst>
      <p:ext uri="{BB962C8B-B14F-4D97-AF65-F5344CB8AC3E}">
        <p14:creationId xmlns:p14="http://schemas.microsoft.com/office/powerpoint/2010/main" val="578808837"/>
      </p:ext>
    </p:extLst>
  </p:cSld>
  <p:clrMapOvr>
    <a:masterClrMapping/>
  </p:clrMapOvr>
  <mc:AlternateContent xmlns:mc="http://schemas.openxmlformats.org/markup-compatibility/2006" xmlns:p14="http://schemas.microsoft.com/office/powerpoint/2010/main">
    <mc:Choice Requires="p14">
      <p:transition spd="slow" p14:dur="2000" advTm="21140"/>
    </mc:Choice>
    <mc:Fallback xmlns="">
      <p:transition spd="slow" advTm="2114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3858a28-438a-4a9a-b6b5-ada8e538b2d6">
      <Value>6</Value>
      <Value>47</Value>
      <Value>3</Value>
      <Value>2</Value>
      <Value>1</Value>
    </TaxCatchAll>
    <f62107d924a7469492625f91956e46a6 xmlns="e3858a28-438a-4a9a-b6b5-ada8e538b2d6">
      <Terms xmlns="http://schemas.microsoft.com/office/infopath/2007/PartnerControls">
        <TermInfo xmlns="http://schemas.microsoft.com/office/infopath/2007/PartnerControls">
          <TermName xmlns="http://schemas.microsoft.com/office/infopath/2007/PartnerControls">Income Tax</TermName>
          <TermId xmlns="http://schemas.microsoft.com/office/infopath/2007/PartnerControls">6c7bcdda-aabc-4bc1-bf91-855c58718ae4</TermId>
        </TermInfo>
      </Terms>
    </f62107d924a7469492625f91956e46a6>
    <l29cd52af9b640b690e3347aa75f97a9 xmlns="e3858a28-438a-4a9a-b6b5-ada8e538b2d6">
      <Terms xmlns="http://schemas.microsoft.com/office/infopath/2007/PartnerControls">
        <TermInfo xmlns="http://schemas.microsoft.com/office/infopath/2007/PartnerControls">
          <TermName xmlns="http://schemas.microsoft.com/office/infopath/2007/PartnerControls">Training Branch</TermName>
          <TermId xmlns="http://schemas.microsoft.com/office/infopath/2007/PartnerControls">d237a5e5-4ce7-4688-b3a8-6b2c561437de</TermId>
        </TermInfo>
      </Terms>
    </l29cd52af9b640b690e3347aa75f97a9>
    <e62af2f156934d1aab35222180c5fbb1 xmlns="e3858a28-438a-4a9a-b6b5-ada8e538b2d6">
      <Terms xmlns="http://schemas.microsoft.com/office/infopath/2007/PartnerControls">
        <TermInfo xmlns="http://schemas.microsoft.com/office/infopath/2007/PartnerControls">
          <TermName xmlns="http://schemas.microsoft.com/office/infopath/2007/PartnerControls">Team Site</TermName>
          <TermId xmlns="http://schemas.microsoft.com/office/infopath/2007/PartnerControls">7ab883f5-c63f-45c5-b7fe-996a6f230b0b</TermId>
        </TermInfo>
      </Terms>
    </e62af2f156934d1aab35222180c5fbb1>
    <ade64af1c6a24cfdbe8da7f962b31d74 xmlns="e3858a28-438a-4a9a-b6b5-ada8e538b2d6">
      <Terms xmlns="http://schemas.microsoft.com/office/infopath/2007/PartnerControls"/>
    </ade64af1c6a24cfdbe8da7f962b31d74>
    <e9be08524f454d8b979862330e952271 xmlns="e3858a28-438a-4a9a-b6b5-ada8e538b2d6">
      <Terms xmlns="http://schemas.microsoft.com/office/infopath/2007/PartnerControls">
        <TermInfo xmlns="http://schemas.microsoft.com/office/infopath/2007/PartnerControls">
          <TermName xmlns="http://schemas.microsoft.com/office/infopath/2007/PartnerControls">Corporate Services Division</TermName>
          <TermId xmlns="http://schemas.microsoft.com/office/infopath/2007/PartnerControls">4096e97f-3629-428e-818a-ea3aba659c50</TermId>
        </TermInfo>
      </Terms>
    </e9be08524f454d8b979862330e952271>
    <nb82aa7489a64919aab5fd247ffa0d1e xmlns="e3858a28-438a-4a9a-b6b5-ada8e538b2d6">
      <Terms xmlns="http://schemas.microsoft.com/office/infopath/2007/PartnerControls">
        <TermInfo xmlns="http://schemas.microsoft.com/office/infopath/2007/PartnerControls">
          <TermName xmlns="http://schemas.microsoft.com/office/infopath/2007/PartnerControls">Audit ＆ Compliance</TermName>
          <TermId xmlns="http://schemas.microsoft.com/office/infopath/2007/PartnerControls">c61e734b-29fd-4659-a42e-e09e2880b975</TermId>
        </TermInfo>
      </Terms>
    </nb82aa7489a64919aab5fd247ffa0d1e>
  </documentManagement>
</p:properties>
</file>

<file path=customXml/item3.xml><?xml version="1.0" encoding="utf-8"?>
<ct:contentTypeSchema xmlns:ct="http://schemas.microsoft.com/office/2006/metadata/contentType" xmlns:ma="http://schemas.microsoft.com/office/2006/metadata/properties/metaAttributes" ct:_="" ma:_="" ma:contentTypeName="PowerPoint presentation" ma:contentTypeID="0x010100852E11B2A94E4937B655CB4FCD918453005FA75F085205413EA3615870986D061700B7A9A5B3F56B6A48A8714BAE2C5C788C" ma:contentTypeVersion="3" ma:contentTypeDescription="" ma:contentTypeScope="" ma:versionID="758fd30942caa413a51a0879a9f95d57">
  <xsd:schema xmlns:xsd="http://www.w3.org/2001/XMLSchema" xmlns:xs="http://www.w3.org/2001/XMLSchema" xmlns:p="http://schemas.microsoft.com/office/2006/metadata/properties" xmlns:ns2="e3858a28-438a-4a9a-b6b5-ada8e538b2d6" targetNamespace="http://schemas.microsoft.com/office/2006/metadata/properties" ma:root="true" ma:fieldsID="5a32316aa4e0e289753f3b1d8878beaf" ns2:_="">
    <xsd:import namespace="e3858a28-438a-4a9a-b6b5-ada8e538b2d6"/>
    <xsd:element name="properties">
      <xsd:complexType>
        <xsd:sequence>
          <xsd:element name="documentManagement">
            <xsd:complexType>
              <xsd:all>
                <xsd:element ref="ns2:e9be08524f454d8b979862330e952271" minOccurs="0"/>
                <xsd:element ref="ns2:TaxCatchAll" minOccurs="0"/>
                <xsd:element ref="ns2:TaxCatchAllLabel" minOccurs="0"/>
                <xsd:element ref="ns2:l29cd52af9b640b690e3347aa75f97a9" minOccurs="0"/>
                <xsd:element ref="ns2:ade64af1c6a24cfdbe8da7f962b31d74" minOccurs="0"/>
                <xsd:element ref="ns2:e62af2f156934d1aab35222180c5fbb1" minOccurs="0"/>
                <xsd:element ref="ns2:nb82aa7489a64919aab5fd247ffa0d1e" minOccurs="0"/>
                <xsd:element ref="ns2:f62107d924a7469492625f91956e46a6"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58a28-438a-4a9a-b6b5-ada8e538b2d6" elementFormDefault="qualified">
    <xsd:import namespace="http://schemas.microsoft.com/office/2006/documentManagement/types"/>
    <xsd:import namespace="http://schemas.microsoft.com/office/infopath/2007/PartnerControls"/>
    <xsd:element name="e9be08524f454d8b979862330e952271" ma:index="8" nillable="true" ma:taxonomy="true" ma:internalName="e9be08524f454d8b979862330e952271" ma:taxonomyFieldName="nascDivision" ma:displayName="Division" ma:fieldId="{e9be0852-4f45-4d8b-9798-62330e952271}" ma:sspId="466d30fb-96d2-4a15-b6ad-75cede2d080a" ma:termSetId="9be7066c-d2d4-4f32-809f-3439c8c34a36"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4f2095fd-af5e-4e35-a515-b8b2547e5377}" ma:internalName="TaxCatchAll" ma:showField="CatchAllData" ma:web="e3858a28-438a-4a9a-b6b5-ada8e538b2d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4f2095fd-af5e-4e35-a515-b8b2547e5377}" ma:internalName="TaxCatchAllLabel" ma:readOnly="true" ma:showField="CatchAllDataLabel" ma:web="e3858a28-438a-4a9a-b6b5-ada8e538b2d6">
      <xsd:complexType>
        <xsd:complexContent>
          <xsd:extension base="dms:MultiChoiceLookup">
            <xsd:sequence>
              <xsd:element name="Value" type="dms:Lookup" maxOccurs="unbounded" minOccurs="0" nillable="true"/>
            </xsd:sequence>
          </xsd:extension>
        </xsd:complexContent>
      </xsd:complexType>
    </xsd:element>
    <xsd:element name="l29cd52af9b640b690e3347aa75f97a9" ma:index="12" nillable="true" ma:taxonomy="true" ma:internalName="l29cd52af9b640b690e3347aa75f97a9" ma:taxonomyFieldName="nascBranch" ma:displayName="Branch" ma:fieldId="{529cd52a-f9b6-40b6-90e3-347aa75f97a9}" ma:sspId="466d30fb-96d2-4a15-b6ad-75cede2d080a" ma:termSetId="af1c7d35-25ab-45c8-bad2-6b4dad3d92d4" ma:anchorId="00000000-0000-0000-0000-000000000000" ma:open="false" ma:isKeyword="false">
      <xsd:complexType>
        <xsd:sequence>
          <xsd:element ref="pc:Terms" minOccurs="0" maxOccurs="1"/>
        </xsd:sequence>
      </xsd:complexType>
    </xsd:element>
    <xsd:element name="ade64af1c6a24cfdbe8da7f962b31d74" ma:index="14" nillable="true" ma:taxonomy="true" ma:internalName="ade64af1c6a24cfdbe8da7f962b31d74" ma:taxonomyFieldName="nascUnit" ma:displayName="Unit" ma:fieldId="{ade64af1-c6a2-4cfd-be8d-a7f962b31d74}" ma:sspId="466d30fb-96d2-4a15-b6ad-75cede2d080a" ma:termSetId="a2efc30a-d818-4683-bc07-ff44ec6f5486" ma:anchorId="00000000-0000-0000-0000-000000000000" ma:open="false" ma:isKeyword="false">
      <xsd:complexType>
        <xsd:sequence>
          <xsd:element ref="pc:Terms" minOccurs="0" maxOccurs="1"/>
        </xsd:sequence>
      </xsd:complexType>
    </xsd:element>
    <xsd:element name="e62af2f156934d1aab35222180c5fbb1" ma:index="16" nillable="true" ma:taxonomy="true" ma:internalName="e62af2f156934d1aab35222180c5fbb1" ma:taxonomyFieldName="nascSiteType" ma:displayName="Site Type" ma:fieldId="{e62af2f1-5693-4d1a-ab35-222180c5fbb1}" ma:sspId="466d30fb-96d2-4a15-b6ad-75cede2d080a" ma:termSetId="9c2f7ba3-7c06-4b18-be0b-9494f9717f3e" ma:anchorId="00000000-0000-0000-0000-000000000000" ma:open="false" ma:isKeyword="false">
      <xsd:complexType>
        <xsd:sequence>
          <xsd:element ref="pc:Terms" minOccurs="0" maxOccurs="1"/>
        </xsd:sequence>
      </xsd:complexType>
    </xsd:element>
    <xsd:element name="nb82aa7489a64919aab5fd247ffa0d1e" ma:index="18" nillable="true" ma:taxonomy="true" ma:internalName="nb82aa7489a64919aab5fd247ffa0d1e" ma:taxonomyFieldName="nascCategory" ma:displayName="Category" ma:fieldId="{7b82aa74-89a6-4919-aab5-fd247ffa0d1e}" ma:sspId="466d30fb-96d2-4a15-b6ad-75cede2d080a" ma:termSetId="7c91e1d8-d051-4bb4-a48c-c4e0d4c4fb66" ma:anchorId="00000000-0000-0000-0000-000000000000" ma:open="false" ma:isKeyword="false">
      <xsd:complexType>
        <xsd:sequence>
          <xsd:element ref="pc:Terms" minOccurs="0" maxOccurs="1"/>
        </xsd:sequence>
      </xsd:complexType>
    </xsd:element>
    <xsd:element name="f62107d924a7469492625f91956e46a6" ma:index="20" nillable="true" ma:taxonomy="true" ma:internalName="f62107d924a7469492625f91956e46a6" ma:taxonomyFieldName="nascSubCategory" ma:displayName="Sub Category" ma:fieldId="{f62107d9-24a7-4694-9262-5f91956e46a6}" ma:sspId="466d30fb-96d2-4a15-b6ad-75cede2d080a" ma:termSetId="7c91e1d8-d051-4bb4-a48c-c4e0d4c4fb66"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8F5809D-9D32-4E3E-B67C-97B6B390AE44}">
  <ds:schemaRefs>
    <ds:schemaRef ds:uri="http://schemas.microsoft.com/sharepoint/v3/contenttype/forms"/>
  </ds:schemaRefs>
</ds:datastoreItem>
</file>

<file path=customXml/itemProps2.xml><?xml version="1.0" encoding="utf-8"?>
<ds:datastoreItem xmlns:ds="http://schemas.openxmlformats.org/officeDocument/2006/customXml" ds:itemID="{0F9A8C96-DB44-47FB-B1CA-792004B9DF43}">
  <ds:schemaRefs>
    <ds:schemaRef ds:uri="http://purl.org/dc/dcmitype/"/>
    <ds:schemaRef ds:uri="http://schemas.openxmlformats.org/package/2006/metadata/core-properties"/>
    <ds:schemaRef ds:uri="http://schemas.microsoft.com/office/2006/documentManagement/types"/>
    <ds:schemaRef ds:uri="http://schemas.microsoft.com/office/2006/metadata/properties"/>
    <ds:schemaRef ds:uri="http://purl.org/dc/terms/"/>
    <ds:schemaRef ds:uri="http://schemas.microsoft.com/office/infopath/2007/PartnerControls"/>
    <ds:schemaRef ds:uri="e3858a28-438a-4a9a-b6b5-ada8e538b2d6"/>
    <ds:schemaRef ds:uri="http://www.w3.org/XML/1998/namespace"/>
    <ds:schemaRef ds:uri="http://purl.org/dc/elements/1.1/"/>
  </ds:schemaRefs>
</ds:datastoreItem>
</file>

<file path=customXml/itemProps3.xml><?xml version="1.0" encoding="utf-8"?>
<ds:datastoreItem xmlns:ds="http://schemas.openxmlformats.org/officeDocument/2006/customXml" ds:itemID="{3997F0D3-4C9A-4203-826A-DAE9AC2378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858a28-438a-4a9a-b6b5-ada8e538b2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2550</TotalTime>
  <Words>7600</Words>
  <Application>Microsoft Office PowerPoint</Application>
  <PresentationFormat>Widescreen</PresentationFormat>
  <Paragraphs>809</Paragraphs>
  <Slides>115</Slides>
  <Notes>92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115</vt:i4>
      </vt:variant>
    </vt:vector>
  </HeadingPairs>
  <TitlesOfParts>
    <vt:vector size="124" baseType="lpstr">
      <vt:lpstr>Aptos</vt:lpstr>
      <vt:lpstr>Aptos Display</vt:lpstr>
      <vt:lpstr>Arial</vt:lpstr>
      <vt:lpstr>Calibri</vt:lpstr>
      <vt:lpstr>Calibri Light</vt:lpstr>
      <vt:lpstr>Symbol</vt:lpstr>
      <vt:lpstr>Wingdings</vt:lpstr>
      <vt:lpstr>Office Theme</vt:lpstr>
      <vt:lpstr>1_Office Theme</vt:lpstr>
      <vt:lpstr>Certified Tax  Professional Pathway Personal Tax workshop DAY 1 Last updated 25 Sept 2026 (incl font, animations etc.)</vt:lpstr>
      <vt:lpstr>ATTENDANCE:  Please scan QR Code, complete form using exact course code below and submit </vt:lpstr>
      <vt:lpstr>ACCESSING LEGISLATION IN THE TAXES CONSOLIDATION ACT 1997 USING THE DIRECT TAXES ACT Last updated 25 September 2026 </vt:lpstr>
      <vt:lpstr>Direct Taxes Act &amp; The Taxes Consolidation Act 1997</vt:lpstr>
      <vt:lpstr>Direct Taxes Act – ‘Schedules’</vt:lpstr>
      <vt:lpstr>Schedule 1 to Schedule 36</vt:lpstr>
      <vt:lpstr>Class Exercise – Schedules 4A &amp; 13</vt:lpstr>
      <vt:lpstr>The ‘Contents’ List</vt:lpstr>
      <vt:lpstr>Taxes Consolidation Act 1997 (TCA)</vt:lpstr>
      <vt:lpstr>‘Contents’ List - Taxes Consolidation Act-  Part 1 Interpretation </vt:lpstr>
      <vt:lpstr>Class Exercise - Interpretation </vt:lpstr>
      <vt:lpstr>Solution- Definition of a ‘relative’ (TCA 1997)</vt:lpstr>
      <vt:lpstr>Go To‘Contents’ List - Taxes Consolidation Act-  Part 2 - The Charge To Tax</vt:lpstr>
      <vt:lpstr>The ‘Schedular System’</vt:lpstr>
      <vt:lpstr>Class Exercise - The ‘Schedular System’</vt:lpstr>
      <vt:lpstr>Solution – Extract from Direct Taxes Act</vt:lpstr>
      <vt:lpstr>Regulations - Statutory Instruments (S.I.)</vt:lpstr>
      <vt:lpstr>Class Exercise - Statutory Instruments (S.I.)</vt:lpstr>
      <vt:lpstr>Statutory Instrument (S.I. No. 576 of 2012)</vt:lpstr>
      <vt:lpstr>Statutory Instrument (S.I. No. 576 of 2012)</vt:lpstr>
      <vt:lpstr>Statutory Instrument (S.I. No. 576 of 2012)</vt:lpstr>
      <vt:lpstr>Statutory Instrument (S.I. No. 576 of 2012)</vt:lpstr>
      <vt:lpstr>Go To ‘Contents’ – Final Item Listed - The Index</vt:lpstr>
      <vt:lpstr>Go To the Index</vt:lpstr>
      <vt:lpstr>Class Exercise- Index</vt:lpstr>
      <vt:lpstr>Solution – Extract from Direct Taxes Act</vt:lpstr>
      <vt:lpstr>Solution – Extract from Direct Taxes Act cont’d</vt:lpstr>
      <vt:lpstr>Go To the Table of Cases - Case Law Listing</vt:lpstr>
      <vt:lpstr>Class Exercise – Case Law </vt:lpstr>
      <vt:lpstr>Solution- Extracts from Direct Taxes Act S81 General Rules as to Deductions</vt:lpstr>
      <vt:lpstr>Parts &amp; Chapters of the TCA 1997</vt:lpstr>
      <vt:lpstr>Part 7 – Chapter 1- Exemptions</vt:lpstr>
      <vt:lpstr>Class Exercise – S216A Definition</vt:lpstr>
      <vt:lpstr>Solution – Extract from Direct Taxes Act</vt:lpstr>
      <vt:lpstr>Class Exercise – Rent -a-Room  Exemption Threshold</vt:lpstr>
      <vt:lpstr>Solution – Extract from Direct Taxes Act</vt:lpstr>
      <vt:lpstr>‘Literal’ Rule of Statutory Interpretation</vt:lpstr>
      <vt:lpstr>‘Purposive’ Rule of Interpretation</vt:lpstr>
      <vt:lpstr>Use of Certain Words in the Acts</vt:lpstr>
      <vt:lpstr>Use of Certain Words in the Acts</vt:lpstr>
      <vt:lpstr>Use of Certain Words in the Acts</vt:lpstr>
      <vt:lpstr>Use of Certain Words in the Acts</vt:lpstr>
      <vt:lpstr>Use of Certain Words in the Acts</vt:lpstr>
      <vt:lpstr>Class Exercise- Farming</vt:lpstr>
      <vt:lpstr>Extract from the Direct Taxes Act</vt:lpstr>
      <vt:lpstr>Extract from the Direct Taxes Act</vt:lpstr>
      <vt:lpstr>PowerPoint Presentation</vt:lpstr>
      <vt:lpstr>Recap Unit 1.1 Residence, Ordinary Residence and Domicile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ATTENDANCE:  Please scan QR Code, complete form using exact course code below and submit </vt:lpstr>
      <vt:lpstr>Recap Unit 1.2 The Schedular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Recap Unit 1.3 Schedule D Case I &amp; II Computation for an Individual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 Objectives</vt:lpstr>
      <vt:lpstr>What Profits or Gains are taxable in a year of Assessment (Case I/II)</vt:lpstr>
      <vt:lpstr>Normal Basis of Assessment </vt:lpstr>
      <vt:lpstr>Normal Basis of Assessment of Profit - Question </vt:lpstr>
      <vt:lpstr>Normal Basis of Assessment of Profit - Solution </vt:lpstr>
      <vt:lpstr>Commencing to Trade - 1st Year of Trading</vt:lpstr>
      <vt:lpstr>Scenario 1- One 12-month set of Accounts </vt:lpstr>
      <vt:lpstr>Example cont’d: Assessable Profit in Year 1</vt:lpstr>
      <vt:lpstr>Example cont’d: 2nd Year of Trading</vt:lpstr>
      <vt:lpstr>Example cont’d</vt:lpstr>
      <vt:lpstr>Example cont’d</vt:lpstr>
      <vt:lpstr>Example cont’d</vt:lpstr>
      <vt:lpstr> Insufficient Profits to Absorb 2nd Year Excess </vt:lpstr>
      <vt:lpstr>Example</vt:lpstr>
      <vt:lpstr>Commencing to Trade: Scenario 2</vt:lpstr>
      <vt:lpstr>PowerPoint Presentation</vt:lpstr>
      <vt:lpstr>PowerPoint Presentation</vt:lpstr>
      <vt:lpstr>PowerPoint Presentation</vt:lpstr>
      <vt:lpstr>Question</vt:lpstr>
      <vt:lpstr>SOLUTION</vt:lpstr>
      <vt:lpstr>Ceasing to Trade: Taxing the Final Profits</vt:lpstr>
      <vt:lpstr>Final Year</vt:lpstr>
      <vt:lpstr>PowerPoint Presentation</vt:lpstr>
      <vt:lpstr>PowerPoint Presentation</vt:lpstr>
      <vt:lpstr>Change in Accounting Date ONGOING TRADE</vt:lpstr>
      <vt:lpstr>Change in Accounting Date</vt:lpstr>
      <vt:lpstr>Example: Change in Accounting Date</vt:lpstr>
      <vt:lpstr>Example continued</vt:lpstr>
      <vt:lpstr>Example continued : Review Previous Year</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McNeely, Christina</dc:creator>
  <cp:lastModifiedBy>McMahon, Anna</cp:lastModifiedBy>
  <cp:revision>2</cp:revision>
  <cp:lastPrinted>2025-10-08T15:11:03Z</cp:lastPrinted>
  <dcterms:created xsi:type="dcterms:W3CDTF">2025-10-06T14:45:44Z</dcterms:created>
  <dcterms:modified xsi:type="dcterms:W3CDTF">2026-09-28T10:09:57Z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0x010100852E11B2A94E4937B655CB4FCD918453005FA75F085205413EA3615870986D061700B7A9A5B3F56B6A48A8714BAE2C5C788C</vt:lpwstr>
  </property>
  <property fmtid="{D5CDD505-2E9C-101B-9397-08002B2CF9AE}" pid="3" name="nascSubCategory">
    <vt:lpwstr>47;#Income Tax|6c7bcdda-aabc-4bc1-bf91-855c58718ae4</vt:lpwstr>
  </property>
  <property fmtid="{D5CDD505-2E9C-101B-9397-08002B2CF9AE}" pid="4" name="nascUnit">
    <vt:lpwstr/>
  </property>
  <property fmtid="{D5CDD505-2E9C-101B-9397-08002B2CF9AE}" pid="5" name="nascBranch">
    <vt:lpwstr>2;#Training Branch|d237a5e5-4ce7-4688-b3a8-6b2c561437de</vt:lpwstr>
  </property>
  <property fmtid="{D5CDD505-2E9C-101B-9397-08002B2CF9AE}" pid="6" name="nascSiteType">
    <vt:lpwstr>1;#Team Site|7ab883f5-c63f-45c5-b7fe-996a6f230b0b</vt:lpwstr>
  </property>
  <property fmtid="{D5CDD505-2E9C-101B-9397-08002B2CF9AE}" pid="7" name="nascDivision">
    <vt:lpwstr>3;#Corporate Services Division|4096e97f-3629-428e-818a-ea3aba659c50</vt:lpwstr>
  </property>
  <property fmtid="{D5CDD505-2E9C-101B-9397-08002B2CF9AE}" pid="8" name="nascCategory">
    <vt:lpwstr>6;#Audit ＆ Compliance|c61e734b-29fd-4659-a42e-e09e2880b975</vt:lpwstr>
  </property>
</Properties>
</file>